
<file path=[Content_Types].xml><?xml version="1.0" encoding="utf-8"?>
<Types xmlns="http://schemas.openxmlformats.org/package/2006/content-types">
  <Default Extension="mp3" ContentType="audio/mpeg"/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99" r:id="rId3"/>
    <p:sldId id="300" r:id="rId4"/>
    <p:sldId id="301" r:id="rId5"/>
    <p:sldId id="302" r:id="rId6"/>
    <p:sldId id="303" r:id="rId7"/>
    <p:sldId id="304" r:id="rId8"/>
    <p:sldId id="305" r:id="rId9"/>
    <p:sldId id="306" r:id="rId10"/>
    <p:sldId id="307" r:id="rId11"/>
    <p:sldId id="308" r:id="rId12"/>
    <p:sldId id="309" r:id="rId13"/>
    <p:sldId id="310" r:id="rId14"/>
    <p:sldId id="311" r:id="rId15"/>
    <p:sldId id="312" r:id="rId16"/>
    <p:sldId id="313" r:id="rId17"/>
    <p:sldId id="314" r:id="rId18"/>
    <p:sldId id="315" r:id="rId19"/>
    <p:sldId id="316" r:id="rId20"/>
    <p:sldId id="317" r:id="rId21"/>
    <p:sldId id="318" r:id="rId22"/>
    <p:sldId id="319" r:id="rId23"/>
    <p:sldId id="320" r:id="rId24"/>
    <p:sldId id="321" r:id="rId25"/>
    <p:sldId id="322" r:id="rId26"/>
    <p:sldId id="323" r:id="rId27"/>
    <p:sldId id="324" r:id="rId28"/>
    <p:sldId id="325" r:id="rId29"/>
    <p:sldId id="326" r:id="rId30"/>
    <p:sldId id="327" r:id="rId31"/>
    <p:sldId id="328" r:id="rId32"/>
    <p:sldId id="329" r:id="rId33"/>
    <p:sldId id="294" r:id="rId34"/>
  </p:sldIdLst>
  <p:sldSz cx="12192000" cy="6858000"/>
  <p:notesSz cx="6858000" cy="9144000"/>
  <p:defaultTextStyle>
    <a:defPPr>
      <a:defRPr lang="es-V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1B5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1274" autoAdjust="0"/>
    <p:restoredTop sz="94660"/>
  </p:normalViewPr>
  <p:slideViewPr>
    <p:cSldViewPr snapToGrid="0">
      <p:cViewPr varScale="1">
        <p:scale>
          <a:sx n="65" d="100"/>
          <a:sy n="65" d="100"/>
        </p:scale>
        <p:origin x="96" y="4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es-V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smtClean="0"/>
              <a:t>Clique para editar o estilo do subtítulo Mestre</a:t>
            </a:r>
            <a:endParaRPr lang="es-V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ADC9A-3A06-4DBF-B9E8-7CA0FA9BB67C}" type="datetimeFigureOut">
              <a:rPr lang="es-VE" smtClean="0"/>
              <a:t>10/6/2020</a:t>
            </a:fld>
            <a:endParaRPr lang="es-V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410C6-6A4A-44BE-9ED5-9D1234A5A42B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336309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s-V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s-V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ADC9A-3A06-4DBF-B9E8-7CA0FA9BB67C}" type="datetimeFigureOut">
              <a:rPr lang="es-VE" smtClean="0"/>
              <a:t>10/6/2020</a:t>
            </a:fld>
            <a:endParaRPr lang="es-V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410C6-6A4A-44BE-9ED5-9D1234A5A42B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8141045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es-V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ADC9A-3A06-4DBF-B9E8-7CA0FA9BB67C}" type="datetimeFigureOut">
              <a:rPr lang="es-VE" smtClean="0"/>
              <a:t>10/6/2020</a:t>
            </a:fld>
            <a:endParaRPr lang="es-V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410C6-6A4A-44BE-9ED5-9D1234A5A42B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3424845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s-VE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s-VE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s-VE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ADC9A-3A06-4DBF-B9E8-7CA0FA9BB67C}" type="datetimeFigureOut">
              <a:rPr lang="es-VE" smtClean="0"/>
              <a:t>10/6/2020</a:t>
            </a:fld>
            <a:endParaRPr lang="es-V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410C6-6A4A-44BE-9ED5-9D1234A5A42B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970624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es-V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s-VE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s-VE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ADC9A-3A06-4DBF-B9E8-7CA0FA9BB67C}" type="datetimeFigureOut">
              <a:rPr lang="es-VE" smtClean="0"/>
              <a:t>10/6/2020</a:t>
            </a:fld>
            <a:endParaRPr lang="es-VE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410C6-6A4A-44BE-9ED5-9D1234A5A42B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0927879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s-VE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ADC9A-3A06-4DBF-B9E8-7CA0FA9BB67C}" type="datetimeFigureOut">
              <a:rPr lang="es-VE" smtClean="0"/>
              <a:t>10/6/2020</a:t>
            </a:fld>
            <a:endParaRPr lang="es-VE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410C6-6A4A-44BE-9ED5-9D1234A5A42B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052244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ADC9A-3A06-4DBF-B9E8-7CA0FA9BB67C}" type="datetimeFigureOut">
              <a:rPr lang="es-VE" smtClean="0"/>
              <a:t>10/6/2020</a:t>
            </a:fld>
            <a:endParaRPr lang="es-VE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410C6-6A4A-44BE-9ED5-9D1234A5A42B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7438761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es-V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s-V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ADC9A-3A06-4DBF-B9E8-7CA0FA9BB67C}" type="datetimeFigureOut">
              <a:rPr lang="es-VE" smtClean="0"/>
              <a:t>10/6/2020</a:t>
            </a:fld>
            <a:endParaRPr lang="es-V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410C6-6A4A-44BE-9ED5-9D1234A5A42B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5410513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es-VE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V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ADC9A-3A06-4DBF-B9E8-7CA0FA9BB67C}" type="datetimeFigureOut">
              <a:rPr lang="es-VE" smtClean="0"/>
              <a:t>10/6/2020</a:t>
            </a:fld>
            <a:endParaRPr lang="es-V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410C6-6A4A-44BE-9ED5-9D1234A5A42B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5767982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s-V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s-V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ADC9A-3A06-4DBF-B9E8-7CA0FA9BB67C}" type="datetimeFigureOut">
              <a:rPr lang="es-VE" smtClean="0"/>
              <a:t>10/6/2020</a:t>
            </a:fld>
            <a:endParaRPr lang="es-V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410C6-6A4A-44BE-9ED5-9D1234A5A42B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9567452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es-V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s-V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ADC9A-3A06-4DBF-B9E8-7CA0FA9BB67C}" type="datetimeFigureOut">
              <a:rPr lang="es-VE" smtClean="0"/>
              <a:t>10/6/2020</a:t>
            </a:fld>
            <a:endParaRPr lang="es-V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410C6-6A4A-44BE-9ED5-9D1234A5A42B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8242262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es-V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s-V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9ADC9A-3A06-4DBF-B9E8-7CA0FA9BB67C}" type="datetimeFigureOut">
              <a:rPr lang="es-VE" smtClean="0"/>
              <a:t>10/6/2020</a:t>
            </a:fld>
            <a:endParaRPr lang="es-V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V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C410C6-6A4A-44BE-9ED5-9D1234A5A42B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077665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V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eg"/><Relationship Id="rId3" Type="http://schemas.openxmlformats.org/officeDocument/2006/relationships/audio" Target="../media/media1.mp3"/><Relationship Id="rId7" Type="http://schemas.openxmlformats.org/officeDocument/2006/relationships/image" Target="../media/image9.jpeg"/><Relationship Id="rId2" Type="http://schemas.microsoft.com/office/2007/relationships/media" Target="../media/media1.mp3"/><Relationship Id="rId1" Type="http://schemas.openxmlformats.org/officeDocument/2006/relationships/vmlDrawing" Target="../drawings/vmlDrawing1.vml"/><Relationship Id="rId6" Type="http://schemas.openxmlformats.org/officeDocument/2006/relationships/image" Target="../media/image8.jpeg"/><Relationship Id="rId5" Type="http://schemas.openxmlformats.org/officeDocument/2006/relationships/image" Target="../media/image7.png"/><Relationship Id="rId10" Type="http://schemas.openxmlformats.org/officeDocument/2006/relationships/image" Target="../media/image6.emf"/><Relationship Id="rId4" Type="http://schemas.openxmlformats.org/officeDocument/2006/relationships/slideLayout" Target="../slideLayouts/slideLayout1.xml"/><Relationship Id="rId9" Type="http://schemas.openxmlformats.org/officeDocument/2006/relationships/oleObject" Target="../embeddings/oleObject1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896" y="1273730"/>
            <a:ext cx="11466576" cy="1645051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0096" y="3027086"/>
            <a:ext cx="6437376" cy="851433"/>
          </a:xfrm>
          <a:prstGeom prst="rect">
            <a:avLst/>
          </a:prstGeom>
        </p:spPr>
      </p:pic>
      <p:pic>
        <p:nvPicPr>
          <p:cNvPr id="6" name="Imagem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913" y="3027086"/>
            <a:ext cx="4754880" cy="520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0498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8000"/>
    </mc:Choice>
    <mc:Fallback xmlns="">
      <p:transition spd="slow" advClick="0" advTm="8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3000"/>
                            </p:stCondLst>
                            <p:childTnLst>
                              <p:par>
                                <p:cTn id="1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000"/>
                            </p:stCondLst>
                            <p:childTnLst>
                              <p:par>
                                <p:cTn id="24" presetID="22" presetClass="exit" presetSubtype="2" fill="hold" nodeType="afterEffect">
                                  <p:stCondLst>
                                    <p:cond delay="225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25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8250"/>
                            </p:stCondLst>
                            <p:childTnLst>
                              <p:par>
                                <p:cTn id="28" presetID="52" presetClass="exit" presetSubtype="0" fill="hold" nodeType="afterEffect">
                                  <p:stCondLst>
                                    <p:cond delay="750"/>
                                  </p:stCondLst>
                                  <p:childTnLst>
                                    <p:animScale>
                                      <p:cBhvr>
                                        <p:cTn id="29" dur="1000" ac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from x="100000" y="100000"/>
                                      <p:to x="250000" y="250000"/>
                                    </p:animScale>
                                    <p:animMotion origin="layout" path="M 0.0000 0.0000 C 0.03802 0.0 0.1441 0.02341 0.1826 0.0915 C 0.22118 0.15964 0.24705 0.31256 0.2318 0.4083 C 0.21649 0.50394 0.20747 0.57948 0.0908 0.6661 C -0.02552 0.75279 -0.37517 0.88508 -0.4674 0.9289" pathEditMode="relative" ptsTypes="">
                                      <p:cBhvr>
                                        <p:cTn id="30" dur="1000" ac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out" filter="fade">
                                      <p:cBhvr>
                                        <p:cTn id="3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53" presetClass="exit" presetSubtype="544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 calcmode="lin" valueType="num">
                                      <p:cBhvr>
                                        <p:cTn id="34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/>
        </p:nvSpPr>
        <p:spPr>
          <a:xfrm>
            <a:off x="0" y="0"/>
            <a:ext cx="3163824" cy="685800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4" name="Retângulo 3"/>
          <p:cNvSpPr/>
          <p:nvPr/>
        </p:nvSpPr>
        <p:spPr>
          <a:xfrm>
            <a:off x="3526971" y="135071"/>
            <a:ext cx="8322907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VE" sz="3600" dirty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Hoy, no necesitamos declararnos otra vez en Estado Independiente, autónomo y Soberano, sino que por el contrario, declaramos que a partir de hoy, asumiendo nuestro derecho y en pleno ejercicio de nuestra soberanía, 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302" y="135071"/>
            <a:ext cx="2871218" cy="379759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56" y="4700016"/>
            <a:ext cx="3133668" cy="2157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2741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2000"/>
    </mc:Choice>
    <mc:Fallback xmlns="">
      <p:transition spd="slow" advClick="0" advTm="1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/>
        </p:nvSpPr>
        <p:spPr>
          <a:xfrm>
            <a:off x="0" y="0"/>
            <a:ext cx="3163824" cy="685800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4" name="Retângulo 3"/>
          <p:cNvSpPr/>
          <p:nvPr/>
        </p:nvSpPr>
        <p:spPr>
          <a:xfrm>
            <a:off x="3526971" y="135071"/>
            <a:ext cx="8322907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VE" sz="3600" dirty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exhortamos a toda la sociedad decente venezolana, dentro y fuera del territorio de la República, sea cual fuere su nivel educativo, formación profesional, técnica, sexo, credo, color de piel, venezolano por nacimiento o naturalización, 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302" y="135071"/>
            <a:ext cx="2871218" cy="379759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56" y="4700016"/>
            <a:ext cx="3133668" cy="2157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63062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2000"/>
    </mc:Choice>
    <mc:Fallback xmlns="">
      <p:transition spd="slow" advClick="0" advTm="1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/>
        </p:nvSpPr>
        <p:spPr>
          <a:xfrm>
            <a:off x="0" y="0"/>
            <a:ext cx="3163824" cy="685800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4" name="Retângulo 3"/>
          <p:cNvSpPr/>
          <p:nvPr/>
        </p:nvSpPr>
        <p:spPr>
          <a:xfrm>
            <a:off x="3452328" y="135071"/>
            <a:ext cx="839755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VE" sz="3600" dirty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incluso con otra nacionalidad además de la venezolana, con la edad suficiente para tener consciencia de sus deberes y derechos ciudadanos, 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302" y="135071"/>
            <a:ext cx="2871218" cy="379759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56" y="4700016"/>
            <a:ext cx="3133668" cy="2157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0096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2000"/>
    </mc:Choice>
    <mc:Fallback xmlns="">
      <p:transition spd="slow" advClick="0" advTm="1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/>
        </p:nvSpPr>
        <p:spPr>
          <a:xfrm>
            <a:off x="0" y="0"/>
            <a:ext cx="3163824" cy="685800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4" name="Retângulo 3"/>
          <p:cNvSpPr/>
          <p:nvPr/>
        </p:nvSpPr>
        <p:spPr>
          <a:xfrm>
            <a:off x="3564294" y="135071"/>
            <a:ext cx="8248261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VE" sz="3600" dirty="0" smtClean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a </a:t>
            </a:r>
            <a:r>
              <a:rPr lang="es-VE" sz="3600" dirty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organizarnos de manera seria y </a:t>
            </a:r>
            <a:r>
              <a:rPr lang="es-VE" sz="3600" dirty="0" smtClean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profesional, </a:t>
            </a:r>
            <a:r>
              <a:rPr lang="es-VE" sz="3600" dirty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para asumir nuestras responsabilidades republicanas ciudadanas.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302" y="135071"/>
            <a:ext cx="2871218" cy="379759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56" y="4700016"/>
            <a:ext cx="3133668" cy="2157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75924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9000"/>
    </mc:Choice>
    <mc:Fallback xmlns="">
      <p:transition spd="slow" advClick="0" advTm="9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/>
        </p:nvSpPr>
        <p:spPr>
          <a:xfrm>
            <a:off x="0" y="0"/>
            <a:ext cx="3163824" cy="685800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4" name="Retângulo 3"/>
          <p:cNvSpPr/>
          <p:nvPr/>
        </p:nvSpPr>
        <p:spPr>
          <a:xfrm>
            <a:off x="3582955" y="135071"/>
            <a:ext cx="8285584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VE" sz="3600" dirty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Esta organización implica que todos los </a:t>
            </a:r>
            <a:r>
              <a:rPr lang="es-VE" sz="3600" b="1" dirty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ciudadanos decentes que tengan formación militar</a:t>
            </a:r>
            <a:r>
              <a:rPr lang="es-VE" sz="3600" dirty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, procedan a refundar al glorioso Ejército Forjador de Libertades, que en el siglo XIX, enfrentó y venció a uno de los mas fuertes y organizados ejércitos del mundo</a:t>
            </a:r>
            <a:r>
              <a:rPr lang="es-VE" sz="3600" dirty="0" smtClean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.</a:t>
            </a:r>
            <a:endParaRPr lang="es-VE" sz="3600" dirty="0">
              <a:solidFill>
                <a:schemeClr val="accent6">
                  <a:lumMod val="50000"/>
                </a:schemeClr>
              </a:solidFill>
              <a:latin typeface="FrancophilSans" panose="02000603040000020004" pitchFamily="2" charset="0"/>
            </a:endParaRP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302" y="135071"/>
            <a:ext cx="2871218" cy="379759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56" y="4700016"/>
            <a:ext cx="3133668" cy="2157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5158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2000"/>
    </mc:Choice>
    <mc:Fallback xmlns="">
      <p:transition spd="slow" advClick="0" advTm="1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/>
        </p:nvSpPr>
        <p:spPr>
          <a:xfrm>
            <a:off x="0" y="0"/>
            <a:ext cx="3163824" cy="685800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4" name="Retângulo 3"/>
          <p:cNvSpPr/>
          <p:nvPr/>
        </p:nvSpPr>
        <p:spPr>
          <a:xfrm>
            <a:off x="3489649" y="135071"/>
            <a:ext cx="8416212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VE" sz="3600" dirty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Por tanto, siguiendo la disciplina militar que les atañe, nosotros, venezolanos, ciudadanos libres, sin ataduras partidistas de ninguna índole, fieles a la tradición republicana, 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302" y="135071"/>
            <a:ext cx="2871218" cy="379759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56" y="4700016"/>
            <a:ext cx="3133668" cy="2157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2087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2000"/>
    </mc:Choice>
    <mc:Fallback xmlns="">
      <p:transition spd="slow" advClick="0" advTm="1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/>
        </p:nvSpPr>
        <p:spPr>
          <a:xfrm>
            <a:off x="0" y="0"/>
            <a:ext cx="3163824" cy="685800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4" name="Retângulo 3"/>
          <p:cNvSpPr/>
          <p:nvPr/>
        </p:nvSpPr>
        <p:spPr>
          <a:xfrm>
            <a:off x="3526971" y="135071"/>
            <a:ext cx="8374977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VE" sz="3600" dirty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les exhortamos a que procedan según las formas y normas </a:t>
            </a:r>
            <a:r>
              <a:rPr lang="es-VE" sz="3600" dirty="0" smtClean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acordes a la </a:t>
            </a:r>
            <a:r>
              <a:rPr lang="es-VE" sz="3600" dirty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carrera y disciplina militar que les es propia, a organizarse según sus jerarquías, fuerzas, condiciones físicas y de edad, ubicación geográfica y capacidades</a:t>
            </a:r>
            <a:r>
              <a:rPr lang="es-VE" sz="3600" dirty="0" smtClean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, </a:t>
            </a:r>
            <a:endParaRPr lang="es-VE" sz="3600" dirty="0">
              <a:solidFill>
                <a:schemeClr val="accent6">
                  <a:lumMod val="50000"/>
                </a:schemeClr>
              </a:solidFill>
              <a:latin typeface="FrancophilSans" panose="02000603040000020004" pitchFamily="2" charset="0"/>
            </a:endParaRP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302" y="135071"/>
            <a:ext cx="2871218" cy="379759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56" y="4700016"/>
            <a:ext cx="3133668" cy="2157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46099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2000"/>
    </mc:Choice>
    <mc:Fallback xmlns="">
      <p:transition spd="slow" advClick="0" advTm="1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/>
        </p:nvSpPr>
        <p:spPr>
          <a:xfrm>
            <a:off x="0" y="0"/>
            <a:ext cx="3163824" cy="685800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4" name="Retângulo 3"/>
          <p:cNvSpPr/>
          <p:nvPr/>
        </p:nvSpPr>
        <p:spPr>
          <a:xfrm>
            <a:off x="3470989" y="135071"/>
            <a:ext cx="8430960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VE" sz="3600" dirty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para una vez ejecutado ese paso, procedan a alcanzar el objetivo primario de recuperar la patria de las manos de quienes hoy se han apoderado del territorio, usurpar el poder político, medrar del Estado y entregar las riquezas de la nación a gobiernos y organizaciones terroristas </a:t>
            </a:r>
            <a:r>
              <a:rPr lang="es-VE" sz="3600" dirty="0" smtClean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internacionales</a:t>
            </a:r>
            <a:endParaRPr lang="es-VE" sz="3600" dirty="0">
              <a:solidFill>
                <a:schemeClr val="accent6">
                  <a:lumMod val="50000"/>
                </a:schemeClr>
              </a:solidFill>
              <a:latin typeface="FrancophilSans" panose="02000603040000020004" pitchFamily="2" charset="0"/>
            </a:endParaRP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302" y="135071"/>
            <a:ext cx="2871218" cy="379759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56" y="4700016"/>
            <a:ext cx="3133668" cy="2157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9840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2000"/>
    </mc:Choice>
    <mc:Fallback xmlns="">
      <p:transition spd="slow" advClick="0" advTm="1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/>
        </p:nvSpPr>
        <p:spPr>
          <a:xfrm>
            <a:off x="0" y="0"/>
            <a:ext cx="3163824" cy="685800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4" name="Retângulo 3"/>
          <p:cNvSpPr/>
          <p:nvPr/>
        </p:nvSpPr>
        <p:spPr>
          <a:xfrm>
            <a:off x="3470989" y="135071"/>
            <a:ext cx="8430960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VE" sz="3600" dirty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agrupados en asociaciones políticas de ideologías de tendencia marxista, comunista y totalitarista, o sus </a:t>
            </a:r>
            <a:r>
              <a:rPr lang="es-VE" sz="3600" dirty="0" smtClean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variantes, </a:t>
            </a:r>
            <a:r>
              <a:rPr lang="es-VE" sz="3600" dirty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en cuanto a su cualidad política; de credo contrario a la tradición judeo-cristiana; y de tendencia económica llamada “capitalista salvaje”, 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302" y="135071"/>
            <a:ext cx="2871218" cy="379759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56" y="4700016"/>
            <a:ext cx="3133668" cy="2157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767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2000"/>
    </mc:Choice>
    <mc:Fallback xmlns="">
      <p:transition spd="slow" advClick="0" advTm="1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/>
        </p:nvSpPr>
        <p:spPr>
          <a:xfrm>
            <a:off x="0" y="0"/>
            <a:ext cx="3163824" cy="685800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4" name="Retângulo 3"/>
          <p:cNvSpPr/>
          <p:nvPr/>
        </p:nvSpPr>
        <p:spPr>
          <a:xfrm>
            <a:off x="3526971" y="135071"/>
            <a:ext cx="8374977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VE" sz="3600" dirty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que es contraria al sistema capitalista tradicional de libre mercado con valores éticos y morales, así como a la llamada Cultura Occidental de la cual somos parte y arte. 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302" y="135071"/>
            <a:ext cx="2871218" cy="379759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56" y="4700016"/>
            <a:ext cx="3133668" cy="2157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27563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2000"/>
    </mc:Choice>
    <mc:Fallback xmlns="">
      <p:transition spd="slow" advClick="0" advTm="1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/>
        </p:nvSpPr>
        <p:spPr>
          <a:xfrm>
            <a:off x="0" y="0"/>
            <a:ext cx="3163824" cy="685800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4" name="Retângulo 3"/>
          <p:cNvSpPr/>
          <p:nvPr/>
        </p:nvSpPr>
        <p:spPr>
          <a:xfrm>
            <a:off x="3508311" y="135071"/>
            <a:ext cx="8393638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VE" sz="3600" dirty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Una vez </a:t>
            </a:r>
            <a:r>
              <a:rPr lang="es-VE" sz="3600" dirty="0" smtClean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recreado el nuevo Ejército Forjador de Libertades, </a:t>
            </a:r>
            <a:r>
              <a:rPr lang="es-VE" sz="3600" dirty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se unirán a nosotros para juntos, civiles y militares decentes, proceder a recuperar la patria y refundar </a:t>
            </a:r>
            <a:r>
              <a:rPr lang="es-VE" sz="3600" dirty="0" smtClean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La República </a:t>
            </a:r>
            <a:r>
              <a:rPr lang="es-VE" sz="3600" dirty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en Venezuela para que nunca mas, los corruptos puedan volver a perjudicarla como han hecho en estos largos y aciagos años.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302" y="135071"/>
            <a:ext cx="2871218" cy="379759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56" y="4700016"/>
            <a:ext cx="3133668" cy="2157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7670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2000"/>
    </mc:Choice>
    <mc:Fallback xmlns="">
      <p:transition spd="slow" advClick="0" advTm="1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/>
        </p:nvSpPr>
        <p:spPr>
          <a:xfrm>
            <a:off x="0" y="0"/>
            <a:ext cx="3163824" cy="685800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4" name="Retângulo 3"/>
          <p:cNvSpPr/>
          <p:nvPr/>
        </p:nvSpPr>
        <p:spPr>
          <a:xfrm>
            <a:off x="3489649" y="135071"/>
            <a:ext cx="8412299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VE" sz="3600" dirty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De la misma manera, exhortamos a la misma </a:t>
            </a:r>
            <a:r>
              <a:rPr lang="es-VE" sz="3600" b="1" dirty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sociedad civil decente</a:t>
            </a:r>
            <a:r>
              <a:rPr lang="es-VE" sz="3600" dirty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 venezolana, a organizarse de manera discreta, a fin de no despertar sospechas, en Asociaciones de Vecinos, como paso inicial, en grupos de pocos miembros, y en áreas pequeñas, 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302" y="135071"/>
            <a:ext cx="2871218" cy="379759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56" y="4700016"/>
            <a:ext cx="3133668" cy="2157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6935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2000"/>
    </mc:Choice>
    <mc:Fallback xmlns="">
      <p:transition spd="slow" advClick="0" advTm="1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/>
        </p:nvSpPr>
        <p:spPr>
          <a:xfrm>
            <a:off x="0" y="0"/>
            <a:ext cx="3163824" cy="685800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4" name="Retângulo 3"/>
          <p:cNvSpPr/>
          <p:nvPr/>
        </p:nvSpPr>
        <p:spPr>
          <a:xfrm>
            <a:off x="3508311" y="135071"/>
            <a:ext cx="8393638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VE" sz="3600" dirty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para minimizar cualquier represalia o políticas represivas, y para aumentar las posibilidades de recibir los apoyos debidos que la comunidad internacional ofrezca como ayuda humanitaria, así mismo, para organizar en un relativo corto tiempo, 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302" y="135071"/>
            <a:ext cx="2871218" cy="379759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56" y="4700016"/>
            <a:ext cx="3133668" cy="2157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3203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2000"/>
    </mc:Choice>
    <mc:Fallback xmlns="">
      <p:transition spd="slow" advClick="0" advTm="1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/>
        </p:nvSpPr>
        <p:spPr>
          <a:xfrm>
            <a:off x="0" y="0"/>
            <a:ext cx="3163824" cy="685800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4" name="Retângulo 3"/>
          <p:cNvSpPr/>
          <p:nvPr/>
        </p:nvSpPr>
        <p:spPr>
          <a:xfrm>
            <a:off x="3452327" y="135071"/>
            <a:ext cx="8449621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VE" sz="3600" dirty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los debidos procesos políticos que generen los representantes necesarios, en los diferentes niveles de la ciudadanía, como debe ser en una sociedad civilizada y dispuesta a proceder a resolver la actual situación de caos, anarquía y sometimiento en que viven los venezolanos de bien.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302" y="135071"/>
            <a:ext cx="2871218" cy="379759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56" y="4700016"/>
            <a:ext cx="3133668" cy="2157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47994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2000"/>
    </mc:Choice>
    <mc:Fallback xmlns="">
      <p:transition spd="slow" advClick="0" advTm="1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/>
        </p:nvSpPr>
        <p:spPr>
          <a:xfrm>
            <a:off x="0" y="0"/>
            <a:ext cx="3163824" cy="685800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4" name="Retângulo 3"/>
          <p:cNvSpPr/>
          <p:nvPr/>
        </p:nvSpPr>
        <p:spPr>
          <a:xfrm>
            <a:off x="3582955" y="135071"/>
            <a:ext cx="8318993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VE" sz="3600" dirty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La recuperación de la patria y la refundación de la república en Venezuela depende mucho de la velocidad y seriedad del proceso organizativo que la sociedad civil y militar, </a:t>
            </a:r>
            <a:r>
              <a:rPr lang="es-VE" sz="3600" dirty="0" smtClean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realicemos. </a:t>
            </a:r>
            <a:endParaRPr lang="es-VE" sz="3600" dirty="0">
              <a:solidFill>
                <a:schemeClr val="accent6">
                  <a:lumMod val="50000"/>
                </a:schemeClr>
              </a:solidFill>
              <a:latin typeface="FrancophilSans" panose="02000603040000020004" pitchFamily="2" charset="0"/>
            </a:endParaRP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302" y="135071"/>
            <a:ext cx="2871218" cy="379759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56" y="4700016"/>
            <a:ext cx="3133668" cy="2157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95510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2000"/>
    </mc:Choice>
    <mc:Fallback xmlns="">
      <p:transition spd="slow" advClick="0" advTm="1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/>
        </p:nvSpPr>
        <p:spPr>
          <a:xfrm>
            <a:off x="0" y="0"/>
            <a:ext cx="3163824" cy="685800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4" name="Retângulo 3"/>
          <p:cNvSpPr/>
          <p:nvPr/>
        </p:nvSpPr>
        <p:spPr>
          <a:xfrm>
            <a:off x="3564295" y="135071"/>
            <a:ext cx="8337654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VE" sz="3600" dirty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Esto no es un juego. Esto no es salir a buscar votos y llenar calles marchando solamente, tampoco es salir armados a asesinar personas. Esto ha de ser hecho de la manera mas eficaz y eficiente debida. 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302" y="135071"/>
            <a:ext cx="2871218" cy="379759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56" y="4700016"/>
            <a:ext cx="3133668" cy="2157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8753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2000"/>
    </mc:Choice>
    <mc:Fallback xmlns="">
      <p:transition spd="slow" advClick="0" advTm="1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/>
        </p:nvSpPr>
        <p:spPr>
          <a:xfrm>
            <a:off x="0" y="0"/>
            <a:ext cx="3163824" cy="685800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4" name="Retângulo 3"/>
          <p:cNvSpPr/>
          <p:nvPr/>
        </p:nvSpPr>
        <p:spPr>
          <a:xfrm>
            <a:off x="3601617" y="135071"/>
            <a:ext cx="8300332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VE" sz="3600" dirty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Debemos hacerlo muy bien, debemos vencer sin morir en el </a:t>
            </a:r>
            <a:r>
              <a:rPr lang="es-VE" sz="3600" dirty="0" smtClean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intento.</a:t>
            </a:r>
          </a:p>
          <a:p>
            <a:pPr>
              <a:lnSpc>
                <a:spcPct val="150000"/>
              </a:lnSpc>
            </a:pPr>
            <a:r>
              <a:rPr lang="es-VE" sz="3600" dirty="0" smtClean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Debemos </a:t>
            </a:r>
            <a:r>
              <a:rPr lang="es-VE" sz="3600" dirty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hacerlo de la mejor forma para garantizar el triunfo sea cual sea el terreno, las condiciones y el tipo de lucha que se presente.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302" y="135071"/>
            <a:ext cx="2871218" cy="379759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56" y="4700016"/>
            <a:ext cx="3133668" cy="2157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3725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2000"/>
    </mc:Choice>
    <mc:Fallback xmlns="">
      <p:transition spd="slow" advClick="0" advTm="1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/>
        </p:nvSpPr>
        <p:spPr>
          <a:xfrm>
            <a:off x="0" y="0"/>
            <a:ext cx="3163824" cy="685800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4" name="Retângulo 3"/>
          <p:cNvSpPr/>
          <p:nvPr/>
        </p:nvSpPr>
        <p:spPr>
          <a:xfrm>
            <a:off x="3452327" y="135071"/>
            <a:ext cx="8449622" cy="67403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VE" sz="3600" dirty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A la </a:t>
            </a:r>
            <a:r>
              <a:rPr lang="es-VE" sz="3600" b="1" dirty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comunidad internacional</a:t>
            </a:r>
            <a:r>
              <a:rPr lang="es-VE" sz="3600" dirty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 que ha venido ofreciendo y dando el apoyo y la solidaridad sincera a la nación venezolana, les solicitamos, respetuosamente, el mismo apoyo que han dado en otras oportunidades a los representantes de los partidos políticos, que, por razones obvias, estamos procediendo a relevar con esta declaración. 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302" y="135071"/>
            <a:ext cx="2871218" cy="379759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56" y="4700016"/>
            <a:ext cx="3133668" cy="2157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3139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2000"/>
    </mc:Choice>
    <mc:Fallback xmlns="">
      <p:transition spd="slow" advClick="0" advTm="1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/>
        </p:nvSpPr>
        <p:spPr>
          <a:xfrm>
            <a:off x="0" y="0"/>
            <a:ext cx="3163824" cy="685800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4" name="Retângulo 3"/>
          <p:cNvSpPr/>
          <p:nvPr/>
        </p:nvSpPr>
        <p:spPr>
          <a:xfrm>
            <a:off x="3470988" y="135071"/>
            <a:ext cx="8430961" cy="67403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VE" sz="3600" dirty="0" smtClean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Estamos </a:t>
            </a:r>
            <a:r>
              <a:rPr lang="es-VE" sz="3600" dirty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a la orden para aclarar dudas, buscar vías de consenso, unir fuerzas, intercambiar ideas, mejorar proyectos, mejorar capacidades y trabajar en la mas justa y perfecta alianza que nos permita alcanzar los objetivos de recuperar la patria y refundar la república en Venezuela para con ello, 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302" y="135071"/>
            <a:ext cx="2871218" cy="379759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56" y="4700016"/>
            <a:ext cx="3133668" cy="2157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02702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2000"/>
    </mc:Choice>
    <mc:Fallback xmlns="">
      <p:transition spd="slow" advClick="0" advTm="1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/>
        </p:nvSpPr>
        <p:spPr>
          <a:xfrm>
            <a:off x="0" y="0"/>
            <a:ext cx="3163824" cy="685800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4" name="Retângulo 3"/>
          <p:cNvSpPr/>
          <p:nvPr/>
        </p:nvSpPr>
        <p:spPr>
          <a:xfrm>
            <a:off x="3452327" y="135071"/>
            <a:ext cx="8449621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VE" sz="3600" dirty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generar el Estado de derecho, las bases políticas, económicas, sociales y morales, necesarias para la reconstrucción del Estado, la sociedad y el país en general. 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302" y="135071"/>
            <a:ext cx="2871218" cy="379759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56" y="4700016"/>
            <a:ext cx="3133668" cy="2157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0934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2000"/>
    </mc:Choice>
    <mc:Fallback xmlns="">
      <p:transition spd="slow" advClick="0" advTm="1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/>
        </p:nvSpPr>
        <p:spPr>
          <a:xfrm>
            <a:off x="0" y="0"/>
            <a:ext cx="3163824" cy="685800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4" name="Retângulo 3"/>
          <p:cNvSpPr/>
          <p:nvPr/>
        </p:nvSpPr>
        <p:spPr>
          <a:xfrm>
            <a:off x="3470989" y="135071"/>
            <a:ext cx="8430960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VE" sz="3600" dirty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Esto es algo que nos conviene a todos, pues los enemigos de Venezuela son enemigos de todas las repúblicas americanas que se precian de serlo y trabajan arduamente en mantener esta cultura, sistema y tradiciones. 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302" y="135071"/>
            <a:ext cx="2871218" cy="379759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56" y="4700016"/>
            <a:ext cx="3133668" cy="2157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7121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2000"/>
    </mc:Choice>
    <mc:Fallback xmlns="">
      <p:transition spd="slow" advClick="0" advTm="1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/>
        </p:nvSpPr>
        <p:spPr>
          <a:xfrm>
            <a:off x="0" y="0"/>
            <a:ext cx="3163824" cy="685800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4" name="Retângulo 3"/>
          <p:cNvSpPr/>
          <p:nvPr/>
        </p:nvSpPr>
        <p:spPr>
          <a:xfrm>
            <a:off x="3470989" y="135071"/>
            <a:ext cx="8430960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VE" sz="3600" dirty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Nuestros enemigos son sus </a:t>
            </a:r>
            <a:r>
              <a:rPr lang="es-VE" sz="3600" dirty="0" smtClean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enemigos, </a:t>
            </a:r>
            <a:r>
              <a:rPr lang="es-VE" sz="3600" dirty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v</a:t>
            </a:r>
            <a:r>
              <a:rPr lang="es-VE" sz="3600" dirty="0" smtClean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encerlos </a:t>
            </a:r>
            <a:r>
              <a:rPr lang="es-VE" sz="3600" dirty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aquí, es detenerlos en su deseo de tomar sus países para someterlos a </a:t>
            </a:r>
            <a:r>
              <a:rPr lang="es-VE" sz="3600" dirty="0" smtClean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Ustedes.</a:t>
            </a:r>
          </a:p>
          <a:p>
            <a:pPr>
              <a:lnSpc>
                <a:spcPct val="150000"/>
              </a:lnSpc>
            </a:pPr>
            <a:r>
              <a:rPr lang="es-VE" sz="3600" dirty="0" smtClean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Su </a:t>
            </a:r>
            <a:r>
              <a:rPr lang="es-VE" sz="3600" dirty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apoyo es importante, nuestra voluntad de vencer también, si unimos ambos elementos, el resultado es favorable para Ustedes y nosotros.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302" y="135071"/>
            <a:ext cx="2871218" cy="379759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56" y="4700016"/>
            <a:ext cx="3133668" cy="2157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45273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2000"/>
    </mc:Choice>
    <mc:Fallback xmlns="">
      <p:transition spd="slow" advClick="0" advTm="1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/>
        </p:nvSpPr>
        <p:spPr>
          <a:xfrm>
            <a:off x="0" y="0"/>
            <a:ext cx="3163824" cy="685800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4" name="Retângulo 3"/>
          <p:cNvSpPr/>
          <p:nvPr/>
        </p:nvSpPr>
        <p:spPr>
          <a:xfrm>
            <a:off x="3470989" y="135071"/>
            <a:ext cx="8430960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VE" sz="3600" dirty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Que Dios Todopoderoso, bendiga a todos y cada uno de </a:t>
            </a:r>
            <a:r>
              <a:rPr lang="es-VE" sz="3600" dirty="0" smtClean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los </a:t>
            </a:r>
            <a:r>
              <a:rPr lang="es-VE" sz="3600" dirty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hijos venezolanos, sea cual fuere su posición social, sexo, </a:t>
            </a:r>
            <a:r>
              <a:rPr lang="es-VE" sz="3600" dirty="0" smtClean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educación, </a:t>
            </a:r>
            <a:r>
              <a:rPr lang="es-VE" sz="3600" dirty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raza y credo, que den un paso al frente a este llamado, y doblen su rodilla ante </a:t>
            </a:r>
            <a:r>
              <a:rPr lang="es-VE" sz="3600" dirty="0" smtClean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su presencia </a:t>
            </a:r>
            <a:r>
              <a:rPr lang="es-VE" sz="3600" dirty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como muestra de humildad, </a:t>
            </a:r>
            <a:r>
              <a:rPr lang="es-VE" sz="3600" dirty="0" smtClean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para que este buen </a:t>
            </a:r>
            <a:r>
              <a:rPr lang="es-VE" sz="3600" dirty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Dios, 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302" y="135071"/>
            <a:ext cx="2871218" cy="379759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56" y="4700016"/>
            <a:ext cx="3133668" cy="2157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74373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2000"/>
    </mc:Choice>
    <mc:Fallback xmlns="">
      <p:transition spd="slow" advClick="0" advTm="1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/>
        </p:nvSpPr>
        <p:spPr>
          <a:xfrm>
            <a:off x="0" y="0"/>
            <a:ext cx="3163824" cy="685800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4" name="Retângulo 3"/>
          <p:cNvSpPr/>
          <p:nvPr/>
        </p:nvSpPr>
        <p:spPr>
          <a:xfrm>
            <a:off x="3489649" y="135071"/>
            <a:ext cx="8412299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VE" sz="3600" dirty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así como ha sido benevolente con el pueblo de Israel, lo sea también con esta Tierra de Gracia que llamamos Venezuela y sus repúblicas hermanas de todo el continente, y para que juntos, como buenos hermanos, nos reencontremos en un abrazo de sólida amistad y amor, 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302" y="135071"/>
            <a:ext cx="2871218" cy="379759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56" y="4700016"/>
            <a:ext cx="3133668" cy="2157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90872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2000"/>
    </mc:Choice>
    <mc:Fallback xmlns="">
      <p:transition spd="slow" advClick="0" advTm="1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/>
        </p:nvSpPr>
        <p:spPr>
          <a:xfrm>
            <a:off x="0" y="0"/>
            <a:ext cx="3163824" cy="685800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4" name="Retângulo 3"/>
          <p:cNvSpPr/>
          <p:nvPr/>
        </p:nvSpPr>
        <p:spPr>
          <a:xfrm>
            <a:off x="3489649" y="135071"/>
            <a:ext cx="8412299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VE" sz="3600" dirty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para con ello, presentarle como un homenaje sincero, esta gesta que se eleve como agradable perfume en acción de gracia para su </a:t>
            </a:r>
            <a:r>
              <a:rPr lang="es-VE" sz="3600" dirty="0" smtClean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gloria </a:t>
            </a:r>
            <a:r>
              <a:rPr lang="es-VE" sz="3600" dirty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eterna.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302" y="135071"/>
            <a:ext cx="2871218" cy="379759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56" y="4700016"/>
            <a:ext cx="3133668" cy="2157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4334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2000"/>
    </mc:Choice>
    <mc:Fallback xmlns="">
      <p:transition spd="slow" advClick="0" advTm="1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/>
        </p:nvSpPr>
        <p:spPr>
          <a:xfrm>
            <a:off x="0" y="0"/>
            <a:ext cx="3163824" cy="685800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4" name="Retângulo 3"/>
          <p:cNvSpPr/>
          <p:nvPr/>
        </p:nvSpPr>
        <p:spPr>
          <a:xfrm>
            <a:off x="3508311" y="135071"/>
            <a:ext cx="8393638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VE" sz="3600" dirty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Todo aquel que esté de acuerdo con esta declaración, solo debe proceder a orar sinceramente, dejar a un lado todo cuanto de errado venía haciendo y proceder a hacer lo que aquí se le exhorta y esté en capacidad de hacer de la manera mas eficaz y eficiente</a:t>
            </a:r>
            <a:r>
              <a:rPr lang="es-VE" sz="3600" dirty="0" smtClean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.</a:t>
            </a:r>
            <a:endParaRPr lang="es-VE" sz="3600" dirty="0">
              <a:solidFill>
                <a:schemeClr val="accent6">
                  <a:lumMod val="50000"/>
                </a:schemeClr>
              </a:solidFill>
              <a:latin typeface="FrancophilSans" panose="02000603040000020004" pitchFamily="2" charset="0"/>
            </a:endParaRP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302" y="135071"/>
            <a:ext cx="2871218" cy="379759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56" y="4700016"/>
            <a:ext cx="3133668" cy="2157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0737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2000"/>
    </mc:Choice>
    <mc:Fallback xmlns="">
      <p:transition spd="slow" advClick="0" advTm="1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/>
        </p:nvSpPr>
        <p:spPr>
          <a:xfrm>
            <a:off x="0" y="0"/>
            <a:ext cx="3163824" cy="685800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4" name="Retângulo 3"/>
          <p:cNvSpPr/>
          <p:nvPr/>
        </p:nvSpPr>
        <p:spPr>
          <a:xfrm>
            <a:off x="3545633" y="135071"/>
            <a:ext cx="8356315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VE" sz="3600" dirty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Nosotros ya estamos trabajando en una propuesta de Constitución para la República que debe ser, esa que nos permita dejar a las nuevas generaciones de venezolanos una patria decente, verdaderamente independiente, autónoma y soberana, 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302" y="135071"/>
            <a:ext cx="2871218" cy="379759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56" y="4700016"/>
            <a:ext cx="3133668" cy="2157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1978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2000"/>
    </mc:Choice>
    <mc:Fallback xmlns="">
      <p:transition spd="slow" advClick="0" advTm="1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/>
        </p:nvSpPr>
        <p:spPr>
          <a:xfrm>
            <a:off x="0" y="0"/>
            <a:ext cx="3163824" cy="685800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4" name="Retângulo 3"/>
          <p:cNvSpPr/>
          <p:nvPr/>
        </p:nvSpPr>
        <p:spPr>
          <a:xfrm>
            <a:off x="3545633" y="135071"/>
            <a:ext cx="8356315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VE" sz="3600" dirty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donde puedan alcanzar los mayores y mejores niveles de progreso y bienestar posibles gracias a sus capacidades y esfuerzos, en armonía con el ambiente y dentro del deber ser. 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302" y="135071"/>
            <a:ext cx="2871218" cy="379759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56" y="4700016"/>
            <a:ext cx="3133668" cy="2157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26821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2000"/>
    </mc:Choice>
    <mc:Fallback xmlns="">
      <p:transition spd="slow" advClick="0" advTm="1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/>
        </p:nvSpPr>
        <p:spPr>
          <a:xfrm>
            <a:off x="0" y="0"/>
            <a:ext cx="3163824" cy="685800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4" name="Retângulo 3"/>
          <p:cNvSpPr/>
          <p:nvPr/>
        </p:nvSpPr>
        <p:spPr>
          <a:xfrm>
            <a:off x="3470989" y="135071"/>
            <a:ext cx="8430960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VE" sz="3600" dirty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Ese documento será dado a conocer a </a:t>
            </a:r>
            <a:r>
              <a:rPr lang="es-VE" sz="3600" dirty="0" smtClean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su</a:t>
            </a:r>
            <a:r>
              <a:rPr lang="pt-BR" sz="3600" dirty="0" smtClean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 </a:t>
            </a:r>
            <a:r>
              <a:rPr lang="pt-BR" sz="3600" dirty="0" err="1" smtClean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debido</a:t>
            </a:r>
            <a:r>
              <a:rPr lang="pt-BR" sz="3600" dirty="0" smtClean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 momento </a:t>
            </a:r>
            <a:r>
              <a:rPr lang="es-VE" sz="3600" dirty="0" smtClean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para </a:t>
            </a:r>
            <a:r>
              <a:rPr lang="es-VE" sz="3600" dirty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que pueda ser evaluado, apoyado o mejorado de la manera mas republicana posible, por quienes </a:t>
            </a:r>
            <a:r>
              <a:rPr lang="es-VE" sz="3600" dirty="0" smtClean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deba y deseen </a:t>
            </a:r>
            <a:r>
              <a:rPr lang="es-VE" sz="3600" dirty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hacerlo, en el tiempo estipulado y las vías adecuadas, que también serán dadas a conocer a su debido momento.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302" y="135071"/>
            <a:ext cx="2871218" cy="379759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56" y="4700016"/>
            <a:ext cx="3133668" cy="2157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18904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2000"/>
    </mc:Choice>
    <mc:Fallback xmlns="">
      <p:transition spd="slow" advClick="0" advTm="1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/>
        </p:nvSpPr>
        <p:spPr>
          <a:xfrm>
            <a:off x="0" y="0"/>
            <a:ext cx="3163824" cy="685800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4" name="Retângulo 3"/>
          <p:cNvSpPr/>
          <p:nvPr/>
        </p:nvSpPr>
        <p:spPr>
          <a:xfrm>
            <a:off x="3526971" y="135071"/>
            <a:ext cx="8374977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VE" sz="3600" dirty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Tengamos presente que Dios concede la victoria a la constancia y que sin unión y </a:t>
            </a:r>
            <a:r>
              <a:rPr lang="es-VE" sz="3600" dirty="0" smtClean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sin amistad </a:t>
            </a:r>
            <a:r>
              <a:rPr lang="es-VE" sz="3600" dirty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no seremos ni fuertes ni felices</a:t>
            </a:r>
            <a:r>
              <a:rPr lang="es-VE" sz="3600" dirty="0" smtClean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.</a:t>
            </a:r>
            <a:endParaRPr lang="es-VE" sz="3600" dirty="0">
              <a:solidFill>
                <a:schemeClr val="accent6">
                  <a:lumMod val="50000"/>
                </a:schemeClr>
              </a:solidFill>
              <a:latin typeface="FrancophilSans" panose="02000603040000020004" pitchFamily="2" charset="0"/>
            </a:endParaRP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302" y="135071"/>
            <a:ext cx="2871218" cy="379759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56" y="4700016"/>
            <a:ext cx="3133668" cy="2157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59460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2000"/>
    </mc:Choice>
    <mc:Fallback xmlns="">
      <p:transition spd="slow" advClick="0" advTm="1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/>
        </p:nvSpPr>
        <p:spPr>
          <a:xfrm>
            <a:off x="0" y="0"/>
            <a:ext cx="3163824" cy="685800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4" name="Retângulo 3"/>
          <p:cNvSpPr/>
          <p:nvPr/>
        </p:nvSpPr>
        <p:spPr>
          <a:xfrm>
            <a:off x="4645741" y="1418180"/>
            <a:ext cx="5928852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s-VE" sz="3600" dirty="0" smtClean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Muera </a:t>
            </a:r>
            <a:r>
              <a:rPr lang="es-VE" sz="3600" dirty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la </a:t>
            </a:r>
            <a:r>
              <a:rPr lang="es-VE" sz="3600" dirty="0" smtClean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tiranía…</a:t>
            </a:r>
          </a:p>
          <a:p>
            <a:pPr algn="ctr">
              <a:lnSpc>
                <a:spcPct val="150000"/>
              </a:lnSpc>
            </a:pPr>
            <a:r>
              <a:rPr lang="es-VE" sz="3600" dirty="0" smtClean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Viva </a:t>
            </a:r>
            <a:r>
              <a:rPr lang="es-VE" sz="3600" dirty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la </a:t>
            </a:r>
            <a:r>
              <a:rPr lang="es-VE" sz="3600" dirty="0" smtClean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Libertad…</a:t>
            </a:r>
          </a:p>
          <a:p>
            <a:pPr algn="ctr">
              <a:lnSpc>
                <a:spcPct val="150000"/>
              </a:lnSpc>
            </a:pPr>
            <a:r>
              <a:rPr lang="es-VE" sz="3600" dirty="0" smtClean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República </a:t>
            </a:r>
            <a:r>
              <a:rPr lang="es-VE" sz="3600" dirty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si… </a:t>
            </a:r>
            <a:endParaRPr lang="es-VE" sz="3600" dirty="0" smtClean="0">
              <a:solidFill>
                <a:schemeClr val="accent6">
                  <a:lumMod val="50000"/>
                </a:schemeClr>
              </a:solidFill>
              <a:latin typeface="FrancophilSans" panose="02000603040000020004" pitchFamily="2" charset="0"/>
            </a:endParaRPr>
          </a:p>
          <a:p>
            <a:pPr algn="ctr">
              <a:lnSpc>
                <a:spcPct val="150000"/>
              </a:lnSpc>
            </a:pPr>
            <a:r>
              <a:rPr lang="es-VE" sz="3600" dirty="0" smtClean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socialismo </a:t>
            </a:r>
            <a:r>
              <a:rPr lang="es-VE" sz="3600" dirty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nunca mas</a:t>
            </a:r>
            <a:r>
              <a:rPr lang="es-VE" sz="3600" dirty="0" smtClean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…</a:t>
            </a:r>
            <a:endParaRPr lang="es-VE" sz="3600" dirty="0">
              <a:solidFill>
                <a:schemeClr val="accent6">
                  <a:lumMod val="50000"/>
                </a:schemeClr>
              </a:solidFill>
              <a:latin typeface="FrancophilSans" panose="02000603040000020004" pitchFamily="2" charset="0"/>
            </a:endParaRP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302" y="135071"/>
            <a:ext cx="2871218" cy="379759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56" y="4700016"/>
            <a:ext cx="3133668" cy="2157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0563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2000"/>
    </mc:Choice>
    <mc:Fallback xmlns="">
      <p:transition spd="slow" advClick="0" advTm="1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somos Vzla queremos libertad 01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415944" y="5979378"/>
            <a:ext cx="609600" cy="609600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8546" y="3567778"/>
            <a:ext cx="5822301" cy="2921671"/>
          </a:xfrm>
          <a:prstGeom prst="rect">
            <a:avLst/>
          </a:prstGeom>
        </p:spPr>
      </p:pic>
      <p:sp>
        <p:nvSpPr>
          <p:cNvPr id="5" name="Retângulo 4"/>
          <p:cNvSpPr/>
          <p:nvPr/>
        </p:nvSpPr>
        <p:spPr>
          <a:xfrm>
            <a:off x="2058793" y="6284178"/>
            <a:ext cx="8472198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VE" sz="2700" b="1" dirty="0" smtClean="0">
                <a:solidFill>
                  <a:schemeClr val="bg1">
                    <a:lumMod val="50000"/>
                  </a:schemeClr>
                </a:solidFill>
                <a:latin typeface="FrancophilSans" panose="02000603040000020004" pitchFamily="2" charset="0"/>
              </a:rPr>
              <a:t>La armonía hace crecer las cosas pequeñas.</a:t>
            </a:r>
            <a:endParaRPr lang="es-VE" sz="2700" b="1" dirty="0">
              <a:solidFill>
                <a:schemeClr val="bg1">
                  <a:lumMod val="50000"/>
                </a:schemeClr>
              </a:solidFill>
              <a:latin typeface="FrancophilSans" panose="02000603040000020004" pitchFamily="2" charset="0"/>
            </a:endParaRP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6433" y="1"/>
            <a:ext cx="1105566" cy="1305734"/>
          </a:xfrm>
          <a:prstGeom prst="rect">
            <a:avLst/>
          </a:prstGeom>
        </p:spPr>
      </p:pic>
      <p:pic>
        <p:nvPicPr>
          <p:cNvPr id="6" name="Imagem 5"/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18" r="11999"/>
          <a:stretch/>
        </p:blipFill>
        <p:spPr>
          <a:xfrm>
            <a:off x="1" y="0"/>
            <a:ext cx="1436914" cy="1305734"/>
          </a:xfrm>
          <a:prstGeom prst="rect">
            <a:avLst/>
          </a:prstGeom>
        </p:spPr>
      </p:pic>
      <p:graphicFrame>
        <p:nvGraphicFramePr>
          <p:cNvPr id="7" name="Objeto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30715092"/>
              </p:ext>
            </p:extLst>
          </p:nvPr>
        </p:nvGraphicFramePr>
        <p:xfrm>
          <a:off x="2058793" y="55983"/>
          <a:ext cx="8472197" cy="28929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4" name="CorelDRAW" r:id="rId9" imgW="7360075" imgH="2513406" progId="CorelDRAW.Graphic.12">
                  <p:embed/>
                </p:oleObj>
              </mc:Choice>
              <mc:Fallback>
                <p:oleObj name="CorelDRAW" r:id="rId9" imgW="7360075" imgH="2513406" progId="CorelDRAW.Graphic.12">
                  <p:embed/>
                  <p:pic>
                    <p:nvPicPr>
                      <p:cNvPr id="7" name="Objeto 6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058793" y="55983"/>
                        <a:ext cx="8472197" cy="289290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tângulo 7"/>
          <p:cNvSpPr/>
          <p:nvPr/>
        </p:nvSpPr>
        <p:spPr>
          <a:xfrm>
            <a:off x="2058793" y="2911973"/>
            <a:ext cx="8472197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VE" sz="3400" b="1" dirty="0" smtClean="0">
                <a:solidFill>
                  <a:srgbClr val="31B541"/>
                </a:solidFill>
                <a:latin typeface="FrancophilSans" panose="02000603040000020004" pitchFamily="2" charset="0"/>
              </a:rPr>
              <a:t>movimientorepublicanoesperanza@gmail.com</a:t>
            </a:r>
          </a:p>
        </p:txBody>
      </p:sp>
    </p:spTree>
    <p:extLst>
      <p:ext uri="{BB962C8B-B14F-4D97-AF65-F5344CB8AC3E}">
        <p14:creationId xmlns:p14="http://schemas.microsoft.com/office/powerpoint/2010/main" val="1404070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8000"/>
    </mc:Choice>
    <mc:Fallback xmlns="">
      <p:transition spd="slow" advClick="0" advTm="18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1629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3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  <p:bldLst>
      <p:bldP spid="5" grpId="0"/>
      <p:bldP spid="8" grpId="0"/>
    </p:bldLst>
  </p:timing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2564</TotalTime>
  <Words>1243</Words>
  <Application>Microsoft Office PowerPoint</Application>
  <PresentationFormat>Widescreen</PresentationFormat>
  <Paragraphs>38</Paragraphs>
  <Slides>33</Slides>
  <Notes>0</Notes>
  <HiddenSlides>0</HiddenSlides>
  <MMClips>1</MMClips>
  <ScaleCrop>false</ScaleCrop>
  <HeadingPairs>
    <vt:vector size="8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Servidores OLE inseridos</vt:lpstr>
      </vt:variant>
      <vt:variant>
        <vt:i4>1</vt:i4>
      </vt:variant>
      <vt:variant>
        <vt:lpstr>Títulos de slides</vt:lpstr>
      </vt:variant>
      <vt:variant>
        <vt:i4>33</vt:i4>
      </vt:variant>
    </vt:vector>
  </HeadingPairs>
  <TitlesOfParts>
    <vt:vector size="39" baseType="lpstr">
      <vt:lpstr>Arial</vt:lpstr>
      <vt:lpstr>Calibri</vt:lpstr>
      <vt:lpstr>Calibri Light</vt:lpstr>
      <vt:lpstr>FrancophilSans</vt:lpstr>
      <vt:lpstr>Tema do Office</vt:lpstr>
      <vt:lpstr>CorelDRAW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Usuário do Windows</dc:creator>
  <cp:lastModifiedBy>Usuário do Windows</cp:lastModifiedBy>
  <cp:revision>127</cp:revision>
  <dcterms:created xsi:type="dcterms:W3CDTF">2020-05-30T20:32:45Z</dcterms:created>
  <dcterms:modified xsi:type="dcterms:W3CDTF">2020-06-10T18:13:41Z</dcterms:modified>
</cp:coreProperties>
</file>