
<file path=[Content_Types].xml><?xml version="1.0" encoding="utf-8"?>
<Types xmlns="http://schemas.openxmlformats.org/package/2006/content-types">
  <Default Extension="png" ContentType="image/png"/>
  <Default Extension="mp3" ContentType="audio/mpe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3" r:id="rId4"/>
    <p:sldId id="260" r:id="rId5"/>
    <p:sldId id="292" r:id="rId6"/>
    <p:sldId id="262" r:id="rId7"/>
    <p:sldId id="268" r:id="rId8"/>
    <p:sldId id="270" r:id="rId9"/>
    <p:sldId id="269" r:id="rId10"/>
    <p:sldId id="271" r:id="rId11"/>
    <p:sldId id="272" r:id="rId12"/>
    <p:sldId id="274" r:id="rId13"/>
    <p:sldId id="293" r:id="rId14"/>
    <p:sldId id="276" r:id="rId15"/>
    <p:sldId id="277" r:id="rId16"/>
    <p:sldId id="278" r:id="rId17"/>
    <p:sldId id="279" r:id="rId18"/>
    <p:sldId id="280" r:id="rId19"/>
    <p:sldId id="281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4" r:id="rId28"/>
    <p:sldId id="267" r:id="rId2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B5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82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8/6/2020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36309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8/6/2020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1410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8/6/2020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4248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8/6/2020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706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8/6/2020</a:t>
            </a:fld>
            <a:endParaRPr lang="es-V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92787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8/6/2020</a:t>
            </a:fld>
            <a:endParaRPr lang="es-V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5224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8/6/2020</a:t>
            </a:fld>
            <a:endParaRPr lang="es-V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4387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8/6/2020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4105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8/6/2020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7679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8/6/2020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5674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8/6/2020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2422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ADC9A-3A06-4DBF-B9E8-7CA0FA9BB67C}" type="datetimeFigureOut">
              <a:rPr lang="es-VE" smtClean="0"/>
              <a:t>8/6/2020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7766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252"/>
          <a:stretch/>
        </p:blipFill>
        <p:spPr>
          <a:xfrm>
            <a:off x="0" y="0"/>
            <a:ext cx="12208192" cy="7649028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52325" y="542498"/>
            <a:ext cx="11303541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6300" dirty="0" smtClean="0">
                <a:solidFill>
                  <a:schemeClr val="bg1"/>
                </a:solidFill>
                <a:latin typeface="FrancophilSans" panose="02000603040000020004" pitchFamily="2" charset="0"/>
              </a:rPr>
              <a:t>En nombre de Dios Todopoderoso</a:t>
            </a:r>
            <a:endParaRPr lang="es-VE" sz="6300" dirty="0">
              <a:solidFill>
                <a:schemeClr val="bg1"/>
              </a:solidFill>
              <a:latin typeface="FrancophilSans" panose="020006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53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4000"/>
    </mc:Choice>
    <mc:Fallback xmlns="">
      <p:transition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pezoide 4"/>
          <p:cNvSpPr/>
          <p:nvPr/>
        </p:nvSpPr>
        <p:spPr>
          <a:xfrm>
            <a:off x="0" y="3419856"/>
            <a:ext cx="12192000" cy="3438144"/>
          </a:xfrm>
          <a:custGeom>
            <a:avLst/>
            <a:gdLst>
              <a:gd name="connsiteX0" fmla="*/ 0 w 12192000"/>
              <a:gd name="connsiteY0" fmla="*/ 6858000 h 6858000"/>
              <a:gd name="connsiteX1" fmla="*/ 1714500 w 12192000"/>
              <a:gd name="connsiteY1" fmla="*/ 0 h 6858000"/>
              <a:gd name="connsiteX2" fmla="*/ 10477500 w 12192000"/>
              <a:gd name="connsiteY2" fmla="*/ 0 h 6858000"/>
              <a:gd name="connsiteX3" fmla="*/ 12192000 w 12192000"/>
              <a:gd name="connsiteY3" fmla="*/ 6858000 h 6858000"/>
              <a:gd name="connsiteX4" fmla="*/ 0 w 12192000"/>
              <a:gd name="connsiteY4" fmla="*/ 6858000 h 6858000"/>
              <a:gd name="connsiteX0" fmla="*/ 0 w 12192000"/>
              <a:gd name="connsiteY0" fmla="*/ 6858000 h 6858000"/>
              <a:gd name="connsiteX1" fmla="*/ 3945636 w 12192000"/>
              <a:gd name="connsiteY1" fmla="*/ 36576 h 6858000"/>
              <a:gd name="connsiteX2" fmla="*/ 10477500 w 12192000"/>
              <a:gd name="connsiteY2" fmla="*/ 0 h 6858000"/>
              <a:gd name="connsiteX3" fmla="*/ 12192000 w 12192000"/>
              <a:gd name="connsiteY3" fmla="*/ 6858000 h 6858000"/>
              <a:gd name="connsiteX4" fmla="*/ 0 w 12192000"/>
              <a:gd name="connsiteY4" fmla="*/ 6858000 h 6858000"/>
              <a:gd name="connsiteX0" fmla="*/ 0 w 12192000"/>
              <a:gd name="connsiteY0" fmla="*/ 6839712 h 6839712"/>
              <a:gd name="connsiteX1" fmla="*/ 3945636 w 12192000"/>
              <a:gd name="connsiteY1" fmla="*/ 18288 h 6839712"/>
              <a:gd name="connsiteX2" fmla="*/ 10166604 w 12192000"/>
              <a:gd name="connsiteY2" fmla="*/ 0 h 6839712"/>
              <a:gd name="connsiteX3" fmla="*/ 12192000 w 12192000"/>
              <a:gd name="connsiteY3" fmla="*/ 6839712 h 6839712"/>
              <a:gd name="connsiteX4" fmla="*/ 0 w 12192000"/>
              <a:gd name="connsiteY4" fmla="*/ 6839712 h 6839712"/>
              <a:gd name="connsiteX0" fmla="*/ 0 w 12192000"/>
              <a:gd name="connsiteY0" fmla="*/ 6821424 h 6821424"/>
              <a:gd name="connsiteX1" fmla="*/ 3945636 w 12192000"/>
              <a:gd name="connsiteY1" fmla="*/ 0 h 6821424"/>
              <a:gd name="connsiteX2" fmla="*/ 9892284 w 12192000"/>
              <a:gd name="connsiteY2" fmla="*/ 0 h 6821424"/>
              <a:gd name="connsiteX3" fmla="*/ 12192000 w 12192000"/>
              <a:gd name="connsiteY3" fmla="*/ 6821424 h 6821424"/>
              <a:gd name="connsiteX4" fmla="*/ 0 w 12192000"/>
              <a:gd name="connsiteY4" fmla="*/ 6821424 h 6821424"/>
              <a:gd name="connsiteX0" fmla="*/ 0 w 12192000"/>
              <a:gd name="connsiteY0" fmla="*/ 6858000 h 6858000"/>
              <a:gd name="connsiteX1" fmla="*/ 3945636 w 12192000"/>
              <a:gd name="connsiteY1" fmla="*/ 36576 h 6858000"/>
              <a:gd name="connsiteX2" fmla="*/ 7734300 w 12192000"/>
              <a:gd name="connsiteY2" fmla="*/ 0 h 6858000"/>
              <a:gd name="connsiteX3" fmla="*/ 12192000 w 12192000"/>
              <a:gd name="connsiteY3" fmla="*/ 6858000 h 6858000"/>
              <a:gd name="connsiteX4" fmla="*/ 0 w 12192000"/>
              <a:gd name="connsiteY4" fmla="*/ 6858000 h 6858000"/>
              <a:gd name="connsiteX0" fmla="*/ 0 w 12192000"/>
              <a:gd name="connsiteY0" fmla="*/ 6858000 h 6858000"/>
              <a:gd name="connsiteX1" fmla="*/ 4457700 w 12192000"/>
              <a:gd name="connsiteY1" fmla="*/ 36576 h 6858000"/>
              <a:gd name="connsiteX2" fmla="*/ 7734300 w 12192000"/>
              <a:gd name="connsiteY2" fmla="*/ 0 h 6858000"/>
              <a:gd name="connsiteX3" fmla="*/ 12192000 w 12192000"/>
              <a:gd name="connsiteY3" fmla="*/ 6858000 h 6858000"/>
              <a:gd name="connsiteX4" fmla="*/ 0 w 12192000"/>
              <a:gd name="connsiteY4" fmla="*/ 6858000 h 6858000"/>
              <a:gd name="connsiteX0" fmla="*/ 0 w 12192000"/>
              <a:gd name="connsiteY0" fmla="*/ 6858000 h 6858000"/>
              <a:gd name="connsiteX1" fmla="*/ 4457700 w 12192000"/>
              <a:gd name="connsiteY1" fmla="*/ 36576 h 6858000"/>
              <a:gd name="connsiteX2" fmla="*/ 7734300 w 12192000"/>
              <a:gd name="connsiteY2" fmla="*/ 0 h 6858000"/>
              <a:gd name="connsiteX3" fmla="*/ 12192000 w 12192000"/>
              <a:gd name="connsiteY3" fmla="*/ 6858000 h 6858000"/>
              <a:gd name="connsiteX4" fmla="*/ 0 w 12192000"/>
              <a:gd name="connsiteY4" fmla="*/ 6858000 h 6858000"/>
              <a:gd name="connsiteX0" fmla="*/ 0 w 12192000"/>
              <a:gd name="connsiteY0" fmla="*/ 6821424 h 6821424"/>
              <a:gd name="connsiteX1" fmla="*/ 4457700 w 12192000"/>
              <a:gd name="connsiteY1" fmla="*/ 0 h 6821424"/>
              <a:gd name="connsiteX2" fmla="*/ 7130796 w 12192000"/>
              <a:gd name="connsiteY2" fmla="*/ 0 h 6821424"/>
              <a:gd name="connsiteX3" fmla="*/ 12192000 w 12192000"/>
              <a:gd name="connsiteY3" fmla="*/ 6821424 h 6821424"/>
              <a:gd name="connsiteX4" fmla="*/ 0 w 12192000"/>
              <a:gd name="connsiteY4" fmla="*/ 6821424 h 6821424"/>
              <a:gd name="connsiteX0" fmla="*/ 0 w 12192000"/>
              <a:gd name="connsiteY0" fmla="*/ 6858000 h 6858000"/>
              <a:gd name="connsiteX1" fmla="*/ 5353812 w 12192000"/>
              <a:gd name="connsiteY1" fmla="*/ 0 h 6858000"/>
              <a:gd name="connsiteX2" fmla="*/ 7130796 w 12192000"/>
              <a:gd name="connsiteY2" fmla="*/ 36576 h 6858000"/>
              <a:gd name="connsiteX3" fmla="*/ 12192000 w 12192000"/>
              <a:gd name="connsiteY3" fmla="*/ 6858000 h 6858000"/>
              <a:gd name="connsiteX4" fmla="*/ 0 w 12192000"/>
              <a:gd name="connsiteY4" fmla="*/ 6858000 h 6858000"/>
              <a:gd name="connsiteX0" fmla="*/ 0 w 12192000"/>
              <a:gd name="connsiteY0" fmla="*/ 6858000 h 6858000"/>
              <a:gd name="connsiteX1" fmla="*/ 5353812 w 12192000"/>
              <a:gd name="connsiteY1" fmla="*/ 0 h 6858000"/>
              <a:gd name="connsiteX2" fmla="*/ 7130796 w 12192000"/>
              <a:gd name="connsiteY2" fmla="*/ 36576 h 6858000"/>
              <a:gd name="connsiteX3" fmla="*/ 12192000 w 12192000"/>
              <a:gd name="connsiteY3" fmla="*/ 6858000 h 6858000"/>
              <a:gd name="connsiteX4" fmla="*/ 0 w 12192000"/>
              <a:gd name="connsiteY4" fmla="*/ 6858000 h 6858000"/>
              <a:gd name="connsiteX0" fmla="*/ 0 w 12192000"/>
              <a:gd name="connsiteY0" fmla="*/ 6858000 h 6858000"/>
              <a:gd name="connsiteX1" fmla="*/ 5353812 w 12192000"/>
              <a:gd name="connsiteY1" fmla="*/ 0 h 6858000"/>
              <a:gd name="connsiteX2" fmla="*/ 7075932 w 12192000"/>
              <a:gd name="connsiteY2" fmla="*/ 18288 h 6858000"/>
              <a:gd name="connsiteX3" fmla="*/ 12192000 w 12192000"/>
              <a:gd name="connsiteY3" fmla="*/ 6858000 h 6858000"/>
              <a:gd name="connsiteX4" fmla="*/ 0 w 12192000"/>
              <a:gd name="connsiteY4" fmla="*/ 6858000 h 6858000"/>
              <a:gd name="connsiteX0" fmla="*/ 0 w 12192000"/>
              <a:gd name="connsiteY0" fmla="*/ 6860254 h 6860254"/>
              <a:gd name="connsiteX1" fmla="*/ 5353812 w 12192000"/>
              <a:gd name="connsiteY1" fmla="*/ 2254 h 6860254"/>
              <a:gd name="connsiteX2" fmla="*/ 6893052 w 12192000"/>
              <a:gd name="connsiteY2" fmla="*/ 2254 h 6860254"/>
              <a:gd name="connsiteX3" fmla="*/ 12192000 w 12192000"/>
              <a:gd name="connsiteY3" fmla="*/ 6860254 h 6860254"/>
              <a:gd name="connsiteX4" fmla="*/ 0 w 12192000"/>
              <a:gd name="connsiteY4" fmla="*/ 6860254 h 6860254"/>
              <a:gd name="connsiteX0" fmla="*/ 0 w 12192000"/>
              <a:gd name="connsiteY0" fmla="*/ 6860254 h 6860254"/>
              <a:gd name="connsiteX1" fmla="*/ 5353812 w 12192000"/>
              <a:gd name="connsiteY1" fmla="*/ 2254 h 6860254"/>
              <a:gd name="connsiteX2" fmla="*/ 6893052 w 12192000"/>
              <a:gd name="connsiteY2" fmla="*/ 2254 h 6860254"/>
              <a:gd name="connsiteX3" fmla="*/ 12192000 w 12192000"/>
              <a:gd name="connsiteY3" fmla="*/ 6860254 h 6860254"/>
              <a:gd name="connsiteX4" fmla="*/ 0 w 12192000"/>
              <a:gd name="connsiteY4" fmla="*/ 6860254 h 6860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60254">
                <a:moveTo>
                  <a:pt x="0" y="6860254"/>
                </a:moveTo>
                <a:lnTo>
                  <a:pt x="5353812" y="2254"/>
                </a:lnTo>
                <a:cubicBezTo>
                  <a:pt x="6238748" y="32734"/>
                  <a:pt x="6300724" y="-9938"/>
                  <a:pt x="6893052" y="2254"/>
                </a:cubicBezTo>
                <a:lnTo>
                  <a:pt x="12192000" y="6860254"/>
                </a:lnTo>
                <a:lnTo>
                  <a:pt x="0" y="6860254"/>
                </a:lnTo>
                <a:close/>
              </a:path>
            </a:pathLst>
          </a:custGeom>
          <a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88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5" name="Retângulo 4"/>
          <p:cNvSpPr/>
          <p:nvPr/>
        </p:nvSpPr>
        <p:spPr>
          <a:xfrm>
            <a:off x="438912" y="278925"/>
            <a:ext cx="11491831" cy="528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4500" b="1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presentamos al</a:t>
            </a:r>
          </a:p>
          <a:p>
            <a:pPr algn="ctr">
              <a:lnSpc>
                <a:spcPct val="150000"/>
              </a:lnSpc>
            </a:pPr>
            <a:r>
              <a:rPr lang="es-VE" sz="4500" b="1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bravo pueblo y a la</a:t>
            </a:r>
          </a:p>
          <a:p>
            <a:pPr algn="ctr">
              <a:lnSpc>
                <a:spcPct val="150000"/>
              </a:lnSpc>
            </a:pPr>
            <a:r>
              <a:rPr lang="es-VE" sz="4500" b="1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sociedad decente</a:t>
            </a:r>
          </a:p>
          <a:p>
            <a:pPr algn="ctr">
              <a:lnSpc>
                <a:spcPct val="150000"/>
              </a:lnSpc>
            </a:pPr>
            <a:r>
              <a:rPr lang="es-VE" sz="4500" b="1" dirty="0" smtClean="0">
                <a:solidFill>
                  <a:schemeClr val="bg1"/>
                </a:solidFill>
                <a:latin typeface="FrancophilSans" panose="02000603040000020004" pitchFamily="2" charset="0"/>
              </a:rPr>
              <a:t>venezolana</a:t>
            </a:r>
          </a:p>
          <a:p>
            <a:pPr algn="ctr">
              <a:lnSpc>
                <a:spcPct val="150000"/>
              </a:lnSpc>
            </a:pPr>
            <a:r>
              <a:rPr lang="pt-BR" sz="4500" b="1" dirty="0" smtClean="0">
                <a:solidFill>
                  <a:schemeClr val="bg1"/>
                </a:solidFill>
                <a:latin typeface="FrancophilSans" panose="02000603040000020004" pitchFamily="2" charset="0"/>
              </a:rPr>
              <a:t> y </a:t>
            </a:r>
            <a:r>
              <a:rPr lang="pt-BR" sz="4500" b="1" dirty="0" err="1" smtClean="0">
                <a:solidFill>
                  <a:schemeClr val="bg1"/>
                </a:solidFill>
                <a:latin typeface="FrancophilSans" panose="02000603040000020004" pitchFamily="2" charset="0"/>
              </a:rPr>
              <a:t>del</a:t>
            </a:r>
            <a:r>
              <a:rPr lang="pt-BR" sz="4500" b="1" dirty="0" smtClean="0">
                <a:solidFill>
                  <a:schemeClr val="bg1"/>
                </a:solidFill>
                <a:latin typeface="FrancophilSans" panose="02000603040000020004" pitchFamily="2" charset="0"/>
              </a:rPr>
              <a:t> mundo</a:t>
            </a:r>
            <a:endParaRPr lang="es-VE" sz="4500" b="1" dirty="0">
              <a:solidFill>
                <a:schemeClr val="bg1"/>
              </a:solidFill>
              <a:latin typeface="FrancophilSans" panose="02000603040000020004" pitchFamily="2" charset="0"/>
            </a:endParaRPr>
          </a:p>
        </p:txBody>
      </p:sp>
      <p:pic>
        <p:nvPicPr>
          <p:cNvPr id="6" name="Canción_Patriótica_Gloria_al_Bravo_Puebl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82400" y="62484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806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7000"/>
    </mc:Choice>
    <mc:Fallback xmlns="">
      <p:transition advClick="0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9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4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" y="1273730"/>
            <a:ext cx="11466576" cy="164505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096" y="3027086"/>
            <a:ext cx="6437376" cy="85143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13" y="3027086"/>
            <a:ext cx="4754880" cy="52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9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xit" presetSubtype="2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250"/>
                            </p:stCondLst>
                            <p:childTnLst>
                              <p:par>
                                <p:cTn id="28" presetID="52" presetClass="exit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9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.0000 0.0000 C 0.03802 0.0 0.1441 0.02341 0.1826 0.0915 C 0.22118 0.15964 0.24705 0.31256 0.2318 0.4083 C 0.21649 0.50394 0.20747 0.57948 0.0908 0.6661 C -0.02552 0.75279 -0.37517 0.88508 -0.4674 0.9289" pathEditMode="relative" ptsTypes="">
                                      <p:cBhvr>
                                        <p:cTn id="30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3" presetClass="exit" presetSubtype="54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ângulo isósceles 2"/>
          <p:cNvSpPr/>
          <p:nvPr/>
        </p:nvSpPr>
        <p:spPr>
          <a:xfrm>
            <a:off x="0" y="676656"/>
            <a:ext cx="4425696" cy="6217920"/>
          </a:xfrm>
          <a:prstGeom prst="triangle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5532678" y="452722"/>
            <a:ext cx="5720038" cy="528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se basa en los valores y principios del sistema filosófico y político conocido como</a:t>
            </a:r>
          </a:p>
          <a:p>
            <a:pPr>
              <a:lnSpc>
                <a:spcPct val="150000"/>
              </a:lnSpc>
            </a:pPr>
            <a:r>
              <a:rPr lang="es-VE" sz="4500" b="1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La República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.</a:t>
            </a:r>
            <a:endParaRPr lang="es-VE" sz="4500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4094728" cy="54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8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7000"/>
    </mc:Choice>
    <mc:Fallback xmlns="">
      <p:transition spd="slow" advClick="0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5025222" y="896391"/>
            <a:ext cx="3285743" cy="3087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b="1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Esos valores y principios son:</a:t>
            </a:r>
            <a:endParaRPr lang="es-VE" sz="4500" b="1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4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"/>
    </mc:Choice>
    <mc:Fallback xmlns=""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6329824" y="135071"/>
            <a:ext cx="3597948" cy="528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b="1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LIBERTAD, IGUALDAD, RESPETO,</a:t>
            </a:r>
          </a:p>
          <a:p>
            <a:pPr>
              <a:lnSpc>
                <a:spcPct val="150000"/>
              </a:lnSpc>
            </a:pPr>
            <a:r>
              <a:rPr lang="es-VE" sz="4500" b="1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PROPIEDAD y SEGURIDAD.</a:t>
            </a:r>
            <a:endParaRPr lang="es-VE" sz="4500" b="1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930105" y="5779008"/>
            <a:ext cx="582777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2800" b="1" dirty="0" smtClean="0">
                <a:solidFill>
                  <a:schemeClr val="bg1">
                    <a:lumMod val="50000"/>
                  </a:schemeClr>
                </a:solidFill>
                <a:latin typeface="FrancophilSans" panose="02000603040000020004" pitchFamily="2" charset="0"/>
              </a:rPr>
              <a:t>entre otros no menos importantes</a:t>
            </a:r>
            <a:endParaRPr lang="es-VE" sz="2800" b="1" dirty="0">
              <a:solidFill>
                <a:schemeClr val="bg1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2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 rot="16200000">
            <a:off x="5740401" y="-5740401"/>
            <a:ext cx="711199" cy="121920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1709834" y="2030534"/>
            <a:ext cx="8772331" cy="3208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F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ormar</a:t>
            </a: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, promover y difundir los valores y principios 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de </a:t>
            </a:r>
            <a:r>
              <a:rPr lang="es-VE" sz="4500" b="1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La </a:t>
            </a:r>
            <a:r>
              <a:rPr lang="es-VE" sz="4500" b="1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República </a:t>
            </a: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en 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la sociedad</a:t>
            </a: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,</a:t>
            </a:r>
          </a:p>
        </p:txBody>
      </p:sp>
      <p:sp>
        <p:nvSpPr>
          <p:cNvPr id="5" name="Retângulo 4"/>
          <p:cNvSpPr/>
          <p:nvPr/>
        </p:nvSpPr>
        <p:spPr>
          <a:xfrm>
            <a:off x="9624692" y="-136715"/>
            <a:ext cx="25673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5400" b="1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Misión</a:t>
            </a:r>
            <a:endParaRPr lang="es-VE" sz="5400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2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7000"/>
    </mc:Choice>
    <mc:Fallback xmlns="">
      <p:transition spd="slow" advClick="0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775781" y="402719"/>
            <a:ext cx="5991746" cy="528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con </a:t>
            </a: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la finalidad de que ésta proceda en la recuperación, la defensa y la construcción 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constante,</a:t>
            </a:r>
            <a:endParaRPr lang="es-VE" sz="4500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25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4830644" y="365393"/>
            <a:ext cx="6473953" cy="411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generación </a:t>
            </a: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tras generación, de ese sistema filosófico y político, heredado de los fundadores de la patria.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46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 rot="16200000">
            <a:off x="5740401" y="-5740401"/>
            <a:ext cx="711199" cy="121920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1600572" y="1836985"/>
            <a:ext cx="9362710" cy="3208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Que </a:t>
            </a: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el movimiento pueda alcanzar su misión y objetivos, así como su finalidad, en el tiempo mas 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adecuado, para que, </a:t>
            </a:r>
            <a:endParaRPr lang="es-VE" sz="4500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9875520" y="-106065"/>
            <a:ext cx="24627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5400" b="1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Visión</a:t>
            </a:r>
            <a:endParaRPr lang="es-VE" sz="5400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8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4761599" y="417455"/>
            <a:ext cx="6304508" cy="528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los beneficios que</a:t>
            </a:r>
          </a:p>
          <a:p>
            <a:pPr>
              <a:lnSpc>
                <a:spcPct val="150000"/>
              </a:lnSpc>
            </a:pPr>
            <a:r>
              <a:rPr lang="es-VE" sz="4500" b="1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La República 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produce, puedan ser disfrutados por las actuales y las futuras generaciones,</a:t>
            </a:r>
            <a:endParaRPr lang="es-VE" sz="4500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3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795934" y="268967"/>
            <a:ext cx="5878285" cy="528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permitiendo </a:t>
            </a: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ello, que la sociedad pueda alcanzar los mejores niveles de progreso y bienestar 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posibles,</a:t>
            </a:r>
            <a:endParaRPr lang="es-VE" sz="4500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4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795933" y="268967"/>
            <a:ext cx="5561045" cy="3208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según </a:t>
            </a: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sus propios y constantes positivos 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esfuerzos</a:t>
            </a: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,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6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738832" y="454778"/>
            <a:ext cx="6766560" cy="4119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colocando a la patria en el lugar que por derecho le corresponda y por sus méritos se merezca.</a:t>
            </a:r>
            <a:endParaRPr lang="es-VE" sz="4500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7000"/>
    </mc:Choice>
    <mc:Fallback xmlns="">
      <p:transition spd="slow" advClick="0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 rot="16200000">
            <a:off x="5740401" y="-5740401"/>
            <a:ext cx="711199" cy="121920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1581911" y="1637702"/>
            <a:ext cx="909230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Dar </a:t>
            </a: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continuidad 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al sistema filosófico y político </a:t>
            </a:r>
            <a:r>
              <a:rPr lang="es-VE" sz="4500" b="1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La República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, </a:t>
            </a: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heredado de los fundadores a costa de grandes sacrificios personales y 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colectivos,</a:t>
            </a:r>
            <a:endParaRPr lang="es-VE" sz="4500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9028176" y="-106065"/>
            <a:ext cx="31638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5400" b="1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Finalidad</a:t>
            </a:r>
            <a:endParaRPr lang="es-VE" sz="5400" b="1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760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665305" y="384055"/>
            <a:ext cx="6550089" cy="528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logrando instaurarle en 1811 con la creación de la constitución, y defenderle durante la llamada guerra de independencia.</a:t>
            </a:r>
            <a:endParaRPr lang="es-VE" sz="4500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721294" y="421525"/>
            <a:ext cx="6018618" cy="528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Consideramos que hoy día, ese sistema político y filosófico debe ser retomado y aplicado con toda su fuerza y 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vigor.</a:t>
            </a:r>
            <a:endParaRPr lang="es-VE" sz="4500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93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699272" y="435240"/>
            <a:ext cx="556440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Consideramos que la vía para lograr el fin indicado, es el 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educativo, </a:t>
            </a:r>
            <a:endParaRPr lang="es-VE" sz="4500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03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636569" y="468732"/>
            <a:ext cx="656016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y no dudamos que por esta vía educativa será como se podrán alcanzar los apoyos necesarios,</a:t>
            </a:r>
            <a:endParaRPr lang="es-VE" sz="4500" dirty="0">
              <a:solidFill>
                <a:schemeClr val="accent6">
                  <a:lumMod val="75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62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4697778" y="412749"/>
            <a:ext cx="6455664" cy="528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y dada </a:t>
            </a: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la cualidad filosófica de dicho sistema político, basamos todo el esfuerzo en </a:t>
            </a:r>
            <a:r>
              <a:rPr lang="es-VE" sz="4500" b="1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la educación </a:t>
            </a: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como </a:t>
            </a:r>
            <a:r>
              <a:rPr lang="es-VE" sz="4500" b="1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herramienta </a:t>
            </a:r>
            <a:r>
              <a:rPr lang="es-VE" sz="4500" b="1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fundamental,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6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4809744" y="412746"/>
            <a:ext cx="6784848" cy="528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con la esperanza de que la misma educación, nos permita, como sociedad, mantenernos fieles a la tradición republicana,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2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4736592" y="446067"/>
            <a:ext cx="6784848" cy="528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que fue la esencia para las acciones que llevaron adelante el proceso de fundación de Venezuela como Estado, Nación y País.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12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4849677" y="412749"/>
            <a:ext cx="6858000" cy="528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Quiera Dios Todopoderoso, que nuestros esfuerzos logren alcanzar los fines, objetivos, misión y visión 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planteados, para que la gloria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1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4872814" y="247935"/>
            <a:ext cx="6939736" cy="632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le sea dada por el ejemplo, que día a día, den las actuales y las nuevas generaciones de esta Tierra de Gracia, que para bien llamamos Venezuela,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0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4833629" y="418302"/>
            <a:ext cx="587791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y para su eterno servicio, sentamos sobre las bases y principios de</a:t>
            </a:r>
          </a:p>
          <a:p>
            <a:pPr>
              <a:lnSpc>
                <a:spcPct val="150000"/>
              </a:lnSpc>
            </a:pPr>
            <a:r>
              <a:rPr lang="es-VE" sz="4500" b="1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La República</a:t>
            </a: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,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2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4839975" y="394088"/>
            <a:ext cx="7009903" cy="528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4500" dirty="0" smtClean="0">
                <a:solidFill>
                  <a:schemeClr val="accent6">
                    <a:lumMod val="75000"/>
                  </a:schemeClr>
                </a:solidFill>
                <a:latin typeface="FrancophilSans" panose="02000603040000020004" pitchFamily="2" charset="0"/>
              </a:rPr>
              <a:t>por seguir siendo éste, el sistema filosófico y político que mas conviene ahora y convendrá siempre, a ésta, nuestra Patria Venezuela.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21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546" y="3567778"/>
            <a:ext cx="5822301" cy="2921671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2058793" y="6284178"/>
            <a:ext cx="847219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2700" b="1" dirty="0" smtClean="0">
                <a:solidFill>
                  <a:schemeClr val="bg1">
                    <a:lumMod val="50000"/>
                  </a:schemeClr>
                </a:solidFill>
                <a:latin typeface="FrancophilSans" panose="02000603040000020004" pitchFamily="2" charset="0"/>
              </a:rPr>
              <a:t>La armonía hace crecer las cosas pequeñas.</a:t>
            </a:r>
            <a:endParaRPr lang="es-VE" sz="2700" b="1" dirty="0">
              <a:solidFill>
                <a:schemeClr val="bg1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6433" y="1"/>
            <a:ext cx="1105566" cy="130573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8" r="11999"/>
          <a:stretch/>
        </p:blipFill>
        <p:spPr>
          <a:xfrm>
            <a:off x="1" y="0"/>
            <a:ext cx="1436914" cy="1305734"/>
          </a:xfrm>
          <a:prstGeom prst="rect">
            <a:avLst/>
          </a:prstGeom>
        </p:spPr>
      </p:pic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715092"/>
              </p:ext>
            </p:extLst>
          </p:nvPr>
        </p:nvGraphicFramePr>
        <p:xfrm>
          <a:off x="2058793" y="55983"/>
          <a:ext cx="8472197" cy="2892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CorelDRAW" r:id="rId6" imgW="7360075" imgH="2513406" progId="CorelDRAW.Graphic.12">
                  <p:embed/>
                </p:oleObj>
              </mc:Choice>
              <mc:Fallback>
                <p:oleObj name="CorelDRAW" r:id="rId6" imgW="7360075" imgH="2513406" progId="CorelDRAW.Graphic.12">
                  <p:embed/>
                  <p:pic>
                    <p:nvPicPr>
                      <p:cNvPr id="7" name="Objeto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58793" y="55983"/>
                        <a:ext cx="8472197" cy="28929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tângulo 7"/>
          <p:cNvSpPr/>
          <p:nvPr/>
        </p:nvSpPr>
        <p:spPr>
          <a:xfrm>
            <a:off x="2058793" y="2911973"/>
            <a:ext cx="847219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3400" b="1" dirty="0" smtClean="0">
                <a:solidFill>
                  <a:srgbClr val="31B541"/>
                </a:solidFill>
                <a:latin typeface="FrancophilSans" panose="02000603040000020004" pitchFamily="2" charset="0"/>
              </a:rPr>
              <a:t>movimientorepublicanoesperanza@gmail.com</a:t>
            </a:r>
          </a:p>
        </p:txBody>
      </p:sp>
    </p:spTree>
    <p:extLst>
      <p:ext uri="{BB962C8B-B14F-4D97-AF65-F5344CB8AC3E}">
        <p14:creationId xmlns:p14="http://schemas.microsoft.com/office/powerpoint/2010/main" val="140407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8000"/>
    </mc:Choice>
    <mc:Fallback xmlns="">
      <p:transition spd="slow" advClick="0" advTm="1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0" y="430750"/>
            <a:ext cx="121919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2700" dirty="0">
                <a:latin typeface="FrancophilSans" panose="02000603040000020004" pitchFamily="2" charset="0"/>
              </a:rPr>
              <a:t>Versión original de </a:t>
            </a:r>
            <a:r>
              <a:rPr lang="es-VE" sz="2700" dirty="0" smtClean="0">
                <a:latin typeface="FrancophilSans" panose="02000603040000020004" pitchFamily="2" charset="0"/>
              </a:rPr>
              <a:t>la canción patriótica "Gloria </a:t>
            </a:r>
            <a:r>
              <a:rPr lang="es-VE" sz="2700" dirty="0">
                <a:latin typeface="FrancophilSans" panose="02000603040000020004" pitchFamily="2" charset="0"/>
              </a:rPr>
              <a:t>al Bravo Pueblo</a:t>
            </a:r>
            <a:r>
              <a:rPr lang="es-VE" sz="2700" dirty="0" smtClean="0">
                <a:latin typeface="FrancophilSans" panose="02000603040000020004" pitchFamily="2" charset="0"/>
              </a:rPr>
              <a:t>".</a:t>
            </a:r>
          </a:p>
          <a:p>
            <a:pPr algn="ctr"/>
            <a:r>
              <a:rPr lang="es-VE" sz="2700" dirty="0" smtClean="0">
                <a:latin typeface="FrancophilSans" panose="02000603040000020004" pitchFamily="2" charset="0"/>
              </a:rPr>
              <a:t>Letra </a:t>
            </a:r>
            <a:r>
              <a:rPr lang="es-VE" sz="2700" dirty="0">
                <a:latin typeface="FrancophilSans" panose="02000603040000020004" pitchFamily="2" charset="0"/>
              </a:rPr>
              <a:t>de Andrés Bello </a:t>
            </a:r>
            <a:r>
              <a:rPr lang="es-VE" sz="2700" dirty="0" smtClean="0">
                <a:latin typeface="FrancophilSans" panose="02000603040000020004" pitchFamily="2" charset="0"/>
              </a:rPr>
              <a:t>y música </a:t>
            </a:r>
            <a:r>
              <a:rPr lang="es-VE" sz="2700" dirty="0">
                <a:latin typeface="FrancophilSans" panose="02000603040000020004" pitchFamily="2" charset="0"/>
              </a:rPr>
              <a:t>de Lino </a:t>
            </a:r>
            <a:r>
              <a:rPr lang="es-VE" sz="2700" dirty="0" smtClean="0">
                <a:latin typeface="FrancophilSans" panose="02000603040000020004" pitchFamily="2" charset="0"/>
              </a:rPr>
              <a:t>Gallardo.</a:t>
            </a:r>
          </a:p>
          <a:p>
            <a:pPr algn="ctr"/>
            <a:r>
              <a:rPr lang="es-VE" sz="2700" dirty="0" smtClean="0">
                <a:latin typeface="FrancophilSans" panose="02000603040000020004" pitchFamily="2" charset="0"/>
              </a:rPr>
              <a:t>Interpreta: El </a:t>
            </a:r>
            <a:r>
              <a:rPr lang="es-VE" sz="2700" dirty="0">
                <a:latin typeface="FrancophilSans" panose="02000603040000020004" pitchFamily="2" charset="0"/>
              </a:rPr>
              <a:t>Taller de los Juglares (1997</a:t>
            </a:r>
            <a:r>
              <a:rPr lang="es-VE" sz="2700" dirty="0" smtClean="0">
                <a:latin typeface="FrancophilSans" panose="02000603040000020004" pitchFamily="2" charset="0"/>
              </a:rPr>
              <a:t>).</a:t>
            </a:r>
          </a:p>
          <a:p>
            <a:pPr algn="ctr"/>
            <a:r>
              <a:rPr lang="es-VE" sz="2700" dirty="0">
                <a:latin typeface="FrancophilSans" panose="02000603040000020004" pitchFamily="2" charset="0"/>
              </a:rPr>
              <a:t>https://youtu.be/6ekhXDk44D4</a:t>
            </a:r>
          </a:p>
        </p:txBody>
      </p:sp>
      <p:pic>
        <p:nvPicPr>
          <p:cNvPr id="4108" name="Picture 12" descr="https://www.correodelcaroni.com/images/Imagenes/Fotos2020/Mayo2020/dia010520/A-BELLO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9" r="14834"/>
          <a:stretch/>
        </p:blipFill>
        <p:spPr bwMode="auto">
          <a:xfrm>
            <a:off x="2359600" y="2536595"/>
            <a:ext cx="3396342" cy="282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Lino Gallardo - Wikipedia, la enciclopedia lib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887" y="2536594"/>
            <a:ext cx="2649781" cy="2822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2351314" y="5359095"/>
            <a:ext cx="34046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2400" b="1" dirty="0">
                <a:latin typeface="FrancophilSans" panose="02000603040000020004" pitchFamily="2" charset="0"/>
              </a:rPr>
              <a:t>Andrés de Jesús María y </a:t>
            </a:r>
            <a:r>
              <a:rPr lang="es-VE" sz="2400" b="1" dirty="0" smtClean="0">
                <a:latin typeface="FrancophilSans" panose="02000603040000020004" pitchFamily="2" charset="0"/>
              </a:rPr>
              <a:t>José Bello López</a:t>
            </a:r>
          </a:p>
          <a:p>
            <a:pPr algn="ctr"/>
            <a:r>
              <a:rPr lang="es-VE" sz="2400" b="1" dirty="0" smtClean="0">
                <a:latin typeface="FrancophilSans" panose="02000603040000020004" pitchFamily="2" charset="0"/>
              </a:rPr>
              <a:t>(Andrés Bello)</a:t>
            </a:r>
            <a:endParaRPr lang="es-VE" sz="2400" b="1" dirty="0">
              <a:latin typeface="FrancophilSans" panose="02000603040000020004" pitchFamily="2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7246887" y="5359093"/>
            <a:ext cx="2649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2400" b="1" dirty="0" smtClean="0">
                <a:latin typeface="FrancophilSans" panose="02000603040000020004" pitchFamily="2" charset="0"/>
              </a:rPr>
              <a:t>Lino Gallardo</a:t>
            </a:r>
            <a:endParaRPr lang="es-VE" sz="2400" b="1" dirty="0">
              <a:latin typeface="FrancophilSans" panose="020006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156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8000"/>
    </mc:Choice>
    <mc:Fallback>
      <p:transition spd="slow" advClick="0" advTm="1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2211</TotalTime>
  <Words>514</Words>
  <Application>Microsoft Office PowerPoint</Application>
  <PresentationFormat>Widescreen</PresentationFormat>
  <Paragraphs>46</Paragraphs>
  <Slides>28</Slides>
  <Notes>0</Notes>
  <HiddenSlides>0</HiddenSlides>
  <MMClips>1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FrancophilSans</vt:lpstr>
      <vt:lpstr>Tema do Office</vt:lpstr>
      <vt:lpstr>CorelDRAW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Usuário do Windows</dc:creator>
  <cp:lastModifiedBy>Usuário do Windows</cp:lastModifiedBy>
  <cp:revision>111</cp:revision>
  <dcterms:created xsi:type="dcterms:W3CDTF">2020-05-30T20:32:45Z</dcterms:created>
  <dcterms:modified xsi:type="dcterms:W3CDTF">2020-06-08T14:59:39Z</dcterms:modified>
</cp:coreProperties>
</file>