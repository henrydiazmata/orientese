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264" r:id="rId3"/>
    <p:sldId id="318" r:id="rId4"/>
    <p:sldId id="316" r:id="rId5"/>
    <p:sldId id="319" r:id="rId6"/>
    <p:sldId id="329" r:id="rId7"/>
    <p:sldId id="267" r:id="rId8"/>
    <p:sldId id="269" r:id="rId9"/>
    <p:sldId id="268" r:id="rId10"/>
    <p:sldId id="261" r:id="rId11"/>
    <p:sldId id="278" r:id="rId12"/>
    <p:sldId id="279" r:id="rId13"/>
    <p:sldId id="281" r:id="rId14"/>
    <p:sldId id="277" r:id="rId15"/>
    <p:sldId id="282" r:id="rId16"/>
    <p:sldId id="325" r:id="rId17"/>
    <p:sldId id="284" r:id="rId18"/>
    <p:sldId id="276" r:id="rId19"/>
    <p:sldId id="258" r:id="rId20"/>
    <p:sldId id="285" r:id="rId21"/>
    <p:sldId id="286" r:id="rId22"/>
    <p:sldId id="330" r:id="rId23"/>
    <p:sldId id="290" r:id="rId24"/>
    <p:sldId id="331" r:id="rId25"/>
    <p:sldId id="291" r:id="rId26"/>
    <p:sldId id="292" r:id="rId27"/>
    <p:sldId id="327" r:id="rId28"/>
    <p:sldId id="326" r:id="rId29"/>
    <p:sldId id="287" r:id="rId30"/>
    <p:sldId id="297" r:id="rId31"/>
    <p:sldId id="295" r:id="rId32"/>
    <p:sldId id="294" r:id="rId33"/>
    <p:sldId id="328" r:id="rId34"/>
    <p:sldId id="298" r:id="rId35"/>
    <p:sldId id="296" r:id="rId36"/>
    <p:sldId id="300" r:id="rId37"/>
    <p:sldId id="299" r:id="rId38"/>
    <p:sldId id="303" r:id="rId39"/>
    <p:sldId id="259" r:id="rId40"/>
    <p:sldId id="304" r:id="rId41"/>
    <p:sldId id="301" r:id="rId42"/>
    <p:sldId id="315" r:id="rId43"/>
    <p:sldId id="321" r:id="rId44"/>
    <p:sldId id="322" r:id="rId45"/>
    <p:sldId id="302" r:id="rId46"/>
    <p:sldId id="257" r:id="rId47"/>
    <p:sldId id="288" r:id="rId48"/>
    <p:sldId id="306" r:id="rId49"/>
    <p:sldId id="307" r:id="rId50"/>
    <p:sldId id="309" r:id="rId51"/>
    <p:sldId id="310" r:id="rId52"/>
    <p:sldId id="311" r:id="rId53"/>
    <p:sldId id="312" r:id="rId54"/>
    <p:sldId id="313" r:id="rId55"/>
    <p:sldId id="320" r:id="rId56"/>
    <p:sldId id="308" r:id="rId57"/>
    <p:sldId id="305" r:id="rId58"/>
    <p:sldId id="265" r:id="rId59"/>
    <p:sldId id="324" r:id="rId60"/>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7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128"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9FFC71-4CF6-4FBC-A0D2-79E6943A62BB}" type="datetimeFigureOut">
              <a:rPr lang="pt-BR" smtClean="0"/>
              <a:pPr/>
              <a:t>02/02/2023</a:t>
            </a:fld>
            <a:endParaRPr lang="pt-B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2F8EA-7492-4959-B613-4E4644DDC1B4}"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pt-BR" dirty="0"/>
          </a:p>
        </p:txBody>
      </p:sp>
      <p:sp>
        <p:nvSpPr>
          <p:cNvPr id="4" name="3 Marcador de número de diapositiva"/>
          <p:cNvSpPr>
            <a:spLocks noGrp="1"/>
          </p:cNvSpPr>
          <p:nvPr>
            <p:ph type="sldNum" sz="quarter" idx="10"/>
          </p:nvPr>
        </p:nvSpPr>
        <p:spPr/>
        <p:txBody>
          <a:bodyPr/>
          <a:lstStyle/>
          <a:p>
            <a:fld id="{B042F8EA-7492-4959-B613-4E4644DDC1B4}" type="slidenum">
              <a:rPr lang="pt-BR" smtClean="0"/>
              <a:pPr/>
              <a:t>1</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719A56-725C-404F-8F4A-D088CDB42FF4}" type="datetimeFigureOut">
              <a:rPr lang="pt-BR" smtClean="0"/>
              <a:pPr/>
              <a:t>02/02/2023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71F0A2-0D57-4026-9174-822EA1BAEC0C}"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2.gif"/><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gif"/><Relationship Id="rId5" Type="http://schemas.openxmlformats.org/officeDocument/2006/relationships/image" Target="../media/image19.jpe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2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3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3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2.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3.jpeg"/><Relationship Id="rId1" Type="http://schemas.openxmlformats.org/officeDocument/2006/relationships/slideLayout" Target="../slideLayouts/slideLayout1.xml"/><Relationship Id="rId4" Type="http://schemas.openxmlformats.org/officeDocument/2006/relationships/image" Target="../media/image2.gif"/></Relationships>
</file>

<file path=ppt/slides/_rels/slide4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4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57.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A01 MIS TRABAJOS\Masoneria\imagenes masoneria\mozarthi.jpg"/>
          <p:cNvPicPr>
            <a:picLocks noChangeAspect="1" noChangeArrowheads="1"/>
          </p:cNvPicPr>
          <p:nvPr/>
        </p:nvPicPr>
        <p:blipFill>
          <a:blip r:embed="rId3"/>
          <a:srcRect t="6579" r="640" b="3207"/>
          <a:stretch>
            <a:fillRect/>
          </a:stretch>
        </p:blipFill>
        <p:spPr bwMode="auto">
          <a:xfrm>
            <a:off x="0" y="0"/>
            <a:ext cx="9429816" cy="6858000"/>
          </a:xfrm>
          <a:prstGeom prst="rect">
            <a:avLst/>
          </a:prstGeom>
          <a:noFill/>
        </p:spPr>
      </p:pic>
      <p:sp>
        <p:nvSpPr>
          <p:cNvPr id="15" name="14 CuadroTexto"/>
          <p:cNvSpPr txBox="1"/>
          <p:nvPr/>
        </p:nvSpPr>
        <p:spPr>
          <a:xfrm>
            <a:off x="4071934" y="214290"/>
            <a:ext cx="5072066" cy="3323987"/>
          </a:xfrm>
          <a:prstGeom prst="rect">
            <a:avLst/>
          </a:prstGeom>
          <a:noFill/>
          <a:ln>
            <a:noFill/>
          </a:ln>
        </p:spPr>
        <p:txBody>
          <a:bodyPr wrap="square" rtlCol="0">
            <a:spAutoFit/>
          </a:bodyPr>
          <a:lstStyle/>
          <a:p>
            <a:pPr algn="r">
              <a:lnSpc>
                <a:spcPct val="150000"/>
              </a:lnSpc>
            </a:pPr>
            <a:r>
              <a:rPr lang="pt-BR" sz="2800" dirty="0" smtClean="0">
                <a:ln w="18415" cmpd="sng">
                  <a:noFill/>
                  <a:prstDash val="solid"/>
                </a:ln>
                <a:solidFill>
                  <a:schemeClr val="bg1"/>
                </a:solidFill>
                <a:effectLst>
                  <a:outerShdw blurRad="38100" dist="38100" dir="2700000" algn="tl">
                    <a:srgbClr val="000000">
                      <a:alpha val="43137"/>
                    </a:srgbClr>
                  </a:outerShdw>
                </a:effectLst>
                <a:latin typeface="FrancophilSans" pitchFamily="2" charset="0"/>
              </a:rPr>
              <a:t>A maçonaria se define como uma associação filosófica e filantrópica, que tem por objeto a busca da verdade, a pratica da solidariedade, etc.</a:t>
            </a:r>
          </a:p>
        </p:txBody>
      </p:sp>
      <p:pic>
        <p:nvPicPr>
          <p:cNvPr id="5" name="4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500166" y="4100177"/>
            <a:ext cx="6215106" cy="2400657"/>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a:t>
            </a:r>
          </a:p>
        </p:txBody>
      </p:sp>
      <p:pic>
        <p:nvPicPr>
          <p:cNvPr id="16" name="Picture 8" descr="Masonería (parte IV): Orígenes"/>
          <p:cNvPicPr>
            <a:picLocks noChangeAspect="1" noChangeArrowheads="1"/>
          </p:cNvPicPr>
          <p:nvPr/>
        </p:nvPicPr>
        <p:blipFill>
          <a:blip r:embed="rId2"/>
          <a:srcRect/>
          <a:stretch>
            <a:fillRect/>
          </a:stretch>
        </p:blipFill>
        <p:spPr bwMode="auto">
          <a:xfrm>
            <a:off x="2500298" y="1311307"/>
            <a:ext cx="4143404" cy="24034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000100" y="5474230"/>
            <a:ext cx="7143800" cy="669414"/>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FILOSOFIA</a:t>
            </a:r>
          </a:p>
        </p:txBody>
      </p:sp>
      <p:pic>
        <p:nvPicPr>
          <p:cNvPr id="7" name="Picture 2" descr="Na pintura de Rafael Sanzio, Platão e Aristóteles aparecem no centro da imagem. Platão, com o dedo apontado para o alto, refere-se ao mundo das ideias, e Aristóteles, à sua direita, refere-se à matéria e à forma."/>
          <p:cNvPicPr>
            <a:picLocks noChangeAspect="1" noChangeArrowheads="1"/>
          </p:cNvPicPr>
          <p:nvPr/>
        </p:nvPicPr>
        <p:blipFill>
          <a:blip r:embed="rId4"/>
          <a:srcRect/>
          <a:stretch>
            <a:fillRect/>
          </a:stretch>
        </p:blipFill>
        <p:spPr bwMode="auto">
          <a:xfrm>
            <a:off x="1571604" y="1214422"/>
            <a:ext cx="6174955" cy="4071966"/>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428596" y="2357430"/>
            <a:ext cx="8286808"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 palavra FILOSOFIA vem dos termos gregos “</a:t>
            </a:r>
            <a:r>
              <a:rPr lang="pt-BR" sz="2800" dirty="0" err="1" smtClean="0">
                <a:effectLst>
                  <a:outerShdw blurRad="38100" dist="38100" dir="2700000" algn="tl">
                    <a:srgbClr val="000000">
                      <a:alpha val="43137"/>
                    </a:srgbClr>
                  </a:outerShdw>
                </a:effectLst>
                <a:latin typeface="FrancophilSans" pitchFamily="2" charset="0"/>
              </a:rPr>
              <a:t>phileo</a:t>
            </a:r>
            <a:r>
              <a:rPr lang="pt-BR" sz="2800" dirty="0" smtClean="0">
                <a:effectLst>
                  <a:outerShdw blurRad="38100" dist="38100" dir="2700000" algn="tl">
                    <a:srgbClr val="000000">
                      <a:alpha val="43137"/>
                    </a:srgbClr>
                  </a:outerShdw>
                </a:effectLst>
                <a:latin typeface="FrancophilSans" pitchFamily="2" charset="0"/>
              </a:rPr>
              <a:t>” e “</a:t>
            </a:r>
            <a:r>
              <a:rPr lang="pt-BR" sz="2800" dirty="0" err="1" smtClean="0">
                <a:effectLst>
                  <a:outerShdw blurRad="38100" dist="38100" dir="2700000" algn="tl">
                    <a:srgbClr val="000000">
                      <a:alpha val="43137"/>
                    </a:srgbClr>
                  </a:outerShdw>
                </a:effectLst>
                <a:latin typeface="FrancophilSans" pitchFamily="2" charset="0"/>
              </a:rPr>
              <a:t>sophia</a:t>
            </a:r>
            <a:r>
              <a:rPr lang="pt-BR" sz="2800" dirty="0" smtClean="0">
                <a:effectLst>
                  <a:outerShdw blurRad="38100" dist="38100" dir="2700000" algn="tl">
                    <a:srgbClr val="000000">
                      <a:alpha val="43137"/>
                    </a:srgbClr>
                  </a:outerShdw>
                </a:effectLst>
                <a:latin typeface="FrancophilSans" pitchFamily="2" charset="0"/>
              </a:rPr>
              <a:t>” e pode ser traduzida como “amor à sabedoria”.</a:t>
            </a:r>
          </a:p>
          <a:p>
            <a:pPr algn="ctr">
              <a:lnSpc>
                <a:spcPts val="4500"/>
              </a:lnSpc>
            </a:pPr>
            <a:endParaRPr lang="pt-BR" sz="2800" dirty="0" smtClean="0">
              <a:effectLst>
                <a:outerShdw blurRad="38100" dist="38100" dir="2700000" algn="tl">
                  <a:srgbClr val="000000">
                    <a:alpha val="43137"/>
                  </a:srgbClr>
                </a:outerShdw>
              </a:effectLst>
              <a:latin typeface="FrancophilSans" pitchFamily="2" charset="0"/>
            </a:endParaRPr>
          </a:p>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Nesse sentido, a filosofia difere do conhecimento porque busca a verdade, independentemente da natureza útil dessa “verdade”.</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
        <p:nvSpPr>
          <p:cNvPr id="5" name="4 Rectángulo"/>
          <p:cNvSpPr/>
          <p:nvPr/>
        </p:nvSpPr>
        <p:spPr>
          <a:xfrm>
            <a:off x="1071538" y="3143248"/>
            <a:ext cx="6858048" cy="2355645"/>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etimologia da palavra filantropia vem das expressões gregas </a:t>
            </a:r>
            <a:r>
              <a:rPr lang="pt-BR" sz="2400" dirty="0" err="1" smtClean="0">
                <a:effectLst>
                  <a:outerShdw blurRad="38100" dist="38100" dir="2700000" algn="tl">
                    <a:srgbClr val="000000">
                      <a:alpha val="43137"/>
                    </a:srgbClr>
                  </a:outerShdw>
                </a:effectLst>
                <a:latin typeface="FrancophilSans" pitchFamily="2" charset="0"/>
              </a:rPr>
              <a:t>philos</a:t>
            </a:r>
            <a:r>
              <a:rPr lang="pt-BR" sz="2400" dirty="0" smtClean="0">
                <a:effectLst>
                  <a:outerShdw blurRad="38100" dist="38100" dir="2700000" algn="tl">
                    <a:srgbClr val="000000">
                      <a:alpha val="43137"/>
                    </a:srgbClr>
                  </a:outerShdw>
                </a:effectLst>
                <a:latin typeface="FrancophilSans" pitchFamily="2" charset="0"/>
              </a:rPr>
              <a:t> e </a:t>
            </a:r>
            <a:r>
              <a:rPr lang="pt-BR" sz="2400" dirty="0" err="1" smtClean="0">
                <a:effectLst>
                  <a:outerShdw blurRad="38100" dist="38100" dir="2700000" algn="tl">
                    <a:srgbClr val="000000">
                      <a:alpha val="43137"/>
                    </a:srgbClr>
                  </a:outerShdw>
                </a:effectLst>
                <a:latin typeface="FrancophilSans" pitchFamily="2" charset="0"/>
              </a:rPr>
              <a:t>anthropos</a:t>
            </a:r>
            <a:r>
              <a:rPr lang="pt-BR" sz="2400" dirty="0" smtClean="0">
                <a:effectLst>
                  <a:outerShdw blurRad="38100" dist="38100" dir="2700000" algn="tl">
                    <a:srgbClr val="000000">
                      <a:alpha val="43137"/>
                    </a:srgbClr>
                  </a:outerShdw>
                </a:effectLst>
                <a:latin typeface="FrancophilSans" pitchFamily="2" charset="0"/>
              </a:rPr>
              <a:t> que conjugadas, traduzem-se livremente como "amor" e "ser humano". Logo, cabe a interpretação de que a palavra filantropia significaria amor ao ser humano, ou à humanidade</a:t>
            </a:r>
            <a:r>
              <a:rPr lang="pt-BR" sz="2400" dirty="0" smtClean="0">
                <a:effectLst>
                  <a:outerShdw blurRad="38100" dist="38100" dir="2700000" algn="tl">
                    <a:srgbClr val="000000">
                      <a:alpha val="43137"/>
                    </a:srgbClr>
                  </a:outerShdw>
                </a:effectLst>
                <a:latin typeface="FrancophilSans" pitchFamily="2" charset="0"/>
              </a:rPr>
              <a:t>.</a:t>
            </a:r>
            <a:endParaRPr lang="pt-BR" sz="2400" dirty="0" smtClean="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Rectángulo"/>
          <p:cNvSpPr/>
          <p:nvPr/>
        </p:nvSpPr>
        <p:spPr>
          <a:xfrm>
            <a:off x="357158" y="6286520"/>
            <a:ext cx="8572560" cy="338554"/>
          </a:xfrm>
          <a:prstGeom prst="rect">
            <a:avLst/>
          </a:prstGeom>
        </p:spPr>
        <p:txBody>
          <a:bodyPr wrap="square">
            <a:spAutoFit/>
          </a:bodyPr>
          <a:lstStyle/>
          <a:p>
            <a:pPr algn="ctr"/>
            <a:r>
              <a:rPr lang="pt-BR" sz="1600" b="1" dirty="0" smtClean="0">
                <a:solidFill>
                  <a:schemeClr val="accent1">
                    <a:lumMod val="75000"/>
                  </a:schemeClr>
                </a:solidFill>
                <a:latin typeface="FrancophilSans" pitchFamily="2" charset="0"/>
              </a:rPr>
              <a:t>https://www.migalhas.com.br/depeso/230642/filantropia--breve-historico-e-analise-comparativa</a:t>
            </a:r>
            <a:endParaRPr lang="pt-BR" sz="1600" b="1" dirty="0">
              <a:solidFill>
                <a:schemeClr val="accent1">
                  <a:lumMod val="75000"/>
                </a:schemeClr>
              </a:solidFill>
              <a:latin typeface="FrancophilSans" pitchFamily="2"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1071538" y="2885731"/>
            <a:ext cx="7000924" cy="2400657"/>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a:t>
            </a:r>
            <a:r>
              <a:rPr lang="pt-BR" sz="2400" dirty="0" smtClean="0">
                <a:effectLst>
                  <a:outerShdw blurRad="38100" dist="38100" dir="2700000" algn="tl">
                    <a:srgbClr val="000000">
                      <a:alpha val="43137"/>
                    </a:srgbClr>
                  </a:outerShdw>
                </a:effectLst>
                <a:latin typeface="FrancophilSans" pitchFamily="2" charset="0"/>
              </a:rPr>
              <a:t>expressão carrega em sua origem a intenção do ato característico ao ser humano de, individual ou coletivamente ajudar ao próximo sem esperar retribuição por seu ato ou, como a sabedoria popular consagrou: "fazer o bem sem olhar a quem“.</a:t>
            </a:r>
          </a:p>
        </p:txBody>
      </p:sp>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Rectángulo"/>
          <p:cNvSpPr/>
          <p:nvPr/>
        </p:nvSpPr>
        <p:spPr>
          <a:xfrm>
            <a:off x="357158" y="6286520"/>
            <a:ext cx="8572560" cy="338554"/>
          </a:xfrm>
          <a:prstGeom prst="rect">
            <a:avLst/>
          </a:prstGeom>
        </p:spPr>
        <p:txBody>
          <a:bodyPr wrap="square">
            <a:spAutoFit/>
          </a:bodyPr>
          <a:lstStyle/>
          <a:p>
            <a:pPr algn="ctr"/>
            <a:r>
              <a:rPr lang="pt-BR" sz="1600" b="1" dirty="0" smtClean="0">
                <a:solidFill>
                  <a:schemeClr val="accent1">
                    <a:lumMod val="75000"/>
                  </a:schemeClr>
                </a:solidFill>
                <a:latin typeface="FrancophilSans" pitchFamily="2" charset="0"/>
              </a:rPr>
              <a:t>https://www.migalhas.com.br/depeso/230642/filantropia--breve-historico-e-analise-comparativa</a:t>
            </a:r>
            <a:endParaRPr lang="pt-BR" sz="1600" b="1" dirty="0">
              <a:solidFill>
                <a:schemeClr val="accent1">
                  <a:lumMod val="75000"/>
                </a:schemeClr>
              </a:solidFill>
              <a:latin typeface="FrancophilSans" pitchFamily="2" charset="0"/>
            </a:endParaRPr>
          </a:p>
        </p:txBody>
      </p:sp>
      <p:sp>
        <p:nvSpPr>
          <p:cNvPr id="10" name="9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2066" name="Picture 18" descr="A pratica da filantropia é uma das mais... Dhener - Pensador"/>
          <p:cNvPicPr>
            <a:picLocks noChangeAspect="1" noChangeArrowheads="1"/>
          </p:cNvPicPr>
          <p:nvPr/>
        </p:nvPicPr>
        <p:blipFill>
          <a:blip r:embed="rId3"/>
          <a:srcRect/>
          <a:stretch>
            <a:fillRect/>
          </a:stretch>
        </p:blipFill>
        <p:spPr bwMode="auto">
          <a:xfrm>
            <a:off x="3214678" y="1142984"/>
            <a:ext cx="5377438" cy="2813512"/>
          </a:xfrm>
          <a:prstGeom prst="rect">
            <a:avLst/>
          </a:prstGeom>
          <a:noFill/>
        </p:spPr>
      </p:pic>
      <p:pic>
        <p:nvPicPr>
          <p:cNvPr id="2068" name="Picture 20" descr="Não há outra forma de filantropia se... Bruno Ribeiro - Pensador"/>
          <p:cNvPicPr>
            <a:picLocks noChangeAspect="1" noChangeArrowheads="1"/>
          </p:cNvPicPr>
          <p:nvPr/>
        </p:nvPicPr>
        <p:blipFill>
          <a:blip r:embed="rId4"/>
          <a:srcRect/>
          <a:stretch>
            <a:fillRect/>
          </a:stretch>
        </p:blipFill>
        <p:spPr bwMode="auto">
          <a:xfrm>
            <a:off x="500035" y="4093700"/>
            <a:ext cx="4873808" cy="2550009"/>
          </a:xfrm>
          <a:prstGeom prst="rect">
            <a:avLst/>
          </a:prstGeom>
          <a:noFill/>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80" name="Picture 32" descr="John D Rockefeller: A melhor filantropia é procurar a causa e procurar ..."/>
          <p:cNvPicPr>
            <a:picLocks noChangeAspect="1" noChangeArrowheads="1"/>
          </p:cNvPicPr>
          <p:nvPr/>
        </p:nvPicPr>
        <p:blipFill>
          <a:blip r:embed="rId2"/>
          <a:srcRect t="13522"/>
          <a:stretch>
            <a:fillRect/>
          </a:stretch>
        </p:blipFill>
        <p:spPr bwMode="auto">
          <a:xfrm>
            <a:off x="2357422" y="1571612"/>
            <a:ext cx="4405776" cy="4572032"/>
          </a:xfrm>
          <a:prstGeom prst="rect">
            <a:avLst/>
          </a:prstGeom>
          <a:noFill/>
        </p:spPr>
      </p:pic>
      <p:pic>
        <p:nvPicPr>
          <p:cNvPr id="5"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2" name="Picture 24" descr="No Brasil não existe filantropia, o que... Betinho - Pensador"/>
          <p:cNvPicPr>
            <a:picLocks noChangeAspect="1" noChangeArrowheads="1"/>
          </p:cNvPicPr>
          <p:nvPr/>
        </p:nvPicPr>
        <p:blipFill>
          <a:blip r:embed="rId2"/>
          <a:srcRect/>
          <a:stretch>
            <a:fillRect/>
          </a:stretch>
        </p:blipFill>
        <p:spPr bwMode="auto">
          <a:xfrm>
            <a:off x="785786" y="1857364"/>
            <a:ext cx="7373096" cy="385765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5"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sp>
        <p:nvSpPr>
          <p:cNvPr id="15" name="14 CuadroTexto"/>
          <p:cNvSpPr txBox="1"/>
          <p:nvPr/>
        </p:nvSpPr>
        <p:spPr>
          <a:xfrm>
            <a:off x="285720" y="1285860"/>
            <a:ext cx="8501122" cy="1938992"/>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situação da maçonaria no mundo, especialmente no Brasil, está gerando uma serie de efeitos negativos em seus membros, que passam por perda de interesse, de rompimento do membro com a associação, de erradas mudanças nas condutas dos membros, das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assim como das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a:t>
            </a:r>
          </a:p>
        </p:txBody>
      </p:sp>
      <p:pic>
        <p:nvPicPr>
          <p:cNvPr id="14" name="Picture 9" descr="United States Masonic Membership since 1924"/>
          <p:cNvPicPr>
            <a:picLocks noChangeAspect="1" noChangeArrowheads="1"/>
          </p:cNvPicPr>
          <p:nvPr/>
        </p:nvPicPr>
        <p:blipFill>
          <a:blip r:embed="rId3"/>
          <a:srcRect r="22639" b="4020"/>
          <a:stretch>
            <a:fillRect/>
          </a:stretch>
        </p:blipFill>
        <p:spPr bwMode="auto">
          <a:xfrm>
            <a:off x="642910" y="3304775"/>
            <a:ext cx="7805671" cy="3410373"/>
          </a:xfrm>
          <a:prstGeom prst="rect">
            <a:avLst/>
          </a:prstGeom>
          <a:noFill/>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sp>
        <p:nvSpPr>
          <p:cNvPr id="15" name="14 CuadroTexto"/>
          <p:cNvSpPr txBox="1"/>
          <p:nvPr/>
        </p:nvSpPr>
        <p:spPr>
          <a:xfrm>
            <a:off x="285720" y="1502150"/>
            <a:ext cx="8572560"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falta de instrução, ou pior, de instruções erradas, o mal exemplo, a situação econômica  que afeita a muitos membros, enfim, todo isto gera conseqüências que produzem efeitos pouco ou nada favoráveis aos membros.</a:t>
            </a:r>
          </a:p>
        </p:txBody>
      </p:sp>
      <p:pic>
        <p:nvPicPr>
          <p:cNvPr id="16400" name="Picture 16" descr="http://bessel.org/massta20.gif"/>
          <p:cNvPicPr>
            <a:picLocks noChangeAspect="1" noChangeArrowheads="1"/>
          </p:cNvPicPr>
          <p:nvPr/>
        </p:nvPicPr>
        <p:blipFill>
          <a:blip r:embed="rId3"/>
          <a:srcRect b="10964"/>
          <a:stretch>
            <a:fillRect/>
          </a:stretch>
        </p:blipFill>
        <p:spPr bwMode="auto">
          <a:xfrm>
            <a:off x="1357290" y="3214686"/>
            <a:ext cx="6077858" cy="3435227"/>
          </a:xfrm>
          <a:prstGeom prst="rect">
            <a:avLst/>
          </a:prstGeom>
          <a:noFill/>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sp>
        <p:nvSpPr>
          <p:cNvPr id="15" name="14 CuadroTexto"/>
          <p:cNvSpPr txBox="1"/>
          <p:nvPr/>
        </p:nvSpPr>
        <p:spPr>
          <a:xfrm>
            <a:off x="285720" y="1428736"/>
            <a:ext cx="8572560" cy="1938992"/>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situação da maçonaria no mundo, especialmente no Brasil, está gerando uma serie de efeitos negativos em seus membros, que passam por perda de interesse, de rompimento do membro com a associação, de erradas mudanças nas condutas dos membros, das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assim como das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a:t>
            </a:r>
          </a:p>
        </p:txBody>
      </p:sp>
      <p:pic>
        <p:nvPicPr>
          <p:cNvPr id="10" name="Picture 10" descr="No hay ninguna descripción de la foto disponible."/>
          <p:cNvPicPr>
            <a:picLocks noChangeAspect="1" noChangeArrowheads="1"/>
          </p:cNvPicPr>
          <p:nvPr/>
        </p:nvPicPr>
        <p:blipFill>
          <a:blip r:embed="rId3"/>
          <a:srcRect l="19929" t="23982" r="18169" b="12460"/>
          <a:stretch>
            <a:fillRect/>
          </a:stretch>
        </p:blipFill>
        <p:spPr bwMode="auto">
          <a:xfrm>
            <a:off x="3223044" y="3500438"/>
            <a:ext cx="5635236" cy="3253030"/>
          </a:xfrm>
          <a:prstGeom prst="rect">
            <a:avLst/>
          </a:prstGeom>
          <a:noFill/>
        </p:spPr>
      </p:pic>
      <p:pic>
        <p:nvPicPr>
          <p:cNvPr id="11" name="Picture 10" descr="No hay ninguna descripción de la foto disponible."/>
          <p:cNvPicPr>
            <a:picLocks noChangeAspect="1" noChangeArrowheads="1"/>
          </p:cNvPicPr>
          <p:nvPr/>
        </p:nvPicPr>
        <p:blipFill>
          <a:blip r:embed="rId3"/>
          <a:srcRect l="29934" t="2542" r="26470" b="87288"/>
          <a:stretch>
            <a:fillRect/>
          </a:stretch>
        </p:blipFill>
        <p:spPr bwMode="auto">
          <a:xfrm>
            <a:off x="222648" y="6253402"/>
            <a:ext cx="3286148" cy="430970"/>
          </a:xfrm>
          <a:prstGeom prst="rect">
            <a:avLst/>
          </a:prstGeom>
          <a:noFill/>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sp>
        <p:nvSpPr>
          <p:cNvPr id="15" name="14 CuadroTexto"/>
          <p:cNvSpPr txBox="1"/>
          <p:nvPr/>
        </p:nvSpPr>
        <p:spPr>
          <a:xfrm>
            <a:off x="142844" y="1357298"/>
            <a:ext cx="8786874" cy="1938992"/>
          </a:xfrm>
          <a:custGeom>
            <a:avLst/>
            <a:gdLst>
              <a:gd name="connsiteX0" fmla="*/ 0 w 2500330"/>
              <a:gd name="connsiteY0" fmla="*/ 0 h 5324535"/>
              <a:gd name="connsiteX1" fmla="*/ 2500330 w 2500330"/>
              <a:gd name="connsiteY1" fmla="*/ 0 h 5324535"/>
              <a:gd name="connsiteX2" fmla="*/ 2500330 w 2500330"/>
              <a:gd name="connsiteY2" fmla="*/ 5324535 h 5324535"/>
              <a:gd name="connsiteX3" fmla="*/ 0 w 2500330"/>
              <a:gd name="connsiteY3" fmla="*/ 5324535 h 5324535"/>
              <a:gd name="connsiteX4" fmla="*/ 0 w 2500330"/>
              <a:gd name="connsiteY4" fmla="*/ 0 h 532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330" h="5324535">
                <a:moveTo>
                  <a:pt x="0" y="0"/>
                </a:moveTo>
                <a:lnTo>
                  <a:pt x="2500330" y="0"/>
                </a:lnTo>
                <a:lnTo>
                  <a:pt x="2500330" y="5324535"/>
                </a:lnTo>
                <a:lnTo>
                  <a:pt x="0" y="5324535"/>
                </a:lnTo>
                <a:lnTo>
                  <a:pt x="0" y="0"/>
                </a:lnTo>
                <a:close/>
              </a:path>
            </a:pathLst>
          </a:cu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As medidas que estão sendo feitas por alguns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estão mais dirigidas a aumentar as iniciações, os pagamentos e aprofundar sanções, o que está produzindo uma relativa solução ao assunto, especialmente nas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GGLL, mas não nos membros afetados pela situação em geral.</a:t>
            </a:r>
          </a:p>
        </p:txBody>
      </p:sp>
      <p:pic>
        <p:nvPicPr>
          <p:cNvPr id="31746" name="Picture 2"/>
          <p:cNvPicPr>
            <a:picLocks noChangeAspect="1" noChangeArrowheads="1"/>
          </p:cNvPicPr>
          <p:nvPr/>
        </p:nvPicPr>
        <p:blipFill>
          <a:blip r:embed="rId3" cstate="print"/>
          <a:srcRect/>
          <a:stretch>
            <a:fillRect/>
          </a:stretch>
        </p:blipFill>
        <p:spPr bwMode="auto">
          <a:xfrm>
            <a:off x="1571604" y="3357562"/>
            <a:ext cx="6000792" cy="3374679"/>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16" name="Picture 18" descr="http://bessel.org/massta21.gif"/>
          <p:cNvPicPr>
            <a:picLocks noChangeAspect="1" noChangeArrowheads="1"/>
          </p:cNvPicPr>
          <p:nvPr/>
        </p:nvPicPr>
        <p:blipFill>
          <a:blip r:embed="rId3"/>
          <a:srcRect/>
          <a:stretch>
            <a:fillRect/>
          </a:stretch>
        </p:blipFill>
        <p:spPr bwMode="auto">
          <a:xfrm>
            <a:off x="158307" y="1517939"/>
            <a:ext cx="8628535" cy="5125771"/>
          </a:xfrm>
          <a:prstGeom prst="rect">
            <a:avLst/>
          </a:prstGeom>
          <a:noFill/>
        </p:spPr>
      </p:pic>
      <p:pic>
        <p:nvPicPr>
          <p:cNvPr id="5" name="4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16386" name="Picture 2" descr="Nacimiento y desarrollo de la esfera masónica en América Latina (1717-1914)  | Estudios de la masonería en América Latina y el Caribe"/>
          <p:cNvPicPr>
            <a:picLocks noChangeAspect="1" noChangeArrowheads="1"/>
          </p:cNvPicPr>
          <p:nvPr/>
        </p:nvPicPr>
        <p:blipFill>
          <a:blip r:embed="rId3"/>
          <a:srcRect/>
          <a:stretch>
            <a:fillRect/>
          </a:stretch>
        </p:blipFill>
        <p:spPr bwMode="auto">
          <a:xfrm>
            <a:off x="1071538" y="1928802"/>
            <a:ext cx="6933946" cy="415690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7" name="Picture 4" descr="Nacimiento y desarrollo de la esfera masónica en América Latina (1717-1914)  | Estudios de la masonería en América Latina y el Caribe"/>
          <p:cNvPicPr>
            <a:picLocks noChangeAspect="1" noChangeArrowheads="1"/>
          </p:cNvPicPr>
          <p:nvPr/>
        </p:nvPicPr>
        <p:blipFill>
          <a:blip r:embed="rId3"/>
          <a:srcRect/>
          <a:stretch>
            <a:fillRect/>
          </a:stretch>
        </p:blipFill>
        <p:spPr bwMode="auto">
          <a:xfrm>
            <a:off x="819790" y="1785926"/>
            <a:ext cx="7609862" cy="421484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20" name="Picture 7"/>
          <p:cNvPicPr>
            <a:picLocks noChangeAspect="1" noChangeArrowheads="1"/>
          </p:cNvPicPr>
          <p:nvPr/>
        </p:nvPicPr>
        <p:blipFill>
          <a:blip r:embed="rId3"/>
          <a:srcRect/>
          <a:stretch>
            <a:fillRect/>
          </a:stretch>
        </p:blipFill>
        <p:spPr bwMode="auto">
          <a:xfrm>
            <a:off x="1928794" y="3333769"/>
            <a:ext cx="5179225" cy="3452817"/>
          </a:xfrm>
          <a:prstGeom prst="rect">
            <a:avLst/>
          </a:prstGeom>
          <a:noFill/>
          <a:ln w="9525">
            <a:noFill/>
            <a:miter lim="800000"/>
            <a:headEnd/>
            <a:tailEnd/>
          </a:ln>
          <a:effectLst/>
        </p:spPr>
      </p:pic>
      <p:pic>
        <p:nvPicPr>
          <p:cNvPr id="21" name="Picture 12"/>
          <p:cNvPicPr>
            <a:picLocks noChangeAspect="1" noChangeArrowheads="1"/>
          </p:cNvPicPr>
          <p:nvPr/>
        </p:nvPicPr>
        <p:blipFill>
          <a:blip r:embed="rId4" cstate="print"/>
          <a:srcRect/>
          <a:stretch>
            <a:fillRect/>
          </a:stretch>
        </p:blipFill>
        <p:spPr bwMode="auto">
          <a:xfrm>
            <a:off x="0" y="2762266"/>
            <a:ext cx="3172843" cy="1785950"/>
          </a:xfrm>
          <a:prstGeom prst="rect">
            <a:avLst/>
          </a:prstGeom>
          <a:noFill/>
          <a:ln w="9525">
            <a:noFill/>
            <a:miter lim="800000"/>
            <a:headEnd/>
            <a:tailEnd/>
          </a:ln>
          <a:effectLst/>
        </p:spPr>
      </p:pic>
      <p:sp>
        <p:nvSpPr>
          <p:cNvPr id="11" name="10 CuadroTexto"/>
          <p:cNvSpPr txBox="1"/>
          <p:nvPr/>
        </p:nvSpPr>
        <p:spPr>
          <a:xfrm>
            <a:off x="571472" y="1320872"/>
            <a:ext cx="7929618" cy="1200329"/>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 qualidades e deveres... </a:t>
            </a:r>
          </a:p>
        </p:txBody>
      </p:sp>
      <p:pic>
        <p:nvPicPr>
          <p:cNvPr id="18" name="Picture 4" descr="O Capitólio de Washington D.C."/>
          <p:cNvPicPr>
            <a:picLocks noChangeAspect="1" noChangeArrowheads="1"/>
          </p:cNvPicPr>
          <p:nvPr/>
        </p:nvPicPr>
        <p:blipFill>
          <a:blip r:embed="rId5"/>
          <a:srcRect/>
          <a:stretch>
            <a:fillRect/>
          </a:stretch>
        </p:blipFill>
        <p:spPr bwMode="auto">
          <a:xfrm>
            <a:off x="6656619" y="2690827"/>
            <a:ext cx="2487381" cy="1928826"/>
          </a:xfrm>
          <a:prstGeom prst="rect">
            <a:avLst/>
          </a:prstGeom>
          <a:noFill/>
        </p:spPr>
      </p:pic>
      <p:pic>
        <p:nvPicPr>
          <p:cNvPr id="8" name="7 Imagen" descr="compasorogiratorio  02.GIF"/>
          <p:cNvPicPr>
            <a:picLocks noChangeAspect="1"/>
          </p:cNvPicPr>
          <p:nvPr/>
        </p:nvPicPr>
        <p:blipFill>
          <a:blip r:embed="rId6">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sp>
        <p:nvSpPr>
          <p:cNvPr id="16" name="15 CuadroTexto"/>
          <p:cNvSpPr txBox="1"/>
          <p:nvPr/>
        </p:nvSpPr>
        <p:spPr>
          <a:xfrm>
            <a:off x="357158" y="1428736"/>
            <a:ext cx="8429684" cy="3076868"/>
          </a:xfrm>
          <a:prstGeom prst="rect">
            <a:avLst/>
          </a:prstGeom>
          <a:noFill/>
        </p:spPr>
        <p:txBody>
          <a:bodyPr wrap="square" rtlCol="0">
            <a:spAutoFit/>
          </a:bodyPr>
          <a:lstStyle/>
          <a:p>
            <a:pPr algn="ctr">
              <a:lnSpc>
                <a:spcPct val="150000"/>
              </a:lnSpc>
            </a:pPr>
            <a:r>
              <a:rPr lang="pt-BR" sz="2200" dirty="0" smtClean="0">
                <a:effectLst>
                  <a:outerShdw blurRad="38100" dist="38100" dir="2700000" algn="tl">
                    <a:srgbClr val="000000">
                      <a:alpha val="43137"/>
                    </a:srgbClr>
                  </a:outerShdw>
                </a:effectLst>
                <a:latin typeface="FrancophilSans" pitchFamily="2" charset="0"/>
              </a:rPr>
              <a:t>Eles, entre outros não menos importantes, no seu tempo, fizeram sua parte, hoje podemos criticar mal ou bem, mas fizeram, pelo menos, deixar o que hoje são nossas pátrias... </a:t>
            </a:r>
          </a:p>
          <a:p>
            <a:pPr algn="ctr">
              <a:lnSpc>
                <a:spcPct val="150000"/>
              </a:lnSpc>
            </a:pPr>
            <a:endParaRPr lang="pt-BR" sz="2200" dirty="0" smtClean="0">
              <a:effectLst>
                <a:outerShdw blurRad="38100" dist="38100" dir="2700000" algn="tl">
                  <a:srgbClr val="000000">
                    <a:alpha val="43137"/>
                  </a:srgbClr>
                </a:outerShdw>
              </a:effectLst>
              <a:latin typeface="FrancophilSans" pitchFamily="2" charset="0"/>
            </a:endParaRPr>
          </a:p>
          <a:p>
            <a:pPr algn="ctr">
              <a:lnSpc>
                <a:spcPct val="150000"/>
              </a:lnSpc>
            </a:pPr>
            <a:r>
              <a:rPr lang="pt-BR" sz="2200" dirty="0" smtClean="0">
                <a:effectLst>
                  <a:outerShdw blurRad="38100" dist="38100" dir="2700000" algn="tl">
                    <a:srgbClr val="000000">
                      <a:alpha val="43137"/>
                    </a:srgbClr>
                  </a:outerShdw>
                </a:effectLst>
                <a:latin typeface="FrancophilSans" pitchFamily="2" charset="0"/>
              </a:rPr>
              <a:t>Qual coisa vamos a deixar nós para as próximas gerações americanas e mundiais?</a:t>
            </a:r>
          </a:p>
        </p:txBody>
      </p:sp>
      <p:pic>
        <p:nvPicPr>
          <p:cNvPr id="38915" name="Picture 3"/>
          <p:cNvPicPr>
            <a:picLocks noChangeAspect="1" noChangeArrowheads="1"/>
          </p:cNvPicPr>
          <p:nvPr/>
        </p:nvPicPr>
        <p:blipFill>
          <a:blip r:embed="rId3"/>
          <a:srcRect/>
          <a:stretch>
            <a:fillRect/>
          </a:stretch>
        </p:blipFill>
        <p:spPr bwMode="auto">
          <a:xfrm>
            <a:off x="0" y="5157930"/>
            <a:ext cx="9144000" cy="1700070"/>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2"/>
          <a:srcRect/>
          <a:stretch>
            <a:fillRect/>
          </a:stretch>
        </p:blipFill>
        <p:spPr bwMode="auto">
          <a:xfrm>
            <a:off x="0" y="728661"/>
            <a:ext cx="9144000" cy="6129339"/>
          </a:xfrm>
          <a:prstGeom prst="rect">
            <a:avLst/>
          </a:prstGeom>
          <a:noFill/>
        </p:spPr>
      </p:pic>
      <p:sp>
        <p:nvSpPr>
          <p:cNvPr id="15" name="14 CuadroTexto"/>
          <p:cNvSpPr txBox="1"/>
          <p:nvPr/>
        </p:nvSpPr>
        <p:spPr>
          <a:xfrm>
            <a:off x="642910" y="1347132"/>
            <a:ext cx="7786742" cy="1938992"/>
          </a:xfrm>
          <a:prstGeom prst="rect">
            <a:avLst/>
          </a:prstGeom>
          <a:noFill/>
        </p:spPr>
        <p:txBody>
          <a:bodyPr wrap="square" rtlCol="0">
            <a:spAutoFit/>
          </a:bodyPr>
          <a:lstStyle/>
          <a:p>
            <a:pPr algn="ctr"/>
            <a:r>
              <a:rPr lang="pt-BR" sz="2400" b="1" dirty="0" smtClean="0">
                <a:solidFill>
                  <a:schemeClr val="bg1"/>
                </a:solidFill>
                <a:effectLst>
                  <a:outerShdw blurRad="38100" dist="38100" dir="2700000" algn="tl">
                    <a:srgbClr val="000000">
                      <a:alpha val="43137"/>
                    </a:srgbClr>
                  </a:outerShdw>
                </a:effectLst>
                <a:latin typeface="FrancophilSans" pitchFamily="2" charset="0"/>
              </a:rPr>
              <a:t>Esses Mestres maçons que pela situação econômica, a falta de instruções certas, o desencanto pelas condutas internas e externas de representantes de meio e alto nível, assim como de membros da base, estão saindo em relativas grandes quantidades.</a:t>
            </a:r>
          </a:p>
        </p:txBody>
      </p:sp>
      <p:pic>
        <p:nvPicPr>
          <p:cNvPr id="3"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2">
            <a:duotone>
              <a:prstClr val="black"/>
              <a:schemeClr val="accent6">
                <a:tint val="45000"/>
                <a:satMod val="400000"/>
              </a:schemeClr>
            </a:duotone>
          </a:blip>
          <a:srcRect/>
          <a:stretch>
            <a:fillRect/>
          </a:stretch>
        </p:blipFill>
        <p:spPr bwMode="auto">
          <a:xfrm>
            <a:off x="0" y="728661"/>
            <a:ext cx="9144000" cy="6129339"/>
          </a:xfrm>
          <a:prstGeom prst="rect">
            <a:avLst/>
          </a:prstGeom>
          <a:noFill/>
        </p:spPr>
      </p:pic>
      <p:pic>
        <p:nvPicPr>
          <p:cNvPr id="3"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15" name="14 CuadroTexto"/>
          <p:cNvSpPr txBox="1"/>
          <p:nvPr/>
        </p:nvSpPr>
        <p:spPr>
          <a:xfrm>
            <a:off x="285720" y="1428736"/>
            <a:ext cx="8572560" cy="4413388"/>
          </a:xfrm>
          <a:prstGeom prst="rect">
            <a:avLst/>
          </a:prstGeom>
          <a:noFill/>
        </p:spPr>
        <p:txBody>
          <a:bodyPr wrap="square" rtlCol="0">
            <a:spAutoFit/>
          </a:bodyPr>
          <a:lstStyle/>
          <a:p>
            <a:pPr algn="ctr">
              <a:lnSpc>
                <a:spcPct val="200000"/>
              </a:lnSpc>
            </a:pPr>
            <a:r>
              <a:rPr lang="pt-BR" sz="2400" b="1" dirty="0" smtClean="0">
                <a:solidFill>
                  <a:schemeClr val="bg1"/>
                </a:solidFill>
                <a:effectLst>
                  <a:outerShdw blurRad="38100" dist="38100" dir="2700000" algn="tl">
                    <a:srgbClr val="000000">
                      <a:alpha val="43137"/>
                    </a:srgbClr>
                  </a:outerShdw>
                </a:effectLst>
                <a:latin typeface="FrancophilSans" pitchFamily="2" charset="0"/>
              </a:rPr>
              <a:t>Uns buscando outras </a:t>
            </a:r>
            <a:r>
              <a:rPr lang="pt-BR" sz="2400" b="1" dirty="0" err="1" smtClean="0">
                <a:solidFill>
                  <a:schemeClr val="bg1"/>
                </a:solidFill>
                <a:effectLst>
                  <a:outerShdw blurRad="38100" dist="38100" dir="2700000" algn="tl">
                    <a:srgbClr val="000000">
                      <a:alpha val="43137"/>
                    </a:srgbClr>
                  </a:outerShdw>
                </a:effectLst>
                <a:latin typeface="FrancophilSans" pitchFamily="2" charset="0"/>
              </a:rPr>
              <a:t>Logias</a:t>
            </a:r>
            <a:r>
              <a:rPr lang="pt-BR" sz="2400" b="1" dirty="0" smtClean="0">
                <a:solidFill>
                  <a:schemeClr val="bg1"/>
                </a:solidFill>
                <a:effectLst>
                  <a:outerShdw blurRad="38100" dist="38100" dir="2700000" algn="tl">
                    <a:srgbClr val="000000">
                      <a:alpha val="43137"/>
                    </a:srgbClr>
                  </a:outerShdw>
                </a:effectLst>
                <a:latin typeface="FrancophilSans" pitchFamily="2" charset="0"/>
              </a:rPr>
              <a:t> ou GGLL; outros só ficando numa condição neutra, nem ativos, nem inativos; buscando na Internet onde encontrar esses Irmãos que possam pensar parecido, ou em grupos onde encontrar material de estudo, para continuar sua formação de maneira empírica, assim como informação que possa acalmar sua sede de conhecimento e sua fome de sabedoria.</a:t>
            </a:r>
          </a:p>
        </p:txBody>
      </p:sp>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24"/>
            <a:ext cx="9144000" cy="2357431"/>
          </a:xfrm>
          <a:prstGeom prst="rect">
            <a:avLst/>
          </a:prstGeom>
          <a:noFill/>
          <a:ln w="9525">
            <a:noFill/>
            <a:miter lim="800000"/>
            <a:headEnd/>
            <a:tailEnd/>
          </a:ln>
          <a:effectLst/>
        </p:spPr>
      </p:pic>
      <p:sp>
        <p:nvSpPr>
          <p:cNvPr id="15" name="14 CuadroTexto"/>
          <p:cNvSpPr txBox="1"/>
          <p:nvPr/>
        </p:nvSpPr>
        <p:spPr>
          <a:xfrm>
            <a:off x="1857356" y="2599979"/>
            <a:ext cx="5357850" cy="2400657"/>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Além de tudo isso, temos uma situação de pais, assim como mundial, não menos importante que incide, negativamente, em tudo isto.</a:t>
            </a: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2357431"/>
          </a:xfrm>
          <a:prstGeom prst="rect">
            <a:avLst/>
          </a:prstGeom>
          <a:noFill/>
          <a:ln w="9525">
            <a:noFill/>
            <a:miter lim="800000"/>
            <a:headEnd/>
            <a:tailEnd/>
          </a:ln>
          <a:effectLst/>
        </p:spPr>
      </p:pic>
      <p:pic>
        <p:nvPicPr>
          <p:cNvPr id="10" name="Picture 2"/>
          <p:cNvPicPr>
            <a:picLocks noChangeAspect="1" noChangeArrowheads="1"/>
          </p:cNvPicPr>
          <p:nvPr/>
        </p:nvPicPr>
        <p:blipFill>
          <a:blip r:embed="rId3"/>
          <a:srcRect r="38664"/>
          <a:stretch>
            <a:fillRect/>
          </a:stretch>
        </p:blipFill>
        <p:spPr bwMode="auto">
          <a:xfrm>
            <a:off x="1571604" y="214290"/>
            <a:ext cx="6000792" cy="643030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357290" y="1948311"/>
            <a:ext cx="6500858"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O pais tem delicadas condições econômicas, nos direitos humanos, a propriedade, a segurança, na saúde, educativas, cívicas, sociais, políticas, éticas e morais, de soberania, e as possibilidades de que aprofundem mais, são altas.</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Picture 4" descr="https://passoapassodaredacao.com.br/wp-content/uploads/2019/08/adfasd.png"/>
          <p:cNvPicPr>
            <a:picLocks noChangeAspect="1" noChangeArrowheads="1"/>
          </p:cNvPicPr>
          <p:nvPr/>
        </p:nvPicPr>
        <p:blipFill>
          <a:blip r:embed="rId3"/>
          <a:srcRect/>
          <a:stretch>
            <a:fillRect/>
          </a:stretch>
        </p:blipFill>
        <p:spPr bwMode="auto">
          <a:xfrm>
            <a:off x="1714480" y="194312"/>
            <a:ext cx="6094240" cy="6520836"/>
          </a:xfrm>
          <a:prstGeom prst="rect">
            <a:avLst/>
          </a:prstGeom>
          <a:ln>
            <a:noFill/>
          </a:ln>
          <a:effectLst>
            <a:outerShdw blurRad="190500" algn="tl" rotWithShape="0">
              <a:srgbClr val="000000">
                <a:alpha val="70000"/>
              </a:srgbClr>
            </a:outerShdw>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214282" y="1470242"/>
            <a:ext cx="8643998" cy="1815882"/>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Você, como mestre maçom, pode sentir desejos de fazer algo a favor de tudo isto, a situação do pais e da maçonaria em Brasil; ou de continuar seu caminho pessoal, tentando resolver só o que é de sua importância imediata e pessoal.</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pic>
        <p:nvPicPr>
          <p:cNvPr id="1027" name="Picture 3"/>
          <p:cNvPicPr>
            <a:picLocks noChangeAspect="1" noChangeArrowheads="1"/>
          </p:cNvPicPr>
          <p:nvPr/>
        </p:nvPicPr>
        <p:blipFill>
          <a:blip r:embed="rId4"/>
          <a:srcRect/>
          <a:stretch>
            <a:fillRect/>
          </a:stretch>
        </p:blipFill>
        <p:spPr bwMode="auto">
          <a:xfrm>
            <a:off x="2714612" y="3341143"/>
            <a:ext cx="3714776" cy="351685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714348" y="1859498"/>
            <a:ext cx="7643866"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Se sua decisão é continuar seu caminho, agradeço sua presença, mas eu convido você a continuar olhando e escutando o que vem agora, e possível que coincidamos em que cumprir com nossos deveres implica cumprir com nós, mas cumprir só com nós, não sempre vai permitir cumprir com nosso deveres, e produzir os mesmos benefícios ...</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5" name="4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5" name="4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pic>
        <p:nvPicPr>
          <p:cNvPr id="7" name="Picture 16" descr="Quem foi Sócrates? - Blog da Mari Calegari | Frases de pensadores ..."/>
          <p:cNvPicPr>
            <a:picLocks noChangeAspect="1" noChangeArrowheads="1"/>
          </p:cNvPicPr>
          <p:nvPr/>
        </p:nvPicPr>
        <p:blipFill>
          <a:blip r:embed="rId4">
            <a:duotone>
              <a:prstClr val="black"/>
              <a:schemeClr val="tx2">
                <a:tint val="45000"/>
                <a:satMod val="400000"/>
              </a:schemeClr>
            </a:duotone>
          </a:blip>
          <a:srcRect t="13135" b="29071"/>
          <a:stretch>
            <a:fillRect/>
          </a:stretch>
        </p:blipFill>
        <p:spPr bwMode="auto">
          <a:xfrm>
            <a:off x="1214414" y="2000240"/>
            <a:ext cx="6837219" cy="400052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571472" y="4500570"/>
            <a:ext cx="8001056" cy="2031325"/>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Ou como diz o ritual de primeiro grau venezuelano quando define o conceito de virtude e quando mostra os três preceitos da maçonaria.</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5" name="4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pic>
        <p:nvPicPr>
          <p:cNvPr id="7" name="Picture 14" descr="...a virtude não nasce da riqueza, mas... Sócrates - Pensador"/>
          <p:cNvPicPr>
            <a:picLocks noChangeAspect="1" noChangeArrowheads="1"/>
          </p:cNvPicPr>
          <p:nvPr/>
        </p:nvPicPr>
        <p:blipFill>
          <a:blip r:embed="rId4">
            <a:duotone>
              <a:prstClr val="black"/>
              <a:schemeClr val="tx2">
                <a:tint val="45000"/>
                <a:satMod val="400000"/>
              </a:schemeClr>
            </a:duotone>
          </a:blip>
          <a:srcRect/>
          <a:stretch>
            <a:fillRect/>
          </a:stretch>
        </p:blipFill>
        <p:spPr bwMode="auto">
          <a:xfrm>
            <a:off x="1857356" y="714356"/>
            <a:ext cx="6667546" cy="350046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par>
                          <p:cTn id="8" fill="hold">
                            <p:stCondLst>
                              <p:cond delay="3300"/>
                            </p:stCondLst>
                            <p:childTnLst>
                              <p:par>
                                <p:cTn id="9" presetID="53"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500034" y="1571612"/>
            <a:ext cx="8072494" cy="4537268"/>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A virtude é a força que domina as paixões.</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Para que exista (virtude), deve haver luta entre elas (virtude e paixões), mas a virtude não deve ser confundida com honestidade, benevolência ou caridade; pois o primeiro é freqüentemente encontrado no apático, o segundo no fraco e o terceiro pode se unir ao vício; e nenhum apático, fraco ou vicioso é virtuoso. </a:t>
            </a: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785786" y="2571744"/>
            <a:ext cx="7572428" cy="233858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E uma voz interior diz ao ser humano que as forças da alma foram dadas para usá-las a serviço do bem. A prática segundo este sentimento é o que indica a palavra VIRTUDE.</a:t>
            </a:r>
            <a:endParaRPr lang="pt-BR" sz="2800" dirty="0">
              <a:effectLst>
                <a:outerShdw blurRad="38100" dist="38100" dir="2700000" algn="tl">
                  <a:srgbClr val="000000">
                    <a:alpha val="43137"/>
                  </a:srgbClr>
                </a:outerShdw>
              </a:effectLst>
              <a:latin typeface="FrancophilSans" pitchFamily="2" charset="0"/>
            </a:endParaRP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428596" y="1940306"/>
            <a:ext cx="8286808"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O hábito de dominar nossos instintos exalta a alma; e uma vez que se conheça o prazer indefinível de vencer a si mesmo, de privar-se de um bem ansiado para fazer feliz um infeliz, de defender os fracos contra os poderosos e salvá-los, então não há mais ideal que, quando satisfeito, proporciona um gozo mais puro e mais extenso do que esse prazer, ser virtuoso é ser feliz. </a:t>
            </a:r>
            <a:endParaRPr lang="pt-BR" sz="2800" dirty="0">
              <a:effectLst>
                <a:outerShdw blurRad="38100" dist="38100" dir="2700000" algn="tl">
                  <a:srgbClr val="000000">
                    <a:alpha val="43137"/>
                  </a:srgbClr>
                </a:outerShdw>
              </a:effectLst>
              <a:latin typeface="FrancophilSans" pitchFamily="2" charset="0"/>
            </a:endParaRP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1142976" y="2071678"/>
            <a:ext cx="6929486" cy="3492751"/>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O segundo (preceito), que faz da Maçonaria o mais sagrado dos vínculos, quando não é a mais nobre, a maior e a mais respeitável de todas as instituições; este preceito, objeto de vosso pedido, consiste em combater as paixões que desonram o homem e o tornam infeliz, ...</a:t>
            </a:r>
            <a:endParaRPr lang="pt-BR" sz="2800" dirty="0">
              <a:effectLst>
                <a:outerShdw blurRad="38100" dist="38100" dir="2700000" algn="tl">
                  <a:srgbClr val="000000">
                    <a:alpha val="43137"/>
                  </a:srgbClr>
                </a:outerShdw>
              </a:effectLst>
              <a:latin typeface="FrancophilSans" pitchFamily="2" charset="0"/>
            </a:endParaRP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1285852" y="1928802"/>
            <a:ext cx="6715172"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em praticar as mais doces e benéficas virtudes, em socorrer nossos irmãos, em prevenir suas necessidades, aliviar suas dores e assisti-los com nossos conselhos e nossas luzes; de modo que, o que é uma qualidade rara em um profano, para o maçom é apenas o cumprimento de um dever. </a:t>
            </a:r>
            <a:endParaRPr lang="pt-BR" sz="2800" dirty="0">
              <a:effectLst>
                <a:outerShdw blurRad="38100" dist="38100" dir="2700000" algn="tl">
                  <a:srgbClr val="000000">
                    <a:alpha val="43137"/>
                  </a:srgbClr>
                </a:outerShdw>
              </a:effectLst>
              <a:latin typeface="FrancophilSans" pitchFamily="2" charset="0"/>
            </a:endParaRP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5" name="4 CuadroTexto"/>
          <p:cNvSpPr txBox="1"/>
          <p:nvPr/>
        </p:nvSpPr>
        <p:spPr>
          <a:xfrm>
            <a:off x="1428728" y="1940306"/>
            <a:ext cx="6286544"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Toda oportunidade de ser útil que não aproveita é uma infidelidade que comete; toda ajuda que ele recusa a seus irmãos é perjúrio; e se a doce e consoladora amizade tem seu culto em nosso Templo, não é tanto por ser um nobre sentimento quanto por ser um dever.</a:t>
            </a:r>
            <a:endParaRPr lang="pt-BR" sz="2800" dirty="0">
              <a:effectLst>
                <a:outerShdw blurRad="38100" dist="38100" dir="2700000" algn="tl">
                  <a:srgbClr val="000000">
                    <a:alpha val="43137"/>
                  </a:srgbClr>
                </a:outerShdw>
              </a:effectLst>
              <a:latin typeface="FrancophilSans" pitchFamily="2" charset="0"/>
            </a:endParaRPr>
          </a:p>
        </p:txBody>
      </p:sp>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prende sobre los saludos secretos de los masones - Los Masones"/>
          <p:cNvPicPr>
            <a:picLocks noChangeAspect="1" noChangeArrowheads="1"/>
          </p:cNvPicPr>
          <p:nvPr/>
        </p:nvPicPr>
        <p:blipFill>
          <a:blip r:embed="rId2"/>
          <a:srcRect t="6429" b="31428"/>
          <a:stretch>
            <a:fillRect/>
          </a:stretch>
        </p:blipFill>
        <p:spPr bwMode="auto">
          <a:xfrm>
            <a:off x="2143108" y="4357694"/>
            <a:ext cx="4762500" cy="2071702"/>
          </a:xfrm>
          <a:prstGeom prst="rect">
            <a:avLst/>
          </a:prstGeom>
          <a:noFill/>
        </p:spPr>
      </p:pic>
      <p:sp>
        <p:nvSpPr>
          <p:cNvPr id="15" name="14 CuadroTexto"/>
          <p:cNvSpPr txBox="1"/>
          <p:nvPr/>
        </p:nvSpPr>
        <p:spPr>
          <a:xfrm>
            <a:off x="285720" y="1714488"/>
            <a:ext cx="8572560" cy="2677656"/>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Agora vou a mostrar uma proposta que pode ajudar tanto a você como a instituição maçônica assim como a nossa Pátria amada, esperando seja de sua consideração e agrado, que podamos contar com seu apoio.</a:t>
            </a:r>
          </a:p>
          <a:p>
            <a:pPr algn="ctr"/>
            <a:endParaRPr lang="pt-BR" sz="2800" dirty="0" smtClean="0">
              <a:effectLst>
                <a:outerShdw blurRad="38100" dist="38100" dir="2700000" algn="tl">
                  <a:srgbClr val="000000">
                    <a:alpha val="43137"/>
                  </a:srgbClr>
                </a:outerShdw>
              </a:effectLst>
              <a:latin typeface="FrancophilSans" pitchFamily="2" charset="0"/>
            </a:endParaRPr>
          </a:p>
          <a:p>
            <a:pPr algn="ctr"/>
            <a:r>
              <a:rPr lang="pt-BR" sz="2800" dirty="0" smtClean="0">
                <a:effectLst>
                  <a:outerShdw blurRad="38100" dist="38100" dir="2700000" algn="tl">
                    <a:srgbClr val="000000">
                      <a:alpha val="43137"/>
                    </a:srgbClr>
                  </a:outerShdw>
                </a:effectLst>
                <a:latin typeface="FrancophilSans" pitchFamily="2" charset="0"/>
              </a:rPr>
              <a:t>A obra é grande a precisam-se de boas mãos como as suas.</a:t>
            </a:r>
            <a:endParaRPr lang="pt-BR" sz="2800" dirty="0">
              <a:effectLst>
                <a:outerShdw blurRad="38100" dist="38100" dir="2700000" algn="tl">
                  <a:srgbClr val="000000">
                    <a:alpha val="43137"/>
                  </a:srgbClr>
                </a:outerShdw>
              </a:effectLst>
              <a:latin typeface="FrancophilSans" pitchFamily="2" charset="0"/>
            </a:endParaRPr>
          </a:p>
        </p:txBody>
      </p:sp>
      <p:pic>
        <p:nvPicPr>
          <p:cNvPr id="4"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2"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0" fill="hold"/>
                                        <p:tgtEl>
                                          <p:spTgt spid="15"/>
                                        </p:tgtEl>
                                        <p:attrNameLst>
                                          <p:attrName>ppt_x</p:attrName>
                                        </p:attrNameLst>
                                      </p:cBhvr>
                                      <p:tavLst>
                                        <p:tav tm="0">
                                          <p:val>
                                            <p:strVal val="1+#ppt_w/2"/>
                                          </p:val>
                                        </p:tav>
                                        <p:tav tm="100000">
                                          <p:val>
                                            <p:strVal val="#ppt_x"/>
                                          </p:val>
                                        </p:tav>
                                      </p:tavLst>
                                    </p:anim>
                                    <p:anim calcmode="lin" valueType="num">
                                      <p:cBhvr additive="base">
                                        <p:cTn id="8" dur="50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30000"/>
                            </p:stCondLst>
                            <p:childTnLst>
                              <p:par>
                                <p:cTn id="10" presetID="10" presetClass="entr" presetSubtype="0" fill="hold" nodeType="after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fade">
                                      <p:cBhvr>
                                        <p:cTn id="12" dur="20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571472" y="1615377"/>
            <a:ext cx="7858180" cy="1384995"/>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É uma proposta que busca nos dar as oportunidades que permitam fazer essa maçonaria essencial filosófica e a filantrópica.</a:t>
            </a:r>
          </a:p>
        </p:txBody>
      </p:sp>
      <p:pic>
        <p:nvPicPr>
          <p:cNvPr id="4"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pic>
        <p:nvPicPr>
          <p:cNvPr id="53251" name="Picture 3"/>
          <p:cNvPicPr>
            <a:picLocks noChangeAspect="1" noChangeArrowheads="1"/>
          </p:cNvPicPr>
          <p:nvPr/>
        </p:nvPicPr>
        <p:blipFill>
          <a:blip r:embed="rId4"/>
          <a:srcRect/>
          <a:stretch>
            <a:fillRect/>
          </a:stretch>
        </p:blipFill>
        <p:spPr bwMode="auto">
          <a:xfrm>
            <a:off x="3071802" y="3143248"/>
            <a:ext cx="2968513" cy="364331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0" fill="hold"/>
                                        <p:tgtEl>
                                          <p:spTgt spid="15"/>
                                        </p:tgtEl>
                                        <p:attrNameLst>
                                          <p:attrName>ppt_x</p:attrName>
                                        </p:attrNameLst>
                                      </p:cBhvr>
                                      <p:tavLst>
                                        <p:tav tm="0">
                                          <p:val>
                                            <p:strVal val="0-#ppt_w/2"/>
                                          </p:val>
                                        </p:tav>
                                        <p:tav tm="100000">
                                          <p:val>
                                            <p:strVal val="#ppt_x"/>
                                          </p:val>
                                        </p:tav>
                                      </p:tavLst>
                                    </p:anim>
                                    <p:anim calcmode="lin" valueType="num">
                                      <p:cBhvr additive="base">
                                        <p:cTn id="8" dur="5000" fill="hold"/>
                                        <p:tgtEl>
                                          <p:spTgt spid="15"/>
                                        </p:tgtEl>
                                        <p:attrNameLst>
                                          <p:attrName>ppt_y</p:attrName>
                                        </p:attrNameLst>
                                      </p:cBhvr>
                                      <p:tavLst>
                                        <p:tav tm="0">
                                          <p:val>
                                            <p:strVal val="#ppt_y"/>
                                          </p:val>
                                        </p:tav>
                                        <p:tav tm="100000">
                                          <p:val>
                                            <p:strVal val="#ppt_y"/>
                                          </p:val>
                                        </p:tav>
                                      </p:tavLst>
                                    </p:anim>
                                  </p:childTnLst>
                                </p:cTn>
                              </p:par>
                            </p:childTnLst>
                          </p:cTn>
                        </p:par>
                        <p:par>
                          <p:cTn id="9" fill="hold">
                            <p:stCondLst>
                              <p:cond delay="14500"/>
                            </p:stCondLst>
                            <p:childTnLst>
                              <p:par>
                                <p:cTn id="10" presetID="10" presetClass="entr" presetSubtype="0" fill="hold" nodeType="after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fade">
                                      <p:cBhvr>
                                        <p:cTn id="12" dur="2000"/>
                                        <p:tgtEl>
                                          <p:spTgt spid="53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928662" y="1857364"/>
            <a:ext cx="3143272" cy="4832092"/>
          </a:xfrm>
          <a:prstGeom prst="rect">
            <a:avLst/>
          </a:prstGeom>
          <a:noFill/>
        </p:spPr>
        <p:txBody>
          <a:bodyPr wrap="square" rtlCol="0">
            <a:spAutoFit/>
          </a:bodyPr>
          <a:lstStyle/>
          <a:p>
            <a:pPr algn="r"/>
            <a:r>
              <a:rPr lang="pt-BR" sz="2800" dirty="0" smtClean="0">
                <a:effectLst>
                  <a:outerShdw blurRad="38100" dist="38100" dir="2700000" algn="tl">
                    <a:srgbClr val="000000">
                      <a:alpha val="43137"/>
                    </a:srgbClr>
                  </a:outerShdw>
                </a:effectLst>
                <a:latin typeface="FrancophilSans" pitchFamily="2" charset="0"/>
              </a:rPr>
              <a:t>Esta proposta tenta responder aos nossos deveres, aqueles que foram apresentados naquele quarto, aquele dia quando tomamos a decisão de ingressar nesta associação.</a:t>
            </a:r>
          </a:p>
          <a:p>
            <a:pPr algn="r"/>
            <a:r>
              <a:rPr lang="pt-BR" sz="2800" dirty="0" smtClean="0">
                <a:effectLst>
                  <a:outerShdw blurRad="38100" dist="38100" dir="2700000" algn="tl">
                    <a:srgbClr val="000000">
                      <a:alpha val="43137"/>
                    </a:srgbClr>
                  </a:outerShdw>
                </a:effectLst>
                <a:latin typeface="FrancophilSans" pitchFamily="2" charset="0"/>
              </a:rPr>
              <a:t>Lembram ? ... </a:t>
            </a:r>
          </a:p>
        </p:txBody>
      </p:sp>
      <p:pic>
        <p:nvPicPr>
          <p:cNvPr id="4"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pic>
        <p:nvPicPr>
          <p:cNvPr id="8194" name="Picture 2" descr="The Hedge Mason: The Chamber of Reflection: An Archaic Technique For ..."/>
          <p:cNvPicPr>
            <a:picLocks noChangeAspect="1" noChangeArrowheads="1"/>
          </p:cNvPicPr>
          <p:nvPr/>
        </p:nvPicPr>
        <p:blipFill>
          <a:blip r:embed="rId4"/>
          <a:srcRect/>
          <a:stretch>
            <a:fillRect/>
          </a:stretch>
        </p:blipFill>
        <p:spPr bwMode="auto">
          <a:xfrm>
            <a:off x="4214810" y="1500174"/>
            <a:ext cx="3769045" cy="507207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0" fill="hold"/>
                                        <p:tgtEl>
                                          <p:spTgt spid="15"/>
                                        </p:tgtEl>
                                        <p:attrNameLst>
                                          <p:attrName>ppt_x</p:attrName>
                                        </p:attrNameLst>
                                      </p:cBhvr>
                                      <p:tavLst>
                                        <p:tav tm="0">
                                          <p:val>
                                            <p:strVal val="#ppt_x"/>
                                          </p:val>
                                        </p:tav>
                                        <p:tav tm="100000">
                                          <p:val>
                                            <p:strVal val="#ppt_x"/>
                                          </p:val>
                                        </p:tav>
                                      </p:tavLst>
                                    </p:anim>
                                    <p:anim calcmode="lin" valueType="num">
                                      <p:cBhvr additive="base">
                                        <p:cTn id="8" dur="5000" fill="hold"/>
                                        <p:tgtEl>
                                          <p:spTgt spid="15"/>
                                        </p:tgtEl>
                                        <p:attrNameLst>
                                          <p:attrName>ppt_y</p:attrName>
                                        </p:attrNameLst>
                                      </p:cBhvr>
                                      <p:tavLst>
                                        <p:tav tm="0">
                                          <p:val>
                                            <p:strVal val="1+#ppt_h/2"/>
                                          </p:val>
                                        </p:tav>
                                        <p:tav tm="100000">
                                          <p:val>
                                            <p:strVal val="#ppt_y"/>
                                          </p:val>
                                        </p:tav>
                                      </p:tavLst>
                                    </p:anim>
                                  </p:childTnLst>
                                </p:cTn>
                              </p:par>
                            </p:childTnLst>
                          </p:cTn>
                        </p:par>
                        <p:par>
                          <p:cTn id="9" fill="hold">
                            <p:stCondLst>
                              <p:cond delay="19000"/>
                            </p:stCondLst>
                            <p:childTnLst>
                              <p:par>
                                <p:cTn id="10" presetID="10" presetClass="entr" presetSubtype="0" fill="hold" nodeType="after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fade">
                                      <p:cBhvr>
                                        <p:cTn id="12" dur="20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357158" y="1857364"/>
            <a:ext cx="8358246" cy="1384995"/>
          </a:xfrm>
          <a:prstGeom prst="rect">
            <a:avLst/>
          </a:prstGeom>
          <a:noFill/>
        </p:spPr>
        <p:txBody>
          <a:bodyPr wrap="square" rtlCol="0">
            <a:spAutoFit/>
          </a:bodyPr>
          <a:lstStyle/>
          <a:p>
            <a:pPr algn="ctr"/>
            <a:r>
              <a:rPr lang="pt-BR" sz="2800" dirty="0" smtClean="0">
                <a:effectLst>
                  <a:outerShdw blurRad="38100" dist="38100" dir="2700000" algn="tl">
                    <a:srgbClr val="000000">
                      <a:alpha val="43137"/>
                    </a:srgbClr>
                  </a:outerShdw>
                </a:effectLst>
                <a:latin typeface="FrancophilSans" pitchFamily="2" charset="0"/>
              </a:rPr>
              <a:t>Os nossos deveres para com Deus, com nós e nossos semelhantes, assim como tudo o que isso implica como a Pátria, a família, a sociedade, etc.</a:t>
            </a:r>
          </a:p>
        </p:txBody>
      </p:sp>
      <p:pic>
        <p:nvPicPr>
          <p:cNvPr id="3074" name="Picture 2" descr="Masonería: ciencia moral o hermoso sistema - DIARIO MASÓNICO PREMIUM"/>
          <p:cNvPicPr>
            <a:picLocks noChangeAspect="1" noChangeArrowheads="1"/>
          </p:cNvPicPr>
          <p:nvPr/>
        </p:nvPicPr>
        <p:blipFill>
          <a:blip r:embed="rId2"/>
          <a:srcRect t="5256"/>
          <a:stretch>
            <a:fillRect/>
          </a:stretch>
        </p:blipFill>
        <p:spPr bwMode="auto">
          <a:xfrm>
            <a:off x="1714480" y="3786190"/>
            <a:ext cx="5655735" cy="2713144"/>
          </a:xfrm>
          <a:prstGeom prst="rect">
            <a:avLst/>
          </a:prstGeom>
          <a:noFill/>
        </p:spPr>
      </p:pic>
      <p:pic>
        <p:nvPicPr>
          <p:cNvPr id="4"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childTnLst>
                          </p:cTn>
                        </p:par>
                        <p:par>
                          <p:cTn id="8" fill="hold">
                            <p:stCondLst>
                              <p:cond delay="2050"/>
                            </p:stCondLst>
                            <p:childTnLst>
                              <p:par>
                                <p:cTn id="9" presetID="10" presetClass="entr" presetSubtype="0" fill="hold" nodeType="afterEffect">
                                  <p:stCondLst>
                                    <p:cond delay="0"/>
                                  </p:stCondLst>
                                  <p:childTnLst>
                                    <p:set>
                                      <p:cBhvr>
                                        <p:cTn id="10" dur="1" fill="hold">
                                          <p:stCondLst>
                                            <p:cond delay="0"/>
                                          </p:stCondLst>
                                        </p:cTn>
                                        <p:tgtEl>
                                          <p:spTgt spid="3074"/>
                                        </p:tgtEl>
                                        <p:attrNameLst>
                                          <p:attrName>style.visibility</p:attrName>
                                        </p:attrNameLst>
                                      </p:cBhvr>
                                      <p:to>
                                        <p:strVal val="visible"/>
                                      </p:to>
                                    </p:set>
                                    <p:animEffect transition="in" filter="fade">
                                      <p:cBhvr>
                                        <p:cTn id="11"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357158" y="1868868"/>
            <a:ext cx="8429684"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 proposta não é criar uma </a:t>
            </a:r>
            <a:r>
              <a:rPr lang="pt-BR" sz="2800" dirty="0" err="1" smtClean="0">
                <a:effectLst>
                  <a:outerShdw blurRad="38100" dist="38100" dir="2700000" algn="tl">
                    <a:srgbClr val="000000">
                      <a:alpha val="43137"/>
                    </a:srgbClr>
                  </a:outerShdw>
                </a:effectLst>
                <a:latin typeface="FrancophilSans" pitchFamily="2" charset="0"/>
              </a:rPr>
              <a:t>Logia</a:t>
            </a:r>
            <a:r>
              <a:rPr lang="pt-BR" sz="2800" dirty="0" smtClean="0">
                <a:effectLst>
                  <a:outerShdw blurRad="38100" dist="38100" dir="2700000" algn="tl">
                    <a:srgbClr val="000000">
                      <a:alpha val="43137"/>
                    </a:srgbClr>
                  </a:outerShdw>
                </a:effectLst>
                <a:latin typeface="FrancophilSans" pitchFamily="2" charset="0"/>
              </a:rPr>
              <a:t> ou uma Grande </a:t>
            </a:r>
            <a:r>
              <a:rPr lang="pt-BR" sz="2800" dirty="0" err="1" smtClean="0">
                <a:effectLst>
                  <a:outerShdw blurRad="38100" dist="38100" dir="2700000" algn="tl">
                    <a:srgbClr val="000000">
                      <a:alpha val="43137"/>
                    </a:srgbClr>
                  </a:outerShdw>
                </a:effectLst>
                <a:latin typeface="FrancophilSans" pitchFamily="2" charset="0"/>
              </a:rPr>
              <a:t>Logia</a:t>
            </a:r>
            <a:r>
              <a:rPr lang="pt-BR" sz="2800" dirty="0" smtClean="0">
                <a:effectLst>
                  <a:outerShdw blurRad="38100" dist="38100" dir="2700000" algn="tl">
                    <a:srgbClr val="000000">
                      <a:alpha val="43137"/>
                    </a:srgbClr>
                  </a:outerShdw>
                </a:effectLst>
                <a:latin typeface="FrancophilSans" pitchFamily="2" charset="0"/>
              </a:rPr>
              <a:t>, ou um organismo próprio de algum Rito.</a:t>
            </a:r>
          </a:p>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É só criar uma das mais antigas formas de organização dos seres humanos, só que estará administrado e dirigido por maçons em suas duas estruturas; e a través dessa forma de organização, proceder a fazer maçonaria, pura e simplesmente isso, nada a mais, só isso.</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642910" y="2104148"/>
            <a:ext cx="7858180" cy="3539430"/>
          </a:xfrm>
          <a:prstGeom prst="rect">
            <a:avLst/>
          </a:prstGeom>
          <a:noFill/>
        </p:spPr>
        <p:txBody>
          <a:bodyPr wrap="square" rtlCol="0">
            <a:spAutoFit/>
          </a:bodyPr>
          <a:lstStyle/>
          <a:p>
            <a:pPr algn="ctr">
              <a:lnSpc>
                <a:spcPct val="200000"/>
              </a:lnSpc>
            </a:pPr>
            <a:r>
              <a:rPr lang="pt-BR" sz="2800" dirty="0" smtClean="0">
                <a:effectLst>
                  <a:outerShdw blurRad="38100" dist="38100" dir="2700000" algn="tl">
                    <a:srgbClr val="000000">
                      <a:alpha val="43137"/>
                    </a:srgbClr>
                  </a:outerShdw>
                </a:effectLst>
                <a:latin typeface="FrancophilSans" pitchFamily="2" charset="0"/>
              </a:rPr>
              <a:t>Se depois observamos que é preciso criar uma </a:t>
            </a:r>
            <a:r>
              <a:rPr lang="pt-BR" sz="2800" dirty="0" err="1" smtClean="0">
                <a:effectLst>
                  <a:outerShdw blurRad="38100" dist="38100" dir="2700000" algn="tl">
                    <a:srgbClr val="000000">
                      <a:alpha val="43137"/>
                    </a:srgbClr>
                  </a:outerShdw>
                </a:effectLst>
                <a:latin typeface="FrancophilSans" pitchFamily="2" charset="0"/>
              </a:rPr>
              <a:t>logia</a:t>
            </a:r>
            <a:r>
              <a:rPr lang="pt-BR" sz="2800" dirty="0" smtClean="0">
                <a:effectLst>
                  <a:outerShdw blurRad="38100" dist="38100" dir="2700000" algn="tl">
                    <a:srgbClr val="000000">
                      <a:alpha val="43137"/>
                    </a:srgbClr>
                  </a:outerShdw>
                </a:effectLst>
                <a:latin typeface="FrancophilSans" pitchFamily="2" charset="0"/>
              </a:rPr>
              <a:t>, então isso será outra coisa, mas no inicio será só fazer maçonaria desde sua qualidade filosófica e filantrópica, não institucional ou estrutural.</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after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0-#ppt_w/2"/>
                                          </p:val>
                                        </p:tav>
                                        <p:tav tm="100000">
                                          <p:val>
                                            <p:strVal val="#ppt_x"/>
                                          </p:val>
                                        </p:tav>
                                      </p:tavLst>
                                    </p:anim>
                                    <p:anim calcmode="lin" valueType="num">
                                      <p:cBhvr additive="base">
                                        <p:cTn id="8"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428596" y="1643050"/>
            <a:ext cx="8286808" cy="4616648"/>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Se vai dar certo ou não, isso vai depender de nossos esforços, mas uma coisa é segura, dando certo ou não, o importante é que estaremos dando o melhor de nós, estaremos colocando nosso grão de areia, nossa pedra nesse edifício que chamamos Templo de Salomão que é cada uma de nossas pátrias dessa república mundial, como falou o Cavaleiro </a:t>
            </a:r>
            <a:r>
              <a:rPr lang="pt-BR" sz="2800" dirty="0" err="1" smtClean="0">
                <a:effectLst>
                  <a:outerShdw blurRad="38100" dist="38100" dir="2700000" algn="tl">
                    <a:srgbClr val="000000">
                      <a:alpha val="43137"/>
                    </a:srgbClr>
                  </a:outerShdw>
                </a:effectLst>
                <a:latin typeface="FrancophilSans" pitchFamily="2" charset="0"/>
              </a:rPr>
              <a:t>Ramsay</a:t>
            </a:r>
            <a:r>
              <a:rPr lang="pt-BR" sz="2800" dirty="0" smtClean="0">
                <a:effectLst>
                  <a:outerShdw blurRad="38100" dist="38100" dir="2700000" algn="tl">
                    <a:srgbClr val="000000">
                      <a:alpha val="43137"/>
                    </a:srgbClr>
                  </a:outerShdw>
                </a:effectLst>
                <a:latin typeface="FrancophilSans" pitchFamily="2" charset="0"/>
              </a:rPr>
              <a:t> em aquele discurso seu.</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0" name="Picture 12" descr="Apenas Escrituras: &quot;Só sei que nada sei&quot; &quot;Conhece-te a ti mesmo&quot; - Sócrates"/>
          <p:cNvPicPr>
            <a:picLocks noChangeAspect="1" noChangeArrowheads="1"/>
          </p:cNvPicPr>
          <p:nvPr/>
        </p:nvPicPr>
        <p:blipFill>
          <a:blip r:embed="rId2">
            <a:duotone>
              <a:prstClr val="black"/>
              <a:schemeClr val="accent1">
                <a:lumMod val="75000"/>
                <a:tint val="45000"/>
                <a:satMod val="400000"/>
              </a:schemeClr>
            </a:duotone>
          </a:blip>
          <a:srcRect b="27083"/>
          <a:stretch>
            <a:fillRect/>
          </a:stretch>
        </p:blipFill>
        <p:spPr bwMode="auto">
          <a:xfrm rot="20813697">
            <a:off x="-212381" y="2559576"/>
            <a:ext cx="8456457" cy="3238404"/>
          </a:xfrm>
          <a:prstGeom prst="rect">
            <a:avLst/>
          </a:prstGeom>
          <a:ln>
            <a:noFill/>
          </a:ln>
          <a:effectLst>
            <a:outerShdw blurRad="190500" algn="tl" rotWithShape="0">
              <a:srgbClr val="000000">
                <a:alpha val="70000"/>
              </a:srgbClr>
            </a:outerShdw>
          </a:effectLst>
          <a:scene3d>
            <a:camera prst="perspectiveContrastingLeftFacing"/>
            <a:lightRig rig="threePt" dir="t"/>
          </a:scene3d>
        </p:spPr>
      </p:pic>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060"/>
                                        </p:tgtEl>
                                        <p:attrNameLst>
                                          <p:attrName>style.visibility</p:attrName>
                                        </p:attrNameLst>
                                      </p:cBhvr>
                                      <p:to>
                                        <p:strVal val="visible"/>
                                      </p:to>
                                    </p:set>
                                    <p:anim calcmode="lin" valueType="num">
                                      <p:cBhvr>
                                        <p:cTn id="7" dur="500" fill="hold"/>
                                        <p:tgtEl>
                                          <p:spTgt spid="2060"/>
                                        </p:tgtEl>
                                        <p:attrNameLst>
                                          <p:attrName>ppt_w</p:attrName>
                                        </p:attrNameLst>
                                      </p:cBhvr>
                                      <p:tavLst>
                                        <p:tav tm="0">
                                          <p:val>
                                            <p:fltVal val="0"/>
                                          </p:val>
                                        </p:tav>
                                        <p:tav tm="100000">
                                          <p:val>
                                            <p:strVal val="#ppt_w"/>
                                          </p:val>
                                        </p:tav>
                                      </p:tavLst>
                                    </p:anim>
                                    <p:anim calcmode="lin" valueType="num">
                                      <p:cBhvr>
                                        <p:cTn id="8" dur="500" fill="hold"/>
                                        <p:tgtEl>
                                          <p:spTgt spid="2060"/>
                                        </p:tgtEl>
                                        <p:attrNameLst>
                                          <p:attrName>ppt_h</p:attrName>
                                        </p:attrNameLst>
                                      </p:cBhvr>
                                      <p:tavLst>
                                        <p:tav tm="0">
                                          <p:val>
                                            <p:fltVal val="0"/>
                                          </p:val>
                                        </p:tav>
                                        <p:tav tm="100000">
                                          <p:val>
                                            <p:strVal val="#ppt_h"/>
                                          </p:val>
                                        </p:tav>
                                      </p:tavLst>
                                    </p:anim>
                                    <p:animEffect transition="in" filter="fade">
                                      <p:cBhvr>
                                        <p:cTn id="9"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8" name="Picture 30" descr="70 Mejores Frases Sobre La Filantropía - Expande Tu Mente"/>
          <p:cNvPicPr>
            <a:picLocks noChangeAspect="1" noChangeArrowheads="1"/>
          </p:cNvPicPr>
          <p:nvPr/>
        </p:nvPicPr>
        <p:blipFill>
          <a:blip r:embed="rId2">
            <a:duotone>
              <a:prstClr val="black"/>
              <a:schemeClr val="accent1">
                <a:tint val="45000"/>
                <a:satMod val="400000"/>
              </a:schemeClr>
            </a:duotone>
          </a:blip>
          <a:srcRect/>
          <a:stretch>
            <a:fillRect/>
          </a:stretch>
        </p:blipFill>
        <p:spPr bwMode="auto">
          <a:xfrm rot="502325">
            <a:off x="500792" y="2796455"/>
            <a:ext cx="8181324" cy="2571768"/>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5"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6" name="Picture 28" descr="Filantropía sin escala y sostenibilidad es como cualquier ot ..."/>
          <p:cNvPicPr>
            <a:picLocks noChangeAspect="1" noChangeArrowheads="1"/>
          </p:cNvPicPr>
          <p:nvPr/>
        </p:nvPicPr>
        <p:blipFill>
          <a:blip r:embed="rId2"/>
          <a:srcRect/>
          <a:stretch>
            <a:fillRect/>
          </a:stretch>
        </p:blipFill>
        <p:spPr bwMode="auto">
          <a:xfrm>
            <a:off x="714348" y="2285992"/>
            <a:ext cx="7843892" cy="34751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785786" y="2143116"/>
            <a:ext cx="7643866" cy="3492751"/>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Então, bem vindos a esta proposta, a esta empresa, a este projeto, a esta obra que esperamos construir com a ajuda de Deus a quem oferecemos a Gloria que possa ser alcançada, e com sua valiosa ajuda, assim como com das que de agora em diante, junte-se com o consentimento  de todos.</a:t>
            </a:r>
          </a:p>
        </p:txBody>
      </p:sp>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club.jpg"/>
          <p:cNvPicPr>
            <a:picLocks noChangeAspect="1"/>
          </p:cNvPicPr>
          <p:nvPr/>
        </p:nvPicPr>
        <p:blipFill>
          <a:blip r:embed="rId2"/>
          <a:stretch>
            <a:fillRect/>
          </a:stretch>
        </p:blipFill>
        <p:spPr>
          <a:xfrm>
            <a:off x="2857488" y="3357562"/>
            <a:ext cx="3226918" cy="818371"/>
          </a:xfrm>
          <a:prstGeom prst="rect">
            <a:avLst/>
          </a:prstGeom>
        </p:spPr>
      </p:pic>
      <p:pic>
        <p:nvPicPr>
          <p:cNvPr id="5" name="4 Imagen" descr="esperança.jpg"/>
          <p:cNvPicPr>
            <a:picLocks noChangeAspect="1"/>
          </p:cNvPicPr>
          <p:nvPr/>
        </p:nvPicPr>
        <p:blipFill>
          <a:blip r:embed="rId3"/>
          <a:stretch>
            <a:fillRect/>
          </a:stretch>
        </p:blipFill>
        <p:spPr>
          <a:xfrm>
            <a:off x="714348" y="4355912"/>
            <a:ext cx="7643866" cy="930476"/>
          </a:xfrm>
          <a:prstGeom prst="rect">
            <a:avLst/>
          </a:prstGeom>
        </p:spPr>
      </p:pic>
      <p:pic>
        <p:nvPicPr>
          <p:cNvPr id="8" name="7 Imagen" descr="contigo_siempre.jpg"/>
          <p:cNvPicPr>
            <a:picLocks noChangeAspect="1"/>
          </p:cNvPicPr>
          <p:nvPr/>
        </p:nvPicPr>
        <p:blipFill>
          <a:blip r:embed="rId4"/>
          <a:stretch>
            <a:fillRect/>
          </a:stretch>
        </p:blipFill>
        <p:spPr>
          <a:xfrm>
            <a:off x="2092569" y="1085655"/>
            <a:ext cx="4887425" cy="795758"/>
          </a:xfrm>
          <a:prstGeom prst="rect">
            <a:avLst/>
          </a:prstGeom>
        </p:spPr>
      </p:pic>
      <p:grpSp>
        <p:nvGrpSpPr>
          <p:cNvPr id="2" name="13 Grupo"/>
          <p:cNvGrpSpPr/>
          <p:nvPr/>
        </p:nvGrpSpPr>
        <p:grpSpPr>
          <a:xfrm>
            <a:off x="714348" y="1928802"/>
            <a:ext cx="7643866" cy="2273679"/>
            <a:chOff x="714348" y="1928802"/>
            <a:chExt cx="7643866" cy="2273679"/>
          </a:xfrm>
        </p:grpSpPr>
        <p:pic>
          <p:nvPicPr>
            <p:cNvPr id="11" name="10 Imagen" descr="isologo_der.jpg"/>
            <p:cNvPicPr>
              <a:picLocks noChangeAspect="1"/>
            </p:cNvPicPr>
            <p:nvPr/>
          </p:nvPicPr>
          <p:blipFill>
            <a:blip r:embed="rId5"/>
            <a:stretch>
              <a:fillRect/>
            </a:stretch>
          </p:blipFill>
          <p:spPr>
            <a:xfrm>
              <a:off x="714348" y="1928802"/>
              <a:ext cx="2071702" cy="2273679"/>
            </a:xfrm>
            <a:prstGeom prst="rect">
              <a:avLst/>
            </a:prstGeom>
          </p:spPr>
        </p:pic>
        <p:pic>
          <p:nvPicPr>
            <p:cNvPr id="12" name="11 Imagen" descr="isologo_izq.jpg"/>
            <p:cNvPicPr>
              <a:picLocks noChangeAspect="1"/>
            </p:cNvPicPr>
            <p:nvPr/>
          </p:nvPicPr>
          <p:blipFill>
            <a:blip r:embed="rId6"/>
            <a:stretch>
              <a:fillRect/>
            </a:stretch>
          </p:blipFill>
          <p:spPr>
            <a:xfrm>
              <a:off x="6286512" y="1928802"/>
              <a:ext cx="2071702" cy="2273679"/>
            </a:xfrm>
            <a:prstGeom prst="rect">
              <a:avLst/>
            </a:prstGeom>
          </p:spPr>
        </p:pic>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3" presetClass="entr" presetSubtype="16"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1928794" y="928670"/>
            <a:ext cx="5857916" cy="5632311"/>
          </a:xfrm>
          <a:prstGeom prst="rect">
            <a:avLst/>
          </a:prstGeom>
          <a:noFill/>
        </p:spPr>
        <p:txBody>
          <a:bodyPr wrap="square" rtlCol="0">
            <a:spAutoFit/>
          </a:bodyPr>
          <a:lstStyle/>
          <a:p>
            <a:pPr algn="r">
              <a:lnSpc>
                <a:spcPts val="3600"/>
              </a:lnSpc>
            </a:pPr>
            <a:r>
              <a:rPr lang="pt-BR" sz="2800" dirty="0" smtClean="0">
                <a:effectLst>
                  <a:outerShdw blurRad="38100" dist="38100" dir="2700000" algn="tl">
                    <a:srgbClr val="000000">
                      <a:alpha val="43137"/>
                    </a:srgbClr>
                  </a:outerShdw>
                </a:effectLst>
                <a:latin typeface="FrancophilSans" pitchFamily="2" charset="0"/>
              </a:rPr>
              <a:t>Proporcionar aos habitantes da freguesia onde o Clube se insere, as melhores ferramentas que lhes permitam alcançar o melhor conhecimento das suas potencialidades e capacidades, pontos fortes e competências, que lhes permitam adquirir, individualmente e em grupo, a confiança necessária que ajuda definir e alcançar objetivos pessoais e coletivos que melhorem e beneficiem suas condições de vida hoje.</a:t>
            </a:r>
          </a:p>
        </p:txBody>
      </p:sp>
      <p:pic>
        <p:nvPicPr>
          <p:cNvPr id="8" name="7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12" name="11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Missão:</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500430" y="1285860"/>
            <a:ext cx="4214842" cy="4541115"/>
          </a:xfrm>
          <a:prstGeom prst="rect">
            <a:avLst/>
          </a:prstGeom>
          <a:noFill/>
        </p:spPr>
        <p:txBody>
          <a:bodyPr wrap="square" rtlCol="0">
            <a:spAutoFit/>
          </a:bodyPr>
          <a:lstStyle/>
          <a:p>
            <a:pPr algn="r">
              <a:lnSpc>
                <a:spcPct val="150000"/>
              </a:lnSpc>
            </a:pPr>
            <a:r>
              <a:rPr lang="pt-BR" sz="2800" b="1" dirty="0" smtClean="0">
                <a:effectLst>
                  <a:outerShdw blurRad="38100" dist="38100" dir="2700000" algn="tl">
                    <a:srgbClr val="000000">
                      <a:alpha val="43137"/>
                    </a:srgbClr>
                  </a:outerShdw>
                </a:effectLst>
                <a:latin typeface="FrancophilSans" pitchFamily="2" charset="0"/>
              </a:rPr>
              <a:t>Ser, no mais curto espaço de tempo possível, o clube onde os habitantes da freguesia obtêm a esperança de um futuro melhor com base no seu próprio esforço.</a:t>
            </a: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Visão:</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143240" y="1071546"/>
            <a:ext cx="4786346" cy="5183599"/>
          </a:xfrm>
          <a:prstGeom prst="rect">
            <a:avLst/>
          </a:prstGeom>
          <a:noFill/>
        </p:spPr>
        <p:txBody>
          <a:bodyPr wrap="square" rtlCol="0">
            <a:spAutoFit/>
          </a:bodyPr>
          <a:lstStyle/>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Dar à sociedade brasileira motivos para se manter fiel à tradição republicana, pois é essa tradição que lhe permitirá não só manter a esperança de um futuro melhor, mas também alcançá-lo com esforço e dedicação.</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Sentido:</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2143108" y="805838"/>
            <a:ext cx="5643602" cy="5909310"/>
          </a:xfrm>
          <a:prstGeom prst="rect">
            <a:avLst/>
          </a:prstGeom>
          <a:noFill/>
        </p:spPr>
        <p:txBody>
          <a:bodyPr wrap="square" rtlCol="0">
            <a:spAutoFit/>
          </a:bodyPr>
          <a:lstStyle/>
          <a:p>
            <a:pPr algn="r">
              <a:lnSpc>
                <a:spcPct val="150000"/>
              </a:lnSpc>
            </a:pPr>
            <a:r>
              <a:rPr lang="pt-BR" sz="2800" u="dbl" dirty="0" smtClean="0">
                <a:effectLst>
                  <a:outerShdw blurRad="38100" dist="38100" dir="2700000" algn="tl">
                    <a:srgbClr val="000000">
                      <a:alpha val="43137"/>
                    </a:srgbClr>
                  </a:outerShdw>
                </a:effectLst>
                <a:latin typeface="FrancophilSans" pitchFamily="2" charset="0"/>
              </a:rPr>
              <a:t>Geral</a:t>
            </a:r>
            <a:r>
              <a:rPr lang="pt-BR" sz="2800" dirty="0" smtClean="0">
                <a:effectLst>
                  <a:outerShdw blurRad="38100" dist="38100" dir="2700000" algn="tl">
                    <a:srgbClr val="000000">
                      <a:alpha val="43137"/>
                    </a:srgbClr>
                  </a:outerShdw>
                </a:effectLst>
                <a:latin typeface="FrancophilSans" pitchFamily="2" charset="0"/>
              </a:rPr>
              <a:t>:</a:t>
            </a:r>
          </a:p>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Organizar socialmente (converter em sócios) os habitantes da freguesia.</a:t>
            </a:r>
          </a:p>
          <a:p>
            <a:pPr algn="r">
              <a:lnSpc>
                <a:spcPct val="150000"/>
              </a:lnSpc>
            </a:pPr>
            <a:r>
              <a:rPr lang="pt-BR" sz="2800" dirty="0" smtClean="0">
                <a:effectLst>
                  <a:outerShdw blurRad="38100" dist="38100" dir="2700000" algn="tl">
                    <a:srgbClr val="000000">
                      <a:alpha val="43137"/>
                    </a:srgbClr>
                  </a:outerShdw>
                </a:effectLst>
                <a:latin typeface="FrancophilSans" pitchFamily="2" charset="0"/>
              </a:rPr>
              <a:t>Esta organização seria feita seguindo as atividades mais relacionadas com os habitantes e de acordo com os aspectos: culturais, esportivos, artísticos, intelectuais, filosóficos, técnicos, etc., </a:t>
            </a: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214578"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Objetivos:</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0"/>
            <a:ext cx="8358214" cy="6878884"/>
          </a:xfrm>
          <a:prstGeom prst="rect">
            <a:avLst/>
          </a:prstGeom>
          <a:noFill/>
          <a:ln w="9525">
            <a:noFill/>
            <a:miter lim="800000"/>
            <a:headEnd/>
            <a:tailEnd/>
          </a:ln>
          <a:effectLst/>
        </p:spPr>
      </p:pic>
      <p:sp>
        <p:nvSpPr>
          <p:cNvPr id="6" name="5 CuadroTexto"/>
          <p:cNvSpPr txBox="1"/>
          <p:nvPr/>
        </p:nvSpPr>
        <p:spPr>
          <a:xfrm>
            <a:off x="3000364" y="1000108"/>
            <a:ext cx="5000660" cy="5286062"/>
          </a:xfrm>
          <a:prstGeom prst="rect">
            <a:avLst/>
          </a:prstGeom>
          <a:noFill/>
        </p:spPr>
        <p:txBody>
          <a:bodyPr wrap="square" rtlCol="0">
            <a:spAutoFit/>
          </a:bodyPr>
          <a:lstStyle/>
          <a:p>
            <a:pPr algn="r">
              <a:lnSpc>
                <a:spcPts val="4500"/>
              </a:lnSpc>
            </a:pPr>
            <a:r>
              <a:rPr lang="pt-BR" sz="2800" u="dbl" dirty="0" smtClean="0">
                <a:effectLst>
                  <a:outerShdw blurRad="38100" dist="38100" dir="2700000" algn="tl">
                    <a:srgbClr val="000000">
                      <a:alpha val="43137"/>
                    </a:srgbClr>
                  </a:outerShdw>
                </a:effectLst>
                <a:latin typeface="FrancophilSans" pitchFamily="2" charset="0"/>
              </a:rPr>
              <a:t>Específico</a:t>
            </a:r>
            <a:r>
              <a:rPr lang="pt-BR" sz="2800" dirty="0" smtClean="0">
                <a:effectLst>
                  <a:outerShdw blurRad="38100" dist="38100" dir="2700000" algn="tl">
                    <a:srgbClr val="000000">
                      <a:alpha val="43137"/>
                    </a:srgbClr>
                  </a:outerShdw>
                </a:effectLst>
                <a:latin typeface="FrancophilSans" pitchFamily="2" charset="0"/>
              </a:rPr>
              <a:t>: </a:t>
            </a:r>
          </a:p>
          <a:p>
            <a:pPr algn="r">
              <a:lnSpc>
                <a:spcPts val="4500"/>
              </a:lnSpc>
            </a:pPr>
            <a:r>
              <a:rPr lang="pt-BR" sz="2800" dirty="0" smtClean="0">
                <a:effectLst>
                  <a:outerShdw blurRad="38100" dist="38100" dir="2700000" algn="tl">
                    <a:srgbClr val="000000">
                      <a:alpha val="43137"/>
                    </a:srgbClr>
                  </a:outerShdw>
                </a:effectLst>
                <a:latin typeface="FrancophilSans" pitchFamily="2" charset="0"/>
              </a:rPr>
              <a:t>Portanto, os objetivos específicos são criar grupos esportivos, centros de arte, salas de leitura, centros avaliativos de orientação educativa e profissional, centros de tertúlias de filosóficas, oficinas de formação técnica, salas para foros sobre filmes, livros, etc.</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3" cstate="print"/>
          <a:stretch>
            <a:fillRect/>
          </a:stretch>
        </p:blipFill>
        <p:spPr>
          <a:xfrm>
            <a:off x="8143900" y="214290"/>
            <a:ext cx="715990" cy="785794"/>
          </a:xfrm>
          <a:prstGeom prst="rect">
            <a:avLst/>
          </a:prstGeom>
        </p:spPr>
      </p:pic>
      <p:sp>
        <p:nvSpPr>
          <p:cNvPr id="8" name="7 CuadroTexto"/>
          <p:cNvSpPr txBox="1"/>
          <p:nvPr/>
        </p:nvSpPr>
        <p:spPr>
          <a:xfrm>
            <a:off x="357158" y="214290"/>
            <a:ext cx="2286016"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Objetivos:</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857224" y="3165906"/>
            <a:ext cx="7358114" cy="2977738"/>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Cada um destes atividades devem ser produzidos desde a perspectiva organizacional e também geradora de fundos econômicos que permitiram os custos de funcionamento do </a:t>
            </a:r>
            <a:r>
              <a:rPr lang="pt-BR" sz="2800" dirty="0" err="1" smtClean="0">
                <a:effectLst>
                  <a:outerShdw blurRad="38100" dist="38100" dir="2700000" algn="tl">
                    <a:srgbClr val="000000">
                      <a:alpha val="43137"/>
                    </a:srgbClr>
                  </a:outerShdw>
                </a:effectLst>
                <a:latin typeface="FrancophilSans" pitchFamily="2" charset="0"/>
              </a:rPr>
              <a:t>Club</a:t>
            </a:r>
            <a:r>
              <a:rPr lang="pt-BR" sz="2800" dirty="0" smtClean="0">
                <a:effectLst>
                  <a:outerShdw blurRad="38100" dist="38100" dir="2700000" algn="tl">
                    <a:srgbClr val="000000">
                      <a:alpha val="43137"/>
                    </a:srgbClr>
                  </a:outerShdw>
                </a:effectLst>
                <a:latin typeface="FrancophilSans" pitchFamily="2" charset="0"/>
              </a:rPr>
              <a:t> tanto em sua estrutura privada como pública.</a:t>
            </a:r>
          </a:p>
        </p:txBody>
      </p:sp>
      <p:pic>
        <p:nvPicPr>
          <p:cNvPr id="4" name="3 Imagen" descr="Club_Esperança_Imagotipo_01.jpg"/>
          <p:cNvPicPr>
            <a:picLocks noChangeAspect="1"/>
          </p:cNvPicPr>
          <p:nvPr/>
        </p:nvPicPr>
        <p:blipFill>
          <a:blip r:embed="rId2" cstate="print"/>
          <a:stretch>
            <a:fillRect/>
          </a:stretch>
        </p:blipFill>
        <p:spPr>
          <a:xfrm>
            <a:off x="2716534" y="642919"/>
            <a:ext cx="3712854" cy="2000263"/>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571604" y="3357562"/>
            <a:ext cx="6143668" cy="2677656"/>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Isto é a grosso modo a proposta e o </a:t>
            </a:r>
            <a:r>
              <a:rPr lang="pt-BR" sz="2800" dirty="0" err="1" smtClean="0">
                <a:effectLst>
                  <a:outerShdw blurRad="38100" dist="38100" dir="2700000" algn="tl">
                    <a:srgbClr val="000000">
                      <a:alpha val="43137"/>
                    </a:srgbClr>
                  </a:outerShdw>
                </a:effectLst>
                <a:latin typeface="FrancophilSans" pitchFamily="2" charset="0"/>
              </a:rPr>
              <a:t>Club</a:t>
            </a:r>
            <a:r>
              <a:rPr lang="pt-BR" sz="2800" dirty="0" smtClean="0">
                <a:effectLst>
                  <a:outerShdw blurRad="38100" dist="38100" dir="2700000" algn="tl">
                    <a:srgbClr val="000000">
                      <a:alpha val="43137"/>
                    </a:srgbClr>
                  </a:outerShdw>
                </a:effectLst>
                <a:latin typeface="FrancophilSans" pitchFamily="2" charset="0"/>
              </a:rPr>
              <a:t>.</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Os detalhes já estão adiantados e só serão trabalhados pelos que agora decidam formar parte dele.</a:t>
            </a:r>
          </a:p>
        </p:txBody>
      </p:sp>
      <p:pic>
        <p:nvPicPr>
          <p:cNvPr id="5" name="4 Imagen" descr="Club_Esperança_Imagotipo_01.jpg"/>
          <p:cNvPicPr>
            <a:picLocks noChangeAspect="1"/>
          </p:cNvPicPr>
          <p:nvPr/>
        </p:nvPicPr>
        <p:blipFill>
          <a:blip r:embed="rId2" cstate="print"/>
          <a:stretch>
            <a:fillRect/>
          </a:stretch>
        </p:blipFill>
        <p:spPr>
          <a:xfrm>
            <a:off x="2716534" y="642919"/>
            <a:ext cx="3712854" cy="2000263"/>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14 CuadroTexto"/>
          <p:cNvSpPr txBox="1"/>
          <p:nvPr/>
        </p:nvSpPr>
        <p:spPr>
          <a:xfrm>
            <a:off x="1571604" y="3214686"/>
            <a:ext cx="6000792" cy="2677656"/>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Podem levantar a mão e perguntar pelas dúvidas, as inquietudes, as confusões e expressar seu desejo de formar parte do equipe fundador.</a:t>
            </a:r>
          </a:p>
        </p:txBody>
      </p:sp>
      <p:pic>
        <p:nvPicPr>
          <p:cNvPr id="4" name="3 Imagen" descr="Club_Esperança_Imagotipo_01.jpg"/>
          <p:cNvPicPr>
            <a:picLocks noChangeAspect="1"/>
          </p:cNvPicPr>
          <p:nvPr/>
        </p:nvPicPr>
        <p:blipFill>
          <a:blip r:embed="rId2" cstate="print"/>
          <a:stretch>
            <a:fillRect/>
          </a:stretch>
        </p:blipFill>
        <p:spPr>
          <a:xfrm>
            <a:off x="2716534" y="642919"/>
            <a:ext cx="3712854" cy="2000263"/>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3000364" y="2714620"/>
            <a:ext cx="3071834" cy="923330"/>
          </a:xfrm>
          <a:prstGeom prst="rect">
            <a:avLst/>
          </a:prstGeom>
          <a:noFill/>
        </p:spPr>
        <p:txBody>
          <a:bodyPr wrap="square" rtlCol="0">
            <a:spAutoFit/>
          </a:bodyPr>
          <a:lstStyle/>
          <a:p>
            <a:pPr algn="ctr"/>
            <a:r>
              <a:rPr lang="pt-BR" sz="5400" b="1" dirty="0" smtClean="0">
                <a:effectLst>
                  <a:outerShdw blurRad="38100" dist="38100" dir="2700000" algn="tl">
                    <a:srgbClr val="000000">
                      <a:alpha val="43137"/>
                    </a:srgbClr>
                  </a:outerShdw>
                </a:effectLst>
                <a:latin typeface="FrancophilSans" pitchFamily="2" charset="0"/>
              </a:rPr>
              <a:t>GRACIAS </a:t>
            </a:r>
            <a:endParaRPr lang="pt-BR" sz="5400" b="1" dirty="0">
              <a:effectLst>
                <a:outerShdw blurRad="38100" dist="38100" dir="2700000" algn="tl">
                  <a:srgbClr val="000000">
                    <a:alpha val="43137"/>
                  </a:srgbClr>
                </a:outerShdw>
              </a:effectLst>
              <a:latin typeface="FrancophilSans" pitchFamily="2"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571472" y="2819657"/>
            <a:ext cx="8072494" cy="3323987"/>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Missão: Proporcionar aos habitantes da freguesia onde o Clube se insere, as melhores ferramentas que lhes permitam alcançar o melhor conhecimento das suas potencialidades e capacidades, pontos fortes e competências, que lhes permitam adquirir, individualmente e em grupo, a confiança necessária que ajuda definir e alcançar objetivos pessoais e coletivos que melhorem e beneficiem suas condições de vida hoje.</a:t>
            </a:r>
          </a:p>
        </p:txBody>
      </p:sp>
      <p:pic>
        <p:nvPicPr>
          <p:cNvPr id="7" name="6 Imagen" descr="Club_Esperança_Imagotipo_01.jpg"/>
          <p:cNvPicPr>
            <a:picLocks noChangeAspect="1"/>
          </p:cNvPicPr>
          <p:nvPr/>
        </p:nvPicPr>
        <p:blipFill>
          <a:blip r:embed="rId2" cstate="print"/>
          <a:stretch>
            <a:fillRect/>
          </a:stretch>
        </p:blipFill>
        <p:spPr>
          <a:xfrm>
            <a:off x="2716534" y="428604"/>
            <a:ext cx="3712854" cy="2000263"/>
          </a:xfrm>
          <a:prstGeom prst="rect">
            <a:avLst/>
          </a:prstGeom>
        </p:spPr>
      </p:pic>
      <p:pic>
        <p:nvPicPr>
          <p:cNvPr id="8" name="7 Imagen" descr="isologo_der.jpg"/>
          <p:cNvPicPr>
            <a:picLocks noChangeAspect="1"/>
          </p:cNvPicPr>
          <p:nvPr/>
        </p:nvPicPr>
        <p:blipFill>
          <a:blip r:embed="rId3" cstate="print"/>
          <a:stretch>
            <a:fillRect/>
          </a:stretch>
        </p:blipFill>
        <p:spPr>
          <a:xfrm>
            <a:off x="0" y="5657088"/>
            <a:ext cx="1094232" cy="1200912"/>
          </a:xfrm>
          <a:prstGeom prst="rect">
            <a:avLst/>
          </a:prstGeom>
        </p:spPr>
      </p:pic>
      <p:pic>
        <p:nvPicPr>
          <p:cNvPr id="9" name="8 Imagen" descr="isologo_izq.jpg"/>
          <p:cNvPicPr>
            <a:picLocks noChangeAspect="1"/>
          </p:cNvPicPr>
          <p:nvPr/>
        </p:nvPicPr>
        <p:blipFill>
          <a:blip r:embed="rId4" cstate="print"/>
          <a:stretch>
            <a:fillRect/>
          </a:stretch>
        </p:blipFill>
        <p:spPr>
          <a:xfrm>
            <a:off x="8049768" y="5657088"/>
            <a:ext cx="1094232" cy="1200912"/>
          </a:xfrm>
          <a:prstGeom prst="rect">
            <a:avLst/>
          </a:prstGeom>
        </p:spPr>
      </p:pic>
      <p:pic>
        <p:nvPicPr>
          <p:cNvPr id="10" name="9 Imagen" descr="isologo_der 2.jpg"/>
          <p:cNvPicPr>
            <a:picLocks noChangeAspect="1"/>
          </p:cNvPicPr>
          <p:nvPr/>
        </p:nvPicPr>
        <p:blipFill>
          <a:blip r:embed="rId5" cstate="print"/>
          <a:stretch>
            <a:fillRect/>
          </a:stretch>
        </p:blipFill>
        <p:spPr>
          <a:xfrm>
            <a:off x="122664" y="118864"/>
            <a:ext cx="1877568" cy="2167128"/>
          </a:xfrm>
          <a:prstGeom prst="rect">
            <a:avLst/>
          </a:prstGeom>
        </p:spPr>
      </p:pic>
      <p:pic>
        <p:nvPicPr>
          <p:cNvPr id="11" name="10 Imagen" descr="isologo_izq 2.jpg"/>
          <p:cNvPicPr>
            <a:picLocks noChangeAspect="1"/>
          </p:cNvPicPr>
          <p:nvPr/>
        </p:nvPicPr>
        <p:blipFill>
          <a:blip r:embed="rId6" cstate="print"/>
          <a:stretch>
            <a:fillRect/>
          </a:stretch>
        </p:blipFill>
        <p:spPr>
          <a:xfrm>
            <a:off x="7143768" y="118864"/>
            <a:ext cx="1874520" cy="2167128"/>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4" name="3 Imagen" descr="g.gif"/>
          <p:cNvPicPr>
            <a:picLocks noChangeAspect="1"/>
          </p:cNvPicPr>
          <p:nvPr/>
        </p:nvPicPr>
        <p:blipFill>
          <a:blip r:embed="rId3"/>
          <a:stretch>
            <a:fillRect/>
          </a:stretch>
        </p:blipFill>
        <p:spPr>
          <a:xfrm>
            <a:off x="214282" y="142852"/>
            <a:ext cx="785818" cy="785818"/>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4 Imagen" descr="g.gif"/>
          <p:cNvPicPr>
            <a:picLocks noChangeAspect="1"/>
          </p:cNvPicPr>
          <p:nvPr/>
        </p:nvPicPr>
        <p:blipFill>
          <a:blip r:embed="rId2"/>
          <a:stretch>
            <a:fillRect/>
          </a:stretch>
        </p:blipFill>
        <p:spPr>
          <a:xfrm>
            <a:off x="214282" y="142852"/>
            <a:ext cx="785818" cy="785818"/>
          </a:xfrm>
          <a:prstGeom prst="rect">
            <a:avLst/>
          </a:prstGeom>
        </p:spPr>
      </p:pic>
      <p:sp>
        <p:nvSpPr>
          <p:cNvPr id="14338" name="AutoShape 2"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0" name="AutoShape 4"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2" name="AutoShape 6" descr="Five Statistics About Freemasonry in America that Every Mason Needs to Know"/>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
        <p:nvSpPr>
          <p:cNvPr id="14347" name="AutoShape 11" descr="Benjamin Franklin - a famous Freemas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pt-B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0"/>
          <p:cNvPicPr>
            <a:picLocks noChangeAspect="1" noChangeArrowheads="1"/>
          </p:cNvPicPr>
          <p:nvPr/>
        </p:nvPicPr>
        <p:blipFill>
          <a:blip r:embed="rId2"/>
          <a:srcRect/>
          <a:stretch>
            <a:fillRect/>
          </a:stretch>
        </p:blipFill>
        <p:spPr bwMode="auto">
          <a:xfrm>
            <a:off x="0" y="-1"/>
            <a:ext cx="9144000" cy="1428737"/>
          </a:xfrm>
          <a:prstGeom prst="rect">
            <a:avLst/>
          </a:prstGeom>
          <a:noFill/>
          <a:ln w="9525">
            <a:noFill/>
            <a:miter lim="800000"/>
            <a:headEnd/>
            <a:tailEnd/>
          </a:ln>
          <a:effectLst/>
        </p:spPr>
      </p:pic>
      <p:pic>
        <p:nvPicPr>
          <p:cNvPr id="32770" name="Picture 2"/>
          <p:cNvPicPr>
            <a:picLocks noChangeAspect="1" noChangeArrowheads="1"/>
          </p:cNvPicPr>
          <p:nvPr/>
        </p:nvPicPr>
        <p:blipFill>
          <a:blip r:embed="rId3" cstate="print"/>
          <a:srcRect t="21800" r="2430"/>
          <a:stretch>
            <a:fillRect/>
          </a:stretch>
        </p:blipFill>
        <p:spPr bwMode="auto">
          <a:xfrm>
            <a:off x="0" y="2786058"/>
            <a:ext cx="9144000" cy="4071943"/>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fade">
                                      <p:cBhvr>
                                        <p:cTn id="7" dur="20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4238</TotalTime>
  <Words>1913</Words>
  <Application>Microsoft Office PowerPoint</Application>
  <PresentationFormat>Presentación en pantalla (4:3)</PresentationFormat>
  <Paragraphs>66</Paragraphs>
  <Slides>59</Slides>
  <Notes>1</Notes>
  <HiddenSlides>0</HiddenSlides>
  <MMClips>0</MMClips>
  <ScaleCrop>false</ScaleCrop>
  <HeadingPairs>
    <vt:vector size="4" baseType="variant">
      <vt:variant>
        <vt:lpstr>Tema</vt:lpstr>
      </vt:variant>
      <vt:variant>
        <vt:i4>1</vt:i4>
      </vt:variant>
      <vt:variant>
        <vt:lpstr>Títulos de diapositiva</vt:lpstr>
      </vt:variant>
      <vt:variant>
        <vt:i4>59</vt:i4>
      </vt:variant>
    </vt:vector>
  </HeadingPairs>
  <TitlesOfParts>
    <vt:vector size="60"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Diapositiva 54</vt:lpstr>
      <vt:lpstr>Diapositiva 55</vt:lpstr>
      <vt:lpstr>Diapositiva 56</vt:lpstr>
      <vt:lpstr>Diapositiva 57</vt:lpstr>
      <vt:lpstr>Diapositiva 58</vt:lpstr>
      <vt:lpstr>Diapositiva 59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HD</dc:creator>
  <cp:lastModifiedBy>HD</cp:lastModifiedBy>
  <cp:revision>279</cp:revision>
  <dcterms:created xsi:type="dcterms:W3CDTF">2023-01-27T12:40:26Z</dcterms:created>
  <dcterms:modified xsi:type="dcterms:W3CDTF">2023-02-03T01:37:06Z</dcterms:modified>
</cp:coreProperties>
</file>