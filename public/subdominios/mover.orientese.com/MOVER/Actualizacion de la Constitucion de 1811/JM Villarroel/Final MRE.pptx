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3" r:id="rId4"/>
    <p:sldId id="264" r:id="rId5"/>
    <p:sldId id="261" r:id="rId6"/>
    <p:sldId id="265" r:id="rId7"/>
    <p:sldId id="262" r:id="rId8"/>
    <p:sldId id="266" r:id="rId9"/>
    <p:sldId id="260" r:id="rId10"/>
    <p:sldId id="282" r:id="rId11"/>
    <p:sldId id="267" r:id="rId12"/>
    <p:sldId id="280" r:id="rId13"/>
    <p:sldId id="268" r:id="rId14"/>
    <p:sldId id="269" r:id="rId15"/>
    <p:sldId id="271" r:id="rId16"/>
    <p:sldId id="270" r:id="rId17"/>
    <p:sldId id="272" r:id="rId18"/>
    <p:sldId id="273" r:id="rId19"/>
    <p:sldId id="274" r:id="rId20"/>
    <p:sldId id="279" r:id="rId21"/>
    <p:sldId id="259" r:id="rId22"/>
    <p:sldId id="278" r:id="rId23"/>
    <p:sldId id="276" r:id="rId24"/>
    <p:sldId id="277" r:id="rId25"/>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760" autoAdjust="0"/>
    <p:restoredTop sz="94660"/>
  </p:normalViewPr>
  <p:slideViewPr>
    <p:cSldViewPr>
      <p:cViewPr varScale="1">
        <p:scale>
          <a:sx n="86" d="100"/>
          <a:sy n="86" d="100"/>
        </p:scale>
        <p:origin x="-108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pt-B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7" name="6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8" name="7 Marcador de pie de página"/>
          <p:cNvSpPr>
            <a:spLocks noGrp="1"/>
          </p:cNvSpPr>
          <p:nvPr>
            <p:ph type="ftr" sz="quarter" idx="11"/>
          </p:nvPr>
        </p:nvSpPr>
        <p:spPr/>
        <p:txBody>
          <a:bodyPr/>
          <a:lstStyle/>
          <a:p>
            <a:endParaRPr lang="pt-BR"/>
          </a:p>
        </p:txBody>
      </p:sp>
      <p:sp>
        <p:nvSpPr>
          <p:cNvPr id="9" name="8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4" name="3 Marcador de pie de página"/>
          <p:cNvSpPr>
            <a:spLocks noGrp="1"/>
          </p:cNvSpPr>
          <p:nvPr>
            <p:ph type="ftr" sz="quarter" idx="11"/>
          </p:nvPr>
        </p:nvSpPr>
        <p:spPr/>
        <p:txBody>
          <a:bodyPr/>
          <a:lstStyle/>
          <a:p>
            <a:endParaRPr lang="pt-BR"/>
          </a:p>
        </p:txBody>
      </p:sp>
      <p:sp>
        <p:nvSpPr>
          <p:cNvPr id="5" name="4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3" name="2 Marcador de pie de página"/>
          <p:cNvSpPr>
            <a:spLocks noGrp="1"/>
          </p:cNvSpPr>
          <p:nvPr>
            <p:ph type="ftr" sz="quarter" idx="11"/>
          </p:nvPr>
        </p:nvSpPr>
        <p:spPr/>
        <p:txBody>
          <a:bodyPr/>
          <a:lstStyle/>
          <a:p>
            <a:endParaRPr lang="pt-BR"/>
          </a:p>
        </p:txBody>
      </p:sp>
      <p:sp>
        <p:nvSpPr>
          <p:cNvPr id="4" name="3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pt-B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pt-B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25/10/2023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2A1A84-916D-4CCF-B9F0-BA8E3A805657}" type="datetimeFigureOut">
              <a:rPr lang="pt-BR" smtClean="0"/>
              <a:pPr/>
              <a:t>25/10/2023</a:t>
            </a:fld>
            <a:endParaRPr lang="pt-B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F1A87-29B9-445C-A527-D8A232FB1C03}"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p:cNvPicPr>
            <a:picLocks noChangeAspect="1" noChangeArrowheads="1"/>
          </p:cNvPicPr>
          <p:nvPr/>
        </p:nvPicPr>
        <p:blipFill>
          <a:blip r:embed="rId2"/>
          <a:srcRect/>
          <a:stretch>
            <a:fillRect/>
          </a:stretch>
        </p:blipFill>
        <p:spPr bwMode="auto">
          <a:xfrm>
            <a:off x="408741" y="113360"/>
            <a:ext cx="8378101" cy="4030020"/>
          </a:xfrm>
          <a:prstGeom prst="rect">
            <a:avLst/>
          </a:prstGeom>
          <a:noFill/>
          <a:ln w="9525">
            <a:noFill/>
            <a:miter lim="800000"/>
            <a:headEnd/>
            <a:tailEnd/>
          </a:ln>
          <a:effectLst/>
        </p:spPr>
      </p:pic>
      <p:sp>
        <p:nvSpPr>
          <p:cNvPr id="21" name="20 Rectángulo"/>
          <p:cNvSpPr/>
          <p:nvPr/>
        </p:nvSpPr>
        <p:spPr>
          <a:xfrm>
            <a:off x="571440" y="4278491"/>
            <a:ext cx="8072526" cy="507831"/>
          </a:xfrm>
          <a:prstGeom prst="rect">
            <a:avLst/>
          </a:prstGeom>
          <a:effectLst>
            <a:outerShdw blurRad="50800" dist="38100" dir="2700000" algn="tl" rotWithShape="0">
              <a:schemeClr val="tx1">
                <a:alpha val="50000"/>
              </a:schemeClr>
            </a:outerShdw>
          </a:effectLst>
        </p:spPr>
        <p:txBody>
          <a:bodyPr wrap="square">
            <a:spAutoFit/>
          </a:bodyPr>
          <a:lstStyle/>
          <a:p>
            <a:pPr algn="ctr"/>
            <a:r>
              <a:rPr lang="es-ES" sz="2700" dirty="0" smtClean="0">
                <a:ln w="18415" cmpd="sng">
                  <a:noFill/>
                  <a:prstDash val="solid"/>
                </a:ln>
                <a:latin typeface="Book Antiqua" pitchFamily="18" charset="0"/>
              </a:rPr>
              <a:t>En armonía, las pequeñas cosas crecen.</a:t>
            </a:r>
          </a:p>
        </p:txBody>
      </p:sp>
      <p:pic>
        <p:nvPicPr>
          <p:cNvPr id="4" name="3 Imagen" descr="logo mover horizontal.JPG"/>
          <p:cNvPicPr>
            <a:picLocks noChangeAspect="1"/>
          </p:cNvPicPr>
          <p:nvPr/>
        </p:nvPicPr>
        <p:blipFill>
          <a:blip r:embed="rId3" cstate="print"/>
          <a:stretch>
            <a:fillRect/>
          </a:stretch>
        </p:blipFill>
        <p:spPr>
          <a:xfrm>
            <a:off x="1500166" y="5060967"/>
            <a:ext cx="6217920" cy="1582743"/>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Effect transition="in" filter="fade">
                                      <p:cBhvr>
                                        <p:cTn id="7" dur="1000"/>
                                        <p:tgtEl>
                                          <p:spTgt spid="1036"/>
                                        </p:tgtEl>
                                      </p:cBhvr>
                                    </p:animEffect>
                                    <p:anim calcmode="lin" valueType="num">
                                      <p:cBhvr>
                                        <p:cTn id="8" dur="1000" fill="hold"/>
                                        <p:tgtEl>
                                          <p:spTgt spid="1036"/>
                                        </p:tgtEl>
                                        <p:attrNameLst>
                                          <p:attrName>ppt_x</p:attrName>
                                        </p:attrNameLst>
                                      </p:cBhvr>
                                      <p:tavLst>
                                        <p:tav tm="0">
                                          <p:val>
                                            <p:strVal val="#ppt_x"/>
                                          </p:val>
                                        </p:tav>
                                        <p:tav tm="100000">
                                          <p:val>
                                            <p:strVal val="#ppt_x"/>
                                          </p:val>
                                        </p:tav>
                                      </p:tavLst>
                                    </p:anim>
                                    <p:anim calcmode="lin" valueType="num">
                                      <p:cBhvr>
                                        <p:cTn id="9" dur="1000" fill="hold"/>
                                        <p:tgtEl>
                                          <p:spTgt spid="1036"/>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000"/>
                                        <p:tgtEl>
                                          <p:spTgt spid="21"/>
                                        </p:tgtEl>
                                      </p:cBhvr>
                                    </p:animEffect>
                                  </p:childTnLst>
                                </p:cTn>
                              </p:par>
                            </p:childTnLst>
                          </p:cTn>
                        </p:par>
                        <p:par>
                          <p:cTn id="13" fill="hold">
                            <p:stCondLst>
                              <p:cond delay="2000"/>
                            </p:stCondLst>
                            <p:childTnLst>
                              <p:par>
                                <p:cTn id="14" presetID="53"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2000" fill="hold"/>
                                        <p:tgtEl>
                                          <p:spTgt spid="4"/>
                                        </p:tgtEl>
                                        <p:attrNameLst>
                                          <p:attrName>ppt_w</p:attrName>
                                        </p:attrNameLst>
                                      </p:cBhvr>
                                      <p:tavLst>
                                        <p:tav tm="0">
                                          <p:val>
                                            <p:fltVal val="0"/>
                                          </p:val>
                                        </p:tav>
                                        <p:tav tm="100000">
                                          <p:val>
                                            <p:strVal val="#ppt_w"/>
                                          </p:val>
                                        </p:tav>
                                      </p:tavLst>
                                    </p:anim>
                                    <p:anim calcmode="lin" valueType="num">
                                      <p:cBhvr>
                                        <p:cTn id="17" dur="2000" fill="hold"/>
                                        <p:tgtEl>
                                          <p:spTgt spid="4"/>
                                        </p:tgtEl>
                                        <p:attrNameLst>
                                          <p:attrName>ppt_h</p:attrName>
                                        </p:attrNameLst>
                                      </p:cBhvr>
                                      <p:tavLst>
                                        <p:tav tm="0">
                                          <p:val>
                                            <p:fltVal val="0"/>
                                          </p:val>
                                        </p:tav>
                                        <p:tav tm="100000">
                                          <p:val>
                                            <p:strVal val="#ppt_h"/>
                                          </p:val>
                                        </p:tav>
                                      </p:tavLst>
                                    </p:anim>
                                    <p:animEffect transition="in" filter="fade">
                                      <p:cBhvr>
                                        <p:cTn id="18"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785786" y="642918"/>
            <a:ext cx="7572428" cy="4501232"/>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Venezuela ha sido destruida tan profundamente, que su recuperación amerita de un proceso que implica dos </a:t>
            </a:r>
            <a:r>
              <a:rPr lang="es-ES" sz="2300" dirty="0" smtClean="0">
                <a:ln w="18415" cmpd="sng">
                  <a:noFill/>
                  <a:prstDash val="solid"/>
                </a:ln>
                <a:effectLst/>
                <a:latin typeface="Book Antiqua" pitchFamily="18" charset="0"/>
              </a:rPr>
              <a:t>“cosas” </a:t>
            </a:r>
            <a:r>
              <a:rPr lang="es-ES" sz="2300" dirty="0" smtClean="0">
                <a:ln w="18415" cmpd="sng">
                  <a:noFill/>
                  <a:prstDash val="solid"/>
                </a:ln>
                <a:effectLst/>
                <a:latin typeface="Book Antiqua" pitchFamily="18" charset="0"/>
              </a:rPr>
              <a:t>fundamentales y complementarias una de la otra, </a:t>
            </a:r>
            <a:r>
              <a:rPr lang="es-ES" sz="2300" dirty="0" smtClean="0">
                <a:ln w="18415" cmpd="sng">
                  <a:noFill/>
                  <a:prstDash val="solid"/>
                </a:ln>
                <a:effectLst/>
                <a:latin typeface="Book Antiqua" pitchFamily="18" charset="0"/>
              </a:rPr>
              <a:t>dado que </a:t>
            </a:r>
            <a:r>
              <a:rPr lang="es-ES" sz="2300" dirty="0" smtClean="0">
                <a:ln w="18415" cmpd="sng">
                  <a:noFill/>
                  <a:prstDash val="solid"/>
                </a:ln>
                <a:effectLst/>
                <a:latin typeface="Book Antiqua" pitchFamily="18" charset="0"/>
              </a:rPr>
              <a:t>son parte </a:t>
            </a:r>
            <a:r>
              <a:rPr lang="es-ES" sz="2300" dirty="0" smtClean="0">
                <a:ln w="18415" cmpd="sng">
                  <a:noFill/>
                  <a:prstDash val="solid"/>
                </a:ln>
                <a:effectLst/>
                <a:latin typeface="Book Antiqua" pitchFamily="18" charset="0"/>
              </a:rPr>
              <a:t>del </a:t>
            </a:r>
            <a:r>
              <a:rPr lang="es-ES" sz="2300" dirty="0" smtClean="0">
                <a:ln w="18415" cmpd="sng">
                  <a:noFill/>
                  <a:prstDash val="solid"/>
                </a:ln>
                <a:effectLst/>
                <a:latin typeface="Book Antiqua" pitchFamily="18" charset="0"/>
              </a:rPr>
              <a:t>mismo proceso:</a:t>
            </a:r>
          </a:p>
          <a:p>
            <a:pPr algn="ctr">
              <a:lnSpc>
                <a:spcPct val="150000"/>
              </a:lnSpc>
              <a:spcAft>
                <a:spcPts val="1800"/>
              </a:spcAft>
            </a:pPr>
            <a:endParaRPr lang="es-ES" sz="2300" dirty="0" smtClean="0">
              <a:ln w="18415" cmpd="sng">
                <a:noFill/>
                <a:prstDash val="solid"/>
              </a:ln>
              <a:effectLst/>
              <a:latin typeface="Book Antiqua" pitchFamily="18" charset="0"/>
            </a:endParaRPr>
          </a:p>
          <a:p>
            <a:pPr algn="ctr">
              <a:lnSpc>
                <a:spcPct val="150000"/>
              </a:lnSpc>
              <a:spcAft>
                <a:spcPts val="1800"/>
              </a:spcAft>
            </a:pPr>
            <a:r>
              <a:rPr lang="es-ES" sz="2300" dirty="0" smtClean="0">
                <a:ln w="18415" cmpd="sng">
                  <a:noFill/>
                  <a:prstDash val="solid"/>
                </a:ln>
                <a:effectLst/>
                <a:latin typeface="Book Antiqua" pitchFamily="18" charset="0"/>
              </a:rPr>
              <a:t>LA RECUPERACIÓN DE LA PATRIA Y </a:t>
            </a:r>
          </a:p>
          <a:p>
            <a:pPr algn="ctr">
              <a:lnSpc>
                <a:spcPct val="150000"/>
              </a:lnSpc>
              <a:spcAft>
                <a:spcPts val="1800"/>
              </a:spcAft>
            </a:pPr>
            <a:r>
              <a:rPr lang="es-ES" sz="2300" dirty="0" smtClean="0">
                <a:ln w="18415" cmpd="sng">
                  <a:noFill/>
                  <a:prstDash val="solid"/>
                </a:ln>
                <a:effectLst/>
                <a:latin typeface="Book Antiqua" pitchFamily="18" charset="0"/>
              </a:rPr>
              <a:t>LA </a:t>
            </a:r>
            <a:r>
              <a:rPr lang="es-ES" sz="2300" dirty="0" smtClean="0">
                <a:ln w="18415" cmpd="sng">
                  <a:noFill/>
                  <a:prstDash val="solid"/>
                </a:ln>
                <a:effectLst/>
                <a:latin typeface="Book Antiqua" pitchFamily="18" charset="0"/>
              </a:rPr>
              <a:t>REFUNDACIÓN DE LA REPÚBLICA.</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00100" y="571480"/>
            <a:ext cx="7500990" cy="2925353"/>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Una cosa sin la otra no va a funcionar bien </a:t>
            </a:r>
            <a:r>
              <a:rPr lang="es-ES" sz="2300" dirty="0" smtClean="0">
                <a:ln w="18415" cmpd="sng">
                  <a:noFill/>
                  <a:prstDash val="solid"/>
                </a:ln>
                <a:effectLst/>
                <a:latin typeface="Book Antiqua" pitchFamily="18" charset="0"/>
              </a:rPr>
              <a:t>ninguna.</a:t>
            </a:r>
          </a:p>
          <a:p>
            <a:pPr algn="ctr">
              <a:lnSpc>
                <a:spcPct val="150000"/>
              </a:lnSpc>
              <a:spcAft>
                <a:spcPts val="1800"/>
              </a:spcAft>
            </a:pPr>
            <a:r>
              <a:rPr lang="es-ES" sz="2300" dirty="0" smtClean="0">
                <a:ln w="18415" cmpd="sng">
                  <a:noFill/>
                  <a:prstDash val="solid"/>
                </a:ln>
                <a:effectLst/>
                <a:latin typeface="Book Antiqua" pitchFamily="18" charset="0"/>
              </a:rPr>
              <a:t>Si </a:t>
            </a:r>
            <a:r>
              <a:rPr lang="es-ES" sz="2300" dirty="0" smtClean="0">
                <a:ln w="18415" cmpd="sng">
                  <a:noFill/>
                  <a:prstDash val="solid"/>
                </a:ln>
                <a:effectLst/>
                <a:latin typeface="Book Antiqua" pitchFamily="18" charset="0"/>
              </a:rPr>
              <a:t>solo se recupera la patria sin que la república sea refundada las fallas continuarán; y si se refunda la república sin que se recupere la patria, la misma será una farsa como hasta ahora es.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714480" y="428604"/>
            <a:ext cx="5857916" cy="4518096"/>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Ambas deben realizarse de manera conjunta y armonizada, pues, se complementan la una con la otra.</a:t>
            </a:r>
          </a:p>
          <a:p>
            <a:pPr algn="ctr">
              <a:lnSpc>
                <a:spcPct val="150000"/>
              </a:lnSpc>
              <a:spcAft>
                <a:spcPts val="1800"/>
              </a:spcAft>
            </a:pPr>
            <a:r>
              <a:rPr lang="es-ES" sz="2300" dirty="0" smtClean="0">
                <a:ln w="18415" cmpd="sng">
                  <a:noFill/>
                  <a:prstDash val="solid"/>
                </a:ln>
                <a:effectLst/>
                <a:latin typeface="Book Antiqua" pitchFamily="18" charset="0"/>
              </a:rPr>
              <a:t>Y ambas deben ser ejecutadas por la sociedad en su conjunto, lo que implica que la sociedad venezolana se organice lo mejor que pueda, en su justo lugar y a su debido tiempo.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500042"/>
            <a:ext cx="7286676" cy="6110840"/>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Como parte de ese proceso, </a:t>
            </a:r>
            <a:r>
              <a:rPr lang="es-ES" sz="2300" dirty="0" smtClean="0">
                <a:ln w="18415" cmpd="sng">
                  <a:noFill/>
                  <a:prstDash val="solid"/>
                </a:ln>
                <a:effectLst/>
                <a:latin typeface="Book Antiqua" pitchFamily="18" charset="0"/>
              </a:rPr>
              <a:t>mencionado al inicio, una </a:t>
            </a:r>
            <a:r>
              <a:rPr lang="es-ES" sz="2300" dirty="0" smtClean="0">
                <a:ln w="18415" cmpd="sng">
                  <a:noFill/>
                  <a:prstDash val="solid"/>
                </a:ln>
                <a:effectLst/>
                <a:latin typeface="Book Antiqua" pitchFamily="18" charset="0"/>
              </a:rPr>
              <a:t>parte de la sociedad venezolana, esa que no pretende tomar el poder para beneficiarse de él, esa que no sigue partido ni ideología política alguna, sino que ha entendido que debemos recuperar la patria y refundar la república en ella para poder tener las mejores posibilidades de que Venezuela sea lo que debe ser, damos inicio a esta etapa que vamos a llamar </a:t>
            </a:r>
            <a:r>
              <a:rPr lang="es-ES" sz="2300" dirty="0" smtClean="0">
                <a:ln w="18415" cmpd="sng">
                  <a:noFill/>
                  <a:prstDash val="solid"/>
                </a:ln>
                <a:effectLst/>
                <a:latin typeface="Book Antiqua" pitchFamily="18" charset="0"/>
              </a:rPr>
              <a:t>la ETAPA </a:t>
            </a:r>
            <a:r>
              <a:rPr lang="es-ES" sz="2300" dirty="0" smtClean="0">
                <a:ln w="18415" cmpd="sng">
                  <a:noFill/>
                  <a:prstDash val="solid"/>
                </a:ln>
                <a:effectLst/>
                <a:latin typeface="Book Antiqua" pitchFamily="18" charset="0"/>
              </a:rPr>
              <a:t>INFORMATIVA Y FORMATIVA,  de lo que debe hacerse como paso previo a lo que ha de continuarse mas adelante.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844452"/>
            <a:ext cx="6858048" cy="5101397"/>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Esta ETAPA INFORMATIVA Y FORMATIVA está dirigida a la sociedad venezolana y la llamada comunidad internacional; para ponerles en conocimiento de lo que ha de ser la próxima Constitución de la Patria venezolana y la República de Venezuela en su proceso de refundación.</a:t>
            </a:r>
          </a:p>
          <a:p>
            <a:pPr algn="ctr">
              <a:lnSpc>
                <a:spcPct val="150000"/>
              </a:lnSpc>
              <a:spcAft>
                <a:spcPts val="1800"/>
              </a:spcAft>
            </a:pPr>
            <a:r>
              <a:rPr lang="es-ES" sz="2300" dirty="0" smtClean="0">
                <a:ln w="18415" cmpd="sng">
                  <a:noFill/>
                  <a:prstDash val="solid"/>
                </a:ln>
                <a:effectLst/>
                <a:latin typeface="Book Antiqua" pitchFamily="18" charset="0"/>
              </a:rPr>
              <a:t>No es una petición de permiso ni lo que los socialistas llaman una consulta popular para ver si están o </a:t>
            </a:r>
            <a:r>
              <a:rPr lang="es-ES" sz="2300" dirty="0" smtClean="0">
                <a:ln w="18415" cmpd="sng">
                  <a:noFill/>
                  <a:prstDash val="solid"/>
                </a:ln>
                <a:effectLst/>
                <a:latin typeface="Book Antiqua" pitchFamily="18" charset="0"/>
              </a:rPr>
              <a:t>no, </a:t>
            </a:r>
            <a:r>
              <a:rPr lang="es-ES" sz="2300" dirty="0" smtClean="0">
                <a:ln w="18415" cmpd="sng">
                  <a:noFill/>
                  <a:prstDash val="solid"/>
                </a:ln>
                <a:effectLst/>
                <a:latin typeface="Book Antiqua" pitchFamily="18" charset="0"/>
              </a:rPr>
              <a:t>de acuerdo con esto.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428604"/>
            <a:ext cx="6786610"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Cada artículo propuesto de lo que ha de ser la nueva Constitución, será notificado por </a:t>
            </a:r>
            <a:r>
              <a:rPr lang="es-ES" sz="2300" dirty="0" smtClean="0">
                <a:ln w="18415" cmpd="sng">
                  <a:noFill/>
                  <a:prstDash val="solid"/>
                </a:ln>
                <a:effectLst/>
                <a:latin typeface="Book Antiqua" pitchFamily="18" charset="0"/>
              </a:rPr>
              <a:t>las </a:t>
            </a:r>
            <a:r>
              <a:rPr lang="es-ES" sz="2300" dirty="0" smtClean="0">
                <a:ln w="18415" cmpd="sng">
                  <a:noFill/>
                  <a:prstDash val="solid"/>
                </a:ln>
                <a:effectLst/>
                <a:latin typeface="Book Antiqua" pitchFamily="18" charset="0"/>
              </a:rPr>
              <a:t>vías que estén a nuestro alcance para que quien quiera apoyar los artículos propuestos, pueda hacerlo de manera directa, incluso, habrá la opción para que </a:t>
            </a:r>
            <a:r>
              <a:rPr lang="es-ES" sz="2300" dirty="0" smtClean="0">
                <a:ln w="18415" cmpd="sng">
                  <a:noFill/>
                  <a:prstDash val="solid"/>
                </a:ln>
                <a:effectLst/>
                <a:latin typeface="Book Antiqua" pitchFamily="18" charset="0"/>
              </a:rPr>
              <a:t>cada quien deje por escrito, lo </a:t>
            </a:r>
            <a:r>
              <a:rPr lang="es-ES" sz="2300" dirty="0" smtClean="0">
                <a:ln w="18415" cmpd="sng">
                  <a:noFill/>
                  <a:prstDash val="solid"/>
                </a:ln>
                <a:effectLst/>
                <a:latin typeface="Book Antiqua" pitchFamily="18" charset="0"/>
              </a:rPr>
              <a:t>que considera deba ser la redacción, el sentido o esencia del artículo propuesto, o el por qué no esté de </a:t>
            </a:r>
            <a:r>
              <a:rPr lang="es-ES" sz="2300" dirty="0" smtClean="0">
                <a:ln w="18415" cmpd="sng">
                  <a:noFill/>
                  <a:prstDash val="solid"/>
                </a:ln>
                <a:effectLst/>
                <a:latin typeface="Book Antiqua" pitchFamily="18" charset="0"/>
              </a:rPr>
              <a:t>acuerdo con el artículo propuesto.</a:t>
            </a:r>
            <a:endParaRPr lang="es-ES" sz="2300" dirty="0" smtClean="0">
              <a:ln w="18415" cmpd="sng">
                <a:noFill/>
                <a:prstDash val="solid"/>
              </a:ln>
              <a:effectLst/>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85852" y="500042"/>
            <a:ext cx="6643734" cy="4518096"/>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Así pues que, de esa manera, quien quiera o pueda, tendrá la posibilidad de participar en la redacción de la misma o si considera que nada debe redactar, podrá apoyar, o no, la propuesta, de manera directa, sin intermediarios.</a:t>
            </a:r>
          </a:p>
          <a:p>
            <a:pPr algn="ctr">
              <a:lnSpc>
                <a:spcPct val="150000"/>
              </a:lnSpc>
              <a:spcAft>
                <a:spcPts val="1800"/>
              </a:spcAft>
            </a:pPr>
            <a:r>
              <a:rPr lang="es-ES" sz="2300" dirty="0" smtClean="0">
                <a:ln w="18415" cmpd="sng">
                  <a:noFill/>
                  <a:prstDash val="solid"/>
                </a:ln>
                <a:effectLst/>
                <a:latin typeface="Book Antiqua" pitchFamily="18" charset="0"/>
              </a:rPr>
              <a:t>Sea cual fuere su decisión, estará participando, incluso hasta solo observando como participan los demás venezolanos.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85852" y="571480"/>
            <a:ext cx="6643734"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Los llamados políticos, </a:t>
            </a:r>
            <a:r>
              <a:rPr lang="es-ES" sz="2300" dirty="0" smtClean="0">
                <a:ln w="18415" cmpd="sng">
                  <a:noFill/>
                  <a:prstDash val="solid"/>
                </a:ln>
                <a:latin typeface="Book Antiqua" pitchFamily="18" charset="0"/>
              </a:rPr>
              <a:t>siguiendo directrices de sus socios internacionales, a los cuales están subordinados, especialmente </a:t>
            </a:r>
            <a:r>
              <a:rPr lang="es-ES" sz="2300" dirty="0" smtClean="0">
                <a:ln w="18415" cmpd="sng">
                  <a:noFill/>
                  <a:prstDash val="solid"/>
                </a:ln>
                <a:latin typeface="Book Antiqua" pitchFamily="18" charset="0"/>
              </a:rPr>
              <a:t>los de mentalidad democrática, socialista, revolucionaria, nazista o fascista, </a:t>
            </a:r>
            <a:r>
              <a:rPr lang="es-ES" sz="2300" dirty="0" smtClean="0">
                <a:ln w="18415" cmpd="sng">
                  <a:noFill/>
                  <a:prstDash val="solid"/>
                </a:ln>
                <a:latin typeface="Book Antiqua" pitchFamily="18" charset="0"/>
              </a:rPr>
              <a:t>que forman parte de este régimen, el cual está conformado por los partidos del gobierno, mas los partidos de la oposición; insisten en que creamos que </a:t>
            </a:r>
            <a:r>
              <a:rPr lang="es-ES" sz="2300" dirty="0" smtClean="0">
                <a:ln w="18415" cmpd="sng">
                  <a:noFill/>
                  <a:prstDash val="solid"/>
                </a:ln>
                <a:latin typeface="Book Antiqua" pitchFamily="18" charset="0"/>
              </a:rPr>
              <a:t>con cambiar de presidente y de partido de </a:t>
            </a:r>
            <a:r>
              <a:rPr lang="es-ES" sz="2300" dirty="0" smtClean="0">
                <a:ln w="18415" cmpd="sng">
                  <a:noFill/>
                  <a:prstDash val="solid"/>
                </a:ln>
                <a:latin typeface="Book Antiqua" pitchFamily="18" charset="0"/>
              </a:rPr>
              <a:t>gobierno, </a:t>
            </a:r>
            <a:r>
              <a:rPr lang="es-ES" sz="2300" dirty="0" smtClean="0">
                <a:ln w="18415" cmpd="sng">
                  <a:noFill/>
                  <a:prstDash val="solid"/>
                </a:ln>
                <a:latin typeface="Book Antiqua" pitchFamily="18" charset="0"/>
              </a:rPr>
              <a:t>es </a:t>
            </a:r>
            <a:r>
              <a:rPr lang="es-ES" sz="2300" dirty="0" smtClean="0">
                <a:ln w="18415" cmpd="sng">
                  <a:noFill/>
                  <a:prstDash val="solid"/>
                </a:ln>
                <a:latin typeface="Book Antiqua" pitchFamily="18" charset="0"/>
              </a:rPr>
              <a:t>suficiente. </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714356"/>
            <a:ext cx="7286676" cy="5101397"/>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Que no hace falta ni recuperar la patria ni refundar la república, sino que debemos aceptar, una vez mas, las reglas de un juego creado a la medida del </a:t>
            </a:r>
            <a:r>
              <a:rPr lang="es-ES" sz="2300" dirty="0" smtClean="0">
                <a:ln w="18415" cmpd="sng">
                  <a:noFill/>
                  <a:prstDash val="solid"/>
                </a:ln>
                <a:latin typeface="Book Antiqua" pitchFamily="18" charset="0"/>
              </a:rPr>
              <a:t>organizador. </a:t>
            </a:r>
          </a:p>
          <a:p>
            <a:pPr algn="ctr">
              <a:lnSpc>
                <a:spcPct val="150000"/>
              </a:lnSpc>
              <a:spcAft>
                <a:spcPts val="1800"/>
              </a:spcAft>
            </a:pPr>
            <a:r>
              <a:rPr lang="es-ES" sz="2300" dirty="0" smtClean="0">
                <a:ln w="18415" cmpd="sng">
                  <a:noFill/>
                  <a:prstDash val="solid"/>
                </a:ln>
                <a:latin typeface="Book Antiqua" pitchFamily="18" charset="0"/>
              </a:rPr>
              <a:t>Que solo se debe cambiar al presidente, que a veces desconocen o califican de dictador, de usurpador, etc., pero ahora lo reconocen como tal, y que mediante un “proceso electoral”, organizado por ese mismo que quieren sacar y que siempre le ha anunciado como el ganador, es suficiente.</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142976" y="500042"/>
            <a:ext cx="6929486" cy="5880008"/>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Para </a:t>
            </a:r>
            <a:r>
              <a:rPr lang="es-ES" sz="2300" dirty="0" smtClean="0">
                <a:ln w="18415" cmpd="sng">
                  <a:noFill/>
                  <a:prstDash val="solid"/>
                </a:ln>
                <a:latin typeface="Book Antiqua" pitchFamily="18" charset="0"/>
              </a:rPr>
              <a:t>ellos, el régimen y sus jefes internacionales, según dicen, lo </a:t>
            </a:r>
            <a:r>
              <a:rPr lang="es-ES" sz="2300" dirty="0" smtClean="0">
                <a:ln w="18415" cmpd="sng">
                  <a:noFill/>
                  <a:prstDash val="solid"/>
                </a:ln>
                <a:latin typeface="Book Antiqua" pitchFamily="18" charset="0"/>
              </a:rPr>
              <a:t>importante es recuperar </a:t>
            </a:r>
            <a:r>
              <a:rPr lang="es-ES" sz="2300" dirty="0" smtClean="0">
                <a:ln w="18415" cmpd="sng">
                  <a:noFill/>
                  <a:prstDash val="solid"/>
                </a:ln>
                <a:latin typeface="Book Antiqua" pitchFamily="18" charset="0"/>
              </a:rPr>
              <a:t>la </a:t>
            </a:r>
            <a:r>
              <a:rPr lang="es-ES" sz="2300" dirty="0" smtClean="0">
                <a:ln w="18415" cmpd="sng">
                  <a:noFill/>
                  <a:prstDash val="solid"/>
                </a:ln>
                <a:latin typeface="Book Antiqua" pitchFamily="18" charset="0"/>
              </a:rPr>
              <a:t>democracia, </a:t>
            </a:r>
            <a:r>
              <a:rPr lang="es-ES" sz="2300" dirty="0" smtClean="0">
                <a:ln w="18415" cmpd="sng">
                  <a:noFill/>
                  <a:prstDash val="solid"/>
                </a:ln>
                <a:latin typeface="Book Antiqua" pitchFamily="18" charset="0"/>
              </a:rPr>
              <a:t>esa </a:t>
            </a:r>
            <a:r>
              <a:rPr lang="es-ES" sz="2300" dirty="0" smtClean="0">
                <a:ln w="18415" cmpd="sng">
                  <a:noFill/>
                  <a:prstDash val="solid"/>
                </a:ln>
                <a:latin typeface="Book Antiqua" pitchFamily="18" charset="0"/>
              </a:rPr>
              <a:t>ideología </a:t>
            </a:r>
            <a:r>
              <a:rPr lang="es-ES" sz="2300" dirty="0" smtClean="0">
                <a:ln w="18415" cmpd="sng">
                  <a:noFill/>
                  <a:prstDash val="solid"/>
                </a:ln>
                <a:latin typeface="Book Antiqua" pitchFamily="18" charset="0"/>
              </a:rPr>
              <a:t>política, </a:t>
            </a:r>
            <a:r>
              <a:rPr lang="es-ES" sz="2300" dirty="0" smtClean="0">
                <a:ln w="18415" cmpd="sng">
                  <a:noFill/>
                  <a:prstDash val="solid"/>
                </a:ln>
                <a:latin typeface="Book Antiqua" pitchFamily="18" charset="0"/>
              </a:rPr>
              <a:t>entendida </a:t>
            </a:r>
            <a:r>
              <a:rPr lang="es-ES" sz="2300" dirty="0" smtClean="0">
                <a:ln w="18415" cmpd="sng">
                  <a:noFill/>
                  <a:prstDash val="solid"/>
                </a:ln>
                <a:latin typeface="Book Antiqua" pitchFamily="18" charset="0"/>
              </a:rPr>
              <a:t>según sus propios intereses, </a:t>
            </a:r>
            <a:r>
              <a:rPr lang="es-ES" sz="2300" dirty="0" smtClean="0">
                <a:ln w="18415" cmpd="sng">
                  <a:noFill/>
                  <a:prstDash val="solid"/>
                </a:ln>
                <a:latin typeface="Book Antiqua" pitchFamily="18" charset="0"/>
              </a:rPr>
              <a:t>de una forma que les permita seguir viviendo</a:t>
            </a:r>
            <a:r>
              <a:rPr lang="es-ES" sz="2300" dirty="0" smtClean="0">
                <a:ln w="18415" cmpd="sng">
                  <a:noFill/>
                  <a:prstDash val="solid"/>
                </a:ln>
                <a:latin typeface="Book Antiqua" pitchFamily="18" charset="0"/>
              </a:rPr>
              <a:t> </a:t>
            </a:r>
            <a:r>
              <a:rPr lang="es-ES" sz="2300" dirty="0" smtClean="0">
                <a:ln w="18415" cmpd="sng">
                  <a:noFill/>
                  <a:prstDash val="solid"/>
                </a:ln>
                <a:latin typeface="Book Antiqua" pitchFamily="18" charset="0"/>
              </a:rPr>
              <a:t>del Estado y del llamado </a:t>
            </a:r>
            <a:r>
              <a:rPr lang="es-ES" sz="2300" dirty="0" smtClean="0">
                <a:ln w="18415" cmpd="sng">
                  <a:noFill/>
                  <a:prstDash val="solid"/>
                </a:ln>
                <a:latin typeface="Book Antiqua" pitchFamily="18" charset="0"/>
              </a:rPr>
              <a:t>pueblo que vota por ellos, que según los resultados, anunciados por el organizador, en una cantidad, cada vez mas reducida, por cierto. Con eso basta, según ellos o cuanto mas, se harán algunos ajustes en el Estado para que sea mas democrático y de derecho, como ahora les califican.</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357290" y="500042"/>
            <a:ext cx="6286544" cy="5932393"/>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Ellos saben, sin duda, </a:t>
            </a:r>
            <a:r>
              <a:rPr lang="es-ES" sz="2300" dirty="0" smtClean="0">
                <a:ln w="18415" cmpd="sng">
                  <a:noFill/>
                  <a:prstDash val="solid"/>
                </a:ln>
                <a:latin typeface="Book Antiqua" pitchFamily="18" charset="0"/>
              </a:rPr>
              <a:t>que si procedemos a refundar la república y recuperar la patria, </a:t>
            </a:r>
            <a:r>
              <a:rPr lang="es-ES" sz="2300" dirty="0" smtClean="0">
                <a:ln w="18415" cmpd="sng">
                  <a:noFill/>
                  <a:prstDash val="solid"/>
                </a:ln>
                <a:latin typeface="Book Antiqua" pitchFamily="18" charset="0"/>
              </a:rPr>
              <a:t>deberán ajustarse a un conjunto de leyes y normas mas justas, y que igualmente van </a:t>
            </a:r>
            <a:r>
              <a:rPr lang="es-ES" sz="2300" dirty="0" smtClean="0">
                <a:ln w="18415" cmpd="sng">
                  <a:noFill/>
                  <a:prstDash val="solid"/>
                </a:ln>
                <a:latin typeface="Book Antiqua" pitchFamily="18" charset="0"/>
              </a:rPr>
              <a:t>a tener que </a:t>
            </a:r>
            <a:r>
              <a:rPr lang="es-ES" sz="2300" dirty="0" smtClean="0">
                <a:ln w="18415" cmpd="sng">
                  <a:noFill/>
                  <a:prstDash val="solid"/>
                </a:ln>
                <a:latin typeface="Book Antiqua" pitchFamily="18" charset="0"/>
              </a:rPr>
              <a:t>trabajar bastante, honradamente, si </a:t>
            </a:r>
            <a:r>
              <a:rPr lang="es-ES" sz="2300" dirty="0" smtClean="0">
                <a:ln w="18415" cmpd="sng">
                  <a:noFill/>
                  <a:prstDash val="solid"/>
                </a:ln>
                <a:latin typeface="Book Antiqua" pitchFamily="18" charset="0"/>
              </a:rPr>
              <a:t>quieren vivir como </a:t>
            </a:r>
            <a:r>
              <a:rPr lang="es-ES" sz="2300" dirty="0" smtClean="0">
                <a:ln w="18415" cmpd="sng">
                  <a:noFill/>
                  <a:prstDash val="solid"/>
                </a:ln>
                <a:latin typeface="Book Antiqua" pitchFamily="18" charset="0"/>
              </a:rPr>
              <a:t>hasta ahora viven, una especie de reyes, dueños y amos del Estado que debería servirnos a todos , que han de ser obedecidos y mantenidos, mediantes un conjunto de impuestos </a:t>
            </a:r>
            <a:r>
              <a:rPr lang="es-ES" sz="2300" dirty="0" smtClean="0">
                <a:ln w="18415" cmpd="sng">
                  <a:noFill/>
                  <a:prstDash val="solid"/>
                </a:ln>
                <a:latin typeface="Book Antiqua" pitchFamily="18" charset="0"/>
              </a:rPr>
              <a:t>y tazas, cada vez mas injustas y onerosas.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428596" y="142852"/>
            <a:ext cx="8143932" cy="6641755"/>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Por eso, atacarán este proceso y tratarán de evitar que la patria sea recuperada y la república refundada.</a:t>
            </a:r>
          </a:p>
          <a:p>
            <a:pPr algn="ctr">
              <a:lnSpc>
                <a:spcPct val="150000"/>
              </a:lnSpc>
              <a:spcAft>
                <a:spcPts val="1800"/>
              </a:spcAft>
            </a:pPr>
            <a:r>
              <a:rPr lang="es-ES" sz="2300" dirty="0" smtClean="0">
                <a:ln w="18415" cmpd="sng">
                  <a:noFill/>
                  <a:prstDash val="solid"/>
                </a:ln>
                <a:latin typeface="Book Antiqua" pitchFamily="18" charset="0"/>
              </a:rPr>
              <a:t>Las llamadas organizaciones e instituciones, de la sociedad civil, que ahora viven del actual gobierno</a:t>
            </a:r>
            <a:r>
              <a:rPr lang="es-ES" sz="2300" dirty="0" smtClean="0">
                <a:ln w="18415" cmpd="sng">
                  <a:noFill/>
                  <a:prstDash val="solid"/>
                </a:ln>
                <a:latin typeface="Book Antiqua" pitchFamily="18" charset="0"/>
              </a:rPr>
              <a:t>, </a:t>
            </a:r>
            <a:r>
              <a:rPr lang="es-ES" sz="2300" dirty="0" smtClean="0">
                <a:ln w="18415" cmpd="sng">
                  <a:noFill/>
                  <a:prstDash val="solid"/>
                </a:ln>
                <a:latin typeface="Book Antiqua" pitchFamily="18" charset="0"/>
              </a:rPr>
              <a:t>junto a </a:t>
            </a:r>
            <a:r>
              <a:rPr lang="es-ES" sz="2300" dirty="0" smtClean="0">
                <a:ln w="18415" cmpd="sng">
                  <a:noFill/>
                  <a:prstDash val="solid"/>
                </a:ln>
                <a:latin typeface="Book Antiqua" pitchFamily="18" charset="0"/>
              </a:rPr>
              <a:t>los </a:t>
            </a:r>
            <a:r>
              <a:rPr lang="es-ES" sz="2300" dirty="0" smtClean="0">
                <a:ln w="18415" cmpd="sng">
                  <a:noFill/>
                  <a:prstDash val="solid"/>
                </a:ln>
                <a:latin typeface="Book Antiqua" pitchFamily="18" charset="0"/>
              </a:rPr>
              <a:t>llamados partidos de la oposición, </a:t>
            </a:r>
            <a:r>
              <a:rPr lang="es-ES" sz="2300" dirty="0" smtClean="0">
                <a:ln w="18415" cmpd="sng">
                  <a:noFill/>
                  <a:prstDash val="solid"/>
                </a:ln>
                <a:latin typeface="Book Antiqua" pitchFamily="18" charset="0"/>
              </a:rPr>
              <a:t>con </a:t>
            </a:r>
            <a:r>
              <a:rPr lang="es-ES" sz="2300" dirty="0" smtClean="0">
                <a:ln w="18415" cmpd="sng">
                  <a:noFill/>
                  <a:prstDash val="solid"/>
                </a:ln>
                <a:latin typeface="Book Antiqua" pitchFamily="18" charset="0"/>
              </a:rPr>
              <a:t>sus socios internacionales</a:t>
            </a:r>
            <a:r>
              <a:rPr lang="es-ES" sz="2300" dirty="0" smtClean="0">
                <a:ln w="18415" cmpd="sng">
                  <a:noFill/>
                  <a:prstDash val="solid"/>
                </a:ln>
                <a:latin typeface="Book Antiqua" pitchFamily="18" charset="0"/>
              </a:rPr>
              <a:t>, </a:t>
            </a:r>
            <a:r>
              <a:rPr lang="es-ES" sz="2300" dirty="0" smtClean="0">
                <a:ln w="18415" cmpd="sng">
                  <a:noFill/>
                  <a:prstDash val="solid"/>
                </a:ln>
                <a:latin typeface="Book Antiqua" pitchFamily="18" charset="0"/>
              </a:rPr>
              <a:t>se unirán mucho </a:t>
            </a:r>
            <a:r>
              <a:rPr lang="es-ES" sz="2300" dirty="0" smtClean="0">
                <a:ln w="18415" cmpd="sng">
                  <a:noFill/>
                  <a:prstDash val="solid"/>
                </a:ln>
                <a:latin typeface="Book Antiqua" pitchFamily="18" charset="0"/>
              </a:rPr>
              <a:t>mas </a:t>
            </a:r>
            <a:r>
              <a:rPr lang="es-ES" sz="2300" dirty="0" smtClean="0">
                <a:ln w="18415" cmpd="sng">
                  <a:noFill/>
                  <a:prstDash val="solid"/>
                </a:ln>
                <a:latin typeface="Book Antiqua" pitchFamily="18" charset="0"/>
              </a:rPr>
              <a:t>para </a:t>
            </a:r>
            <a:r>
              <a:rPr lang="es-ES" sz="2300" dirty="0" smtClean="0">
                <a:ln w="18415" cmpd="sng">
                  <a:noFill/>
                  <a:prstDash val="solid"/>
                </a:ln>
                <a:latin typeface="Book Antiqua" pitchFamily="18" charset="0"/>
              </a:rPr>
              <a:t>que nada de lo que hagamos, como sociedad organizada, sin partidos, sino como la sociedad que somos, conformada por campesinos, </a:t>
            </a:r>
            <a:r>
              <a:rPr lang="es-ES" sz="2300" dirty="0" smtClean="0">
                <a:ln w="18415" cmpd="sng">
                  <a:noFill/>
                  <a:prstDash val="solid"/>
                </a:ln>
                <a:latin typeface="Book Antiqua" pitchFamily="18" charset="0"/>
              </a:rPr>
              <a:t>pescadores, obreros</a:t>
            </a:r>
            <a:r>
              <a:rPr lang="es-ES" sz="2300" dirty="0" smtClean="0">
                <a:ln w="18415" cmpd="sng">
                  <a:noFill/>
                  <a:prstDash val="solid"/>
                </a:ln>
                <a:latin typeface="Book Antiqua" pitchFamily="18" charset="0"/>
              </a:rPr>
              <a:t>, empleados, empresarios, profesionales, jóvenes, adultos, civiles y militares, en fin, por todos los que queremos salir de esta locura que los partidos, sin excepción, insisten en mantener, podamos </a:t>
            </a:r>
            <a:r>
              <a:rPr lang="es-ES" sz="2300" dirty="0" smtClean="0">
                <a:ln w="18415" cmpd="sng">
                  <a:noFill/>
                  <a:prstDash val="solid"/>
                </a:ln>
                <a:latin typeface="Book Antiqua" pitchFamily="18" charset="0"/>
              </a:rPr>
              <a:t>lograrlo.</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71538" y="599289"/>
            <a:ext cx="6929486" cy="4570482"/>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No dudamos que recurrirán a </a:t>
            </a:r>
            <a:r>
              <a:rPr lang="es-ES" sz="2300" dirty="0" smtClean="0">
                <a:ln w="18415" cmpd="sng">
                  <a:noFill/>
                  <a:prstDash val="solid"/>
                </a:ln>
                <a:latin typeface="Book Antiqua" pitchFamily="18" charset="0"/>
              </a:rPr>
              <a:t>las medidas que </a:t>
            </a:r>
            <a:r>
              <a:rPr lang="es-ES" sz="2300" dirty="0" smtClean="0">
                <a:ln w="18415" cmpd="sng">
                  <a:noFill/>
                  <a:prstDash val="solid"/>
                </a:ln>
                <a:latin typeface="Book Antiqua" pitchFamily="18" charset="0"/>
              </a:rPr>
              <a:t>están acostumbrados a hacer, como la represión, el asesinato, la tortura, la calumnia, en engaño.</a:t>
            </a:r>
          </a:p>
          <a:p>
            <a:pPr algn="ctr">
              <a:lnSpc>
                <a:spcPct val="150000"/>
              </a:lnSpc>
              <a:spcAft>
                <a:spcPts val="1800"/>
              </a:spcAft>
            </a:pPr>
            <a:r>
              <a:rPr lang="es-ES" sz="2300" dirty="0" smtClean="0">
                <a:ln w="18415" cmpd="sng">
                  <a:noFill/>
                  <a:prstDash val="solid"/>
                </a:ln>
                <a:latin typeface="Book Antiqua" pitchFamily="18" charset="0"/>
              </a:rPr>
              <a:t>Se </a:t>
            </a:r>
            <a:r>
              <a:rPr lang="es-ES" sz="2300" dirty="0" smtClean="0">
                <a:ln w="18415" cmpd="sng">
                  <a:noFill/>
                  <a:prstDash val="solid"/>
                </a:ln>
                <a:latin typeface="Book Antiqua" pitchFamily="18" charset="0"/>
              </a:rPr>
              <a:t>nos calificará de corruptos, delincuentes, criminales, viciosos, enfermos, que estamos financiados por el narcotráfico y sectores de lo que llaman la ultra derecha y los nazis y fascistas, entre otras peores cosas.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714348" y="214290"/>
            <a:ext cx="7786742" cy="7155805"/>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Queremos dejar claro, que esto no es un partido político que busca el poder o aspira algún cargo en el gobierno o del Estado.</a:t>
            </a:r>
          </a:p>
          <a:p>
            <a:pPr algn="ctr">
              <a:lnSpc>
                <a:spcPct val="150000"/>
              </a:lnSpc>
              <a:spcAft>
                <a:spcPts val="1800"/>
              </a:spcAft>
            </a:pPr>
            <a:r>
              <a:rPr lang="es-ES" sz="2300" dirty="0" smtClean="0">
                <a:ln w="18415" cmpd="sng">
                  <a:noFill/>
                  <a:prstDash val="solid"/>
                </a:ln>
                <a:latin typeface="Book Antiqua" pitchFamily="18" charset="0"/>
              </a:rPr>
              <a:t>Esto es </a:t>
            </a:r>
            <a:r>
              <a:rPr lang="es-ES" sz="2300" dirty="0" smtClean="0">
                <a:ln w="18415" cmpd="sng">
                  <a:noFill/>
                  <a:prstDash val="solid"/>
                </a:ln>
                <a:latin typeface="Book Antiqua" pitchFamily="18" charset="0"/>
              </a:rPr>
              <a:t>solo un movimiento </a:t>
            </a:r>
            <a:r>
              <a:rPr lang="es-ES" sz="2300" dirty="0" smtClean="0">
                <a:ln w="18415" cmpd="sng">
                  <a:noFill/>
                  <a:prstDash val="solid"/>
                </a:ln>
                <a:latin typeface="Book Antiqua" pitchFamily="18" charset="0"/>
              </a:rPr>
              <a:t>de base republicana, que </a:t>
            </a:r>
            <a:r>
              <a:rPr lang="es-ES" sz="2300" dirty="0" smtClean="0">
                <a:ln w="18415" cmpd="sng">
                  <a:noFill/>
                  <a:prstDash val="solid"/>
                </a:ln>
                <a:latin typeface="Book Antiqua" pitchFamily="18" charset="0"/>
              </a:rPr>
              <a:t>cada quien podrá apoyar a su manera, sin formar parte de él.</a:t>
            </a:r>
          </a:p>
          <a:p>
            <a:pPr algn="ctr">
              <a:lnSpc>
                <a:spcPct val="150000"/>
              </a:lnSpc>
              <a:spcAft>
                <a:spcPts val="1800"/>
              </a:spcAft>
            </a:pPr>
            <a:r>
              <a:rPr lang="es-ES" sz="2300" dirty="0" smtClean="0">
                <a:ln w="18415" cmpd="sng">
                  <a:noFill/>
                  <a:prstDash val="solid"/>
                </a:ln>
                <a:latin typeface="Book Antiqua" pitchFamily="18" charset="0"/>
              </a:rPr>
              <a:t>El Movimiento Republicano Esperanza, solo se limitará a servir y guiar a todos los venezolanos de bien que se identifiquen y quieran lo que es el objetivo </a:t>
            </a:r>
            <a:r>
              <a:rPr lang="es-ES" sz="2300" dirty="0" smtClean="0">
                <a:ln w="18415" cmpd="sng">
                  <a:noFill/>
                  <a:prstDash val="solid"/>
                </a:ln>
                <a:latin typeface="Book Antiqua" pitchFamily="18" charset="0"/>
              </a:rPr>
              <a:t>que se ha dicho es el de recuperar </a:t>
            </a:r>
            <a:r>
              <a:rPr lang="es-ES" sz="2300" dirty="0" smtClean="0">
                <a:ln w="18415" cmpd="sng">
                  <a:noFill/>
                  <a:prstDash val="solid"/>
                </a:ln>
                <a:latin typeface="Book Antiqua" pitchFamily="18" charset="0"/>
              </a:rPr>
              <a:t>la patria y refundar la república en ella, </a:t>
            </a:r>
            <a:r>
              <a:rPr lang="es-ES" sz="2300" dirty="0" smtClean="0">
                <a:ln w="18415" cmpd="sng">
                  <a:noFill/>
                  <a:prstDash val="solid"/>
                </a:ln>
                <a:latin typeface="Book Antiqua" pitchFamily="18" charset="0"/>
              </a:rPr>
              <a:t>y </a:t>
            </a:r>
            <a:r>
              <a:rPr lang="es-ES" sz="2300" dirty="0" smtClean="0">
                <a:ln w="18415" cmpd="sng">
                  <a:noFill/>
                  <a:prstDash val="solid"/>
                </a:ln>
                <a:latin typeface="Book Antiqua" pitchFamily="18" charset="0"/>
              </a:rPr>
              <a:t>en esta parte </a:t>
            </a:r>
            <a:r>
              <a:rPr lang="es-ES" sz="2300" dirty="0" smtClean="0">
                <a:ln w="18415" cmpd="sng">
                  <a:noFill/>
                  <a:prstDash val="solid"/>
                </a:ln>
                <a:latin typeface="Book Antiqua" pitchFamily="18" charset="0"/>
              </a:rPr>
              <a:t>del proceso </a:t>
            </a:r>
            <a:r>
              <a:rPr lang="es-ES" sz="2300" dirty="0" smtClean="0">
                <a:ln w="18415" cmpd="sng">
                  <a:noFill/>
                  <a:prstDash val="solid"/>
                </a:ln>
                <a:latin typeface="Book Antiqua" pitchFamily="18" charset="0"/>
              </a:rPr>
              <a:t>que </a:t>
            </a:r>
            <a:r>
              <a:rPr lang="es-ES" sz="2300" dirty="0" smtClean="0">
                <a:ln w="18415" cmpd="sng">
                  <a:noFill/>
                  <a:prstDash val="solid"/>
                </a:ln>
                <a:latin typeface="Book Antiqua" pitchFamily="18" charset="0"/>
              </a:rPr>
              <a:t>hemos llamado la Etapa Informativa y Formativa.</a:t>
            </a:r>
          </a:p>
          <a:p>
            <a:pPr algn="ctr">
              <a:lnSpc>
                <a:spcPct val="150000"/>
              </a:lnSpc>
              <a:spcAft>
                <a:spcPts val="1800"/>
              </a:spcAft>
            </a:pP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71538" y="599289"/>
            <a:ext cx="7000924" cy="5632311"/>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Esta etapa incluye la promoción y difusión </a:t>
            </a:r>
            <a:r>
              <a:rPr lang="es-ES" sz="2300" dirty="0" smtClean="0">
                <a:ln w="18415" cmpd="sng">
                  <a:noFill/>
                  <a:prstDash val="solid"/>
                </a:ln>
                <a:latin typeface="Book Antiqua" pitchFamily="18" charset="0"/>
              </a:rPr>
              <a:t>de los </a:t>
            </a:r>
            <a:r>
              <a:rPr lang="es-ES" sz="2300" dirty="0" smtClean="0">
                <a:ln w="18415" cmpd="sng">
                  <a:noFill/>
                  <a:prstDash val="solid"/>
                </a:ln>
                <a:latin typeface="Book Antiqua" pitchFamily="18" charset="0"/>
              </a:rPr>
              <a:t>valores y los principios de la </a:t>
            </a:r>
            <a:r>
              <a:rPr lang="es-ES" sz="2300" dirty="0" smtClean="0">
                <a:ln w="18415" cmpd="sng">
                  <a:noFill/>
                  <a:prstDash val="solid"/>
                </a:ln>
                <a:latin typeface="Book Antiqua" pitchFamily="18" charset="0"/>
              </a:rPr>
              <a:t>república, </a:t>
            </a:r>
            <a:r>
              <a:rPr lang="es-ES" sz="2300" dirty="0" smtClean="0">
                <a:ln w="18415" cmpd="sng">
                  <a:noFill/>
                  <a:prstDash val="solid"/>
                </a:ln>
                <a:latin typeface="Book Antiqua" pitchFamily="18" charset="0"/>
              </a:rPr>
              <a:t>que </a:t>
            </a:r>
            <a:r>
              <a:rPr lang="es-ES" sz="2300" dirty="0" smtClean="0">
                <a:ln w="18415" cmpd="sng">
                  <a:noFill/>
                  <a:prstDash val="solid"/>
                </a:ln>
                <a:latin typeface="Book Antiqua" pitchFamily="18" charset="0"/>
              </a:rPr>
              <a:t>han </a:t>
            </a:r>
            <a:r>
              <a:rPr lang="es-ES" sz="2300" dirty="0" smtClean="0">
                <a:ln w="18415" cmpd="sng">
                  <a:noFill/>
                  <a:prstDash val="solid"/>
                </a:ln>
                <a:latin typeface="Book Antiqua" pitchFamily="18" charset="0"/>
              </a:rPr>
              <a:t>de ser </a:t>
            </a:r>
            <a:r>
              <a:rPr lang="es-ES" sz="2300" dirty="0" smtClean="0">
                <a:ln w="18415" cmpd="sng">
                  <a:noFill/>
                  <a:prstDash val="solid"/>
                </a:ln>
                <a:latin typeface="Book Antiqua" pitchFamily="18" charset="0"/>
              </a:rPr>
              <a:t>necesarios </a:t>
            </a:r>
            <a:r>
              <a:rPr lang="es-ES" sz="2300" dirty="0" smtClean="0">
                <a:ln w="18415" cmpd="sng">
                  <a:noFill/>
                  <a:prstDash val="solid"/>
                </a:ln>
                <a:latin typeface="Book Antiqua" pitchFamily="18" charset="0"/>
              </a:rPr>
              <a:t>para que sirvan de base sólida para la Venezuela que </a:t>
            </a:r>
            <a:r>
              <a:rPr lang="es-ES" sz="2300" dirty="0" smtClean="0">
                <a:ln w="18415" cmpd="sng">
                  <a:noFill/>
                  <a:prstDash val="solid"/>
                </a:ln>
                <a:latin typeface="Book Antiqua" pitchFamily="18" charset="0"/>
              </a:rPr>
              <a:t>debe </a:t>
            </a:r>
            <a:r>
              <a:rPr lang="es-ES" sz="2300" dirty="0" smtClean="0">
                <a:ln w="18415" cmpd="sng">
                  <a:noFill/>
                  <a:prstDash val="solid"/>
                </a:ln>
                <a:latin typeface="Book Antiqua" pitchFamily="18" charset="0"/>
              </a:rPr>
              <a:t>ser, </a:t>
            </a:r>
            <a:r>
              <a:rPr lang="es-ES" sz="2300" dirty="0" smtClean="0">
                <a:ln w="18415" cmpd="sng">
                  <a:noFill/>
                  <a:prstDash val="solid"/>
                </a:ln>
                <a:latin typeface="Book Antiqua" pitchFamily="18" charset="0"/>
              </a:rPr>
              <a:t>es decir, una </a:t>
            </a:r>
            <a:r>
              <a:rPr lang="es-ES" sz="2300" dirty="0" smtClean="0">
                <a:ln w="18415" cmpd="sng">
                  <a:noFill/>
                  <a:prstDash val="solid"/>
                </a:ln>
                <a:latin typeface="Book Antiqua" pitchFamily="18" charset="0"/>
              </a:rPr>
              <a:t>Venezuela decente, próspera, ética, generadora de riqueza y bienestar para todos los miembros de su sociedad.</a:t>
            </a:r>
          </a:p>
          <a:p>
            <a:pPr algn="ctr">
              <a:lnSpc>
                <a:spcPct val="150000"/>
              </a:lnSpc>
              <a:spcAft>
                <a:spcPts val="1800"/>
              </a:spcAft>
            </a:pPr>
            <a:r>
              <a:rPr lang="es-ES" sz="2300" dirty="0" smtClean="0">
                <a:ln w="18415" cmpd="sng">
                  <a:noFill/>
                  <a:prstDash val="solid"/>
                </a:ln>
                <a:latin typeface="Book Antiqua" pitchFamily="18" charset="0"/>
              </a:rPr>
              <a:t>También </a:t>
            </a:r>
            <a:r>
              <a:rPr lang="es-ES" sz="2300" dirty="0" smtClean="0">
                <a:ln w="18415" cmpd="sng">
                  <a:noFill/>
                  <a:prstDash val="solid"/>
                </a:ln>
                <a:latin typeface="Book Antiqua" pitchFamily="18" charset="0"/>
              </a:rPr>
              <a:t>se incluye el proceso Constituyente que generará las bases para la conformación del nuevo Estado republicano, el cual permitirá que esa Venezuela sea posible.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928670"/>
            <a:ext cx="6715172" cy="5101397"/>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Habrá un </a:t>
            </a:r>
            <a:r>
              <a:rPr lang="es-ES" sz="2300" dirty="0" smtClean="0">
                <a:ln w="18415" cmpd="sng">
                  <a:noFill/>
                  <a:prstDash val="solid"/>
                </a:ln>
                <a:latin typeface="Book Antiqua" pitchFamily="18" charset="0"/>
              </a:rPr>
              <a:t>inevitable período </a:t>
            </a:r>
            <a:r>
              <a:rPr lang="es-ES" sz="2300" dirty="0" smtClean="0">
                <a:ln w="18415" cmpd="sng">
                  <a:noFill/>
                  <a:prstDash val="solid"/>
                </a:ln>
                <a:latin typeface="Book Antiqua" pitchFamily="18" charset="0"/>
              </a:rPr>
              <a:t>de </a:t>
            </a:r>
            <a:r>
              <a:rPr lang="es-ES" sz="2300" dirty="0" smtClean="0">
                <a:ln w="18415" cmpd="sng">
                  <a:noFill/>
                  <a:prstDash val="solid"/>
                </a:ln>
                <a:latin typeface="Book Antiqua" pitchFamily="18" charset="0"/>
              </a:rPr>
              <a:t>transición, </a:t>
            </a:r>
            <a:r>
              <a:rPr lang="es-ES" sz="2300" dirty="0" smtClean="0">
                <a:ln w="18415" cmpd="sng">
                  <a:noFill/>
                  <a:prstDash val="solid"/>
                </a:ln>
                <a:latin typeface="Book Antiqua" pitchFamily="18" charset="0"/>
              </a:rPr>
              <a:t>de ajustes, de desmontaje de este estado criminal, delictivo, que también llaman de “estado fallido</a:t>
            </a:r>
            <a:r>
              <a:rPr lang="es-ES" sz="2300" dirty="0" smtClean="0">
                <a:ln w="18415" cmpd="sng">
                  <a:noFill/>
                  <a:prstDash val="solid"/>
                </a:ln>
                <a:latin typeface="Book Antiqua" pitchFamily="18" charset="0"/>
              </a:rPr>
              <a:t>” y “estado democrático y de derecho”.</a:t>
            </a:r>
            <a:endParaRPr lang="es-ES" sz="2300" dirty="0" smtClean="0">
              <a:ln w="18415" cmpd="sng">
                <a:noFill/>
                <a:prstDash val="solid"/>
              </a:ln>
              <a:latin typeface="Book Antiqua" pitchFamily="18" charset="0"/>
            </a:endParaRPr>
          </a:p>
          <a:p>
            <a:pPr algn="ctr">
              <a:lnSpc>
                <a:spcPct val="150000"/>
              </a:lnSpc>
              <a:spcAft>
                <a:spcPts val="1800"/>
              </a:spcAft>
            </a:pPr>
            <a:r>
              <a:rPr lang="es-ES" sz="2300" dirty="0" smtClean="0">
                <a:ln w="18415" cmpd="sng">
                  <a:noFill/>
                  <a:prstDash val="solid"/>
                </a:ln>
                <a:latin typeface="Book Antiqua" pitchFamily="18" charset="0"/>
              </a:rPr>
              <a:t>El nuevo Estado republicano ha </a:t>
            </a:r>
            <a:r>
              <a:rPr lang="es-ES" sz="2300" dirty="0" smtClean="0">
                <a:ln w="18415" cmpd="sng">
                  <a:noFill/>
                  <a:prstDash val="solid"/>
                </a:ln>
                <a:latin typeface="Book Antiqua" pitchFamily="18" charset="0"/>
              </a:rPr>
              <a:t>de </a:t>
            </a:r>
            <a:r>
              <a:rPr lang="es-ES" sz="2300" dirty="0" smtClean="0">
                <a:ln w="18415" cmpd="sng">
                  <a:noFill/>
                  <a:prstDash val="solid"/>
                </a:ln>
                <a:latin typeface="Book Antiqua" pitchFamily="18" charset="0"/>
              </a:rPr>
              <a:t>formarse con los mejores ciudadanos  que resulten ganadores de los concursos  que se realicen para quienes formarán parte del mismo y de ese proceso de transición, que deberá ser de corta duración.</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714348" y="642918"/>
            <a:ext cx="7786742" cy="5401479"/>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Este proceso de selección se realizará dentro de la visión republicana la cual tiene como esencia y finalidad el servir con la mayor y mejor eficacia y eficiencia.</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El proceso constituyente producirá los funcionarios básicos del Estado de la república naciente y de éste Estado, por vía de concurso público, serán obtenidos los demás funcionarios que le permitan a ese Estado, cumplir con sus funciones de servicio público y representatividad ante la sociedad venezolana y el mundo.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428728" y="1500174"/>
            <a:ext cx="6429420" cy="3808735"/>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En lo inmediato, vamos a la etapa ya mencionada, les exhortamos a participar, será su decisión hacerlo de una u otra manera.</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Sea cual sea su decisión, el proceso se ha iniciado y deberá llegar a su meta, </a:t>
            </a:r>
            <a:r>
              <a:rPr lang="es-ES" sz="2300" dirty="0" smtClean="0">
                <a:ln w="18415" cmpd="sng">
                  <a:noFill/>
                  <a:prstDash val="solid"/>
                </a:ln>
                <a:latin typeface="Book Antiqua" pitchFamily="18" charset="0"/>
              </a:rPr>
              <a:t>a </a:t>
            </a:r>
            <a:r>
              <a:rPr lang="es-ES" sz="2300" dirty="0" smtClean="0">
                <a:ln w="18415" cmpd="sng">
                  <a:noFill/>
                  <a:prstDash val="solid"/>
                </a:ln>
                <a:latin typeface="Book Antiqua" pitchFamily="18" charset="0"/>
              </a:rPr>
              <a:t>su etapa, </a:t>
            </a:r>
            <a:r>
              <a:rPr lang="es-ES" sz="2300" dirty="0" smtClean="0">
                <a:ln w="18415" cmpd="sng">
                  <a:noFill/>
                  <a:prstDash val="solid"/>
                </a:ln>
                <a:latin typeface="Book Antiqua" pitchFamily="18" charset="0"/>
              </a:rPr>
              <a:t>y según necesidad requerida.</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1142984"/>
            <a:ext cx="6715172" cy="4339650"/>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Su participación es importante pero no es vital, en el sentido de que si no participa, nada se hará, eso debe quedar claro, esto no se esta basando desde la perspectiva que los seguidores de ideologías imponen, esa que llaman democrática, esto se basa desde la visión republicana, esa que se basa en el deber, tanto en el ser, el hacer y el estar, entre otras.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857232"/>
            <a:ext cx="7286676"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Venezuela necesita ser recuperada como Patria y su república debe ser refundada.</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Esto es algo que no puede seguir esperando por que una mayoría equis lo note y luego lo quiera, este proceso, de hecho, ya se ha iniciado y está en movimiento, desde hace tiempo, solo que ahora, se han conjugado una serie de elementos, que han generado un poco mas de fuerza y voluntad.</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00100" y="1651378"/>
            <a:ext cx="7286676" cy="2746906"/>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¿Será alcanzado el objetivo y sus complementos?</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Solo Dios lo sabe y nuestra organización, disciplina, voluntad, constancia , dedicación y apego al deber ser, lo permita, lo genere, lo materialice.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857232"/>
            <a:ext cx="7286676"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La decisión se ha tomado, el movimiento se ha iniciado, los factores se han encontrado, las consecuencias se están produciendo y los resultados serán lo que esa disciplina, esa organización, esa voluntad, esa constancia, esa dedicación y </a:t>
            </a:r>
            <a:r>
              <a:rPr lang="es-ES" sz="2300" dirty="0" smtClean="0">
                <a:ln w="18415" cmpd="sng">
                  <a:noFill/>
                  <a:prstDash val="solid"/>
                </a:ln>
                <a:latin typeface="Book Antiqua" pitchFamily="18" charset="0"/>
              </a:rPr>
              <a:t>ese apego </a:t>
            </a:r>
            <a:r>
              <a:rPr lang="es-ES" sz="2300" dirty="0" smtClean="0">
                <a:ln w="18415" cmpd="sng">
                  <a:noFill/>
                  <a:prstDash val="solid"/>
                </a:ln>
                <a:latin typeface="Book Antiqua" pitchFamily="18" charset="0"/>
              </a:rPr>
              <a:t>al deber ser, producirá y ello </a:t>
            </a:r>
            <a:r>
              <a:rPr lang="es-ES" sz="2300" dirty="0" smtClean="0">
                <a:ln w="18415" cmpd="sng">
                  <a:noFill/>
                  <a:prstDash val="solid"/>
                </a:ln>
                <a:latin typeface="Book Antiqua" pitchFamily="18" charset="0"/>
              </a:rPr>
              <a:t>no debe ser otra cosa que lo </a:t>
            </a:r>
            <a:r>
              <a:rPr lang="es-ES" sz="2300" dirty="0" smtClean="0">
                <a:ln w="18415" cmpd="sng">
                  <a:noFill/>
                  <a:prstDash val="solid"/>
                </a:ln>
                <a:latin typeface="Book Antiqua" pitchFamily="18" charset="0"/>
              </a:rPr>
              <a:t>mejor para Venezuela y la sociedad decente que le </a:t>
            </a:r>
            <a:r>
              <a:rPr lang="es-ES" sz="2300" dirty="0" smtClean="0">
                <a:ln w="18415" cmpd="sng">
                  <a:noFill/>
                  <a:prstDash val="solid"/>
                </a:ln>
                <a:latin typeface="Book Antiqua" pitchFamily="18" charset="0"/>
              </a:rPr>
              <a:t>conforma y está dispuesta a recuperar su patria y refundar la república en ella como debe ser.</a:t>
            </a: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logo mover horizontal.JPG"/>
          <p:cNvPicPr>
            <a:picLocks noChangeAspect="1"/>
          </p:cNvPicPr>
          <p:nvPr/>
        </p:nvPicPr>
        <p:blipFill>
          <a:blip r:embed="rId2" cstate="print"/>
          <a:stretch>
            <a:fillRect/>
          </a:stretch>
        </p:blipFill>
        <p:spPr>
          <a:xfrm>
            <a:off x="1056228" y="2428868"/>
            <a:ext cx="7016234" cy="1785950"/>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ppt_w</p:attrName>
                                        </p:attrNameLst>
                                      </p:cBhvr>
                                      <p:tavLst>
                                        <p:tav tm="0">
                                          <p:val>
                                            <p:fltVal val="0"/>
                                          </p:val>
                                        </p:tav>
                                        <p:tav tm="100000">
                                          <p:val>
                                            <p:strVal val="#ppt_w"/>
                                          </p:val>
                                        </p:tav>
                                      </p:tavLst>
                                    </p:anim>
                                    <p:anim calcmode="lin" valueType="num">
                                      <p:cBhvr>
                                        <p:cTn id="8" dur="2000" fill="hold"/>
                                        <p:tgtEl>
                                          <p:spTgt spid="4"/>
                                        </p:tgtEl>
                                        <p:attrNameLst>
                                          <p:attrName>ppt_h</p:attrName>
                                        </p:attrNameLst>
                                      </p:cBhvr>
                                      <p:tavLst>
                                        <p:tav tm="0">
                                          <p:val>
                                            <p:fltVal val="0"/>
                                          </p:val>
                                        </p:tav>
                                        <p:tav tm="100000">
                                          <p:val>
                                            <p:strVal val="#ppt_h"/>
                                          </p:val>
                                        </p:tav>
                                      </p:tavLst>
                                    </p:anim>
                                    <p:animEffect transition="in" filter="fade">
                                      <p:cBhvr>
                                        <p:cTn id="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1579</TotalTime>
  <Words>1716</Words>
  <Application>Microsoft Office PowerPoint</Application>
  <PresentationFormat>Presentación en pantalla (4:3)</PresentationFormat>
  <Paragraphs>45</Paragraphs>
  <Slides>24</Slides>
  <Notes>0</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Henry Diaz</dc:creator>
  <cp:lastModifiedBy>Henry Diaz</cp:lastModifiedBy>
  <cp:revision>119</cp:revision>
  <dcterms:created xsi:type="dcterms:W3CDTF">2023-10-15T16:47:29Z</dcterms:created>
  <dcterms:modified xsi:type="dcterms:W3CDTF">2023-10-26T03:12:46Z</dcterms:modified>
</cp:coreProperties>
</file>