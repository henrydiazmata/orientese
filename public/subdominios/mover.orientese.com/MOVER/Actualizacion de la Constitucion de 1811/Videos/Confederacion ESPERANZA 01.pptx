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85" r:id="rId4"/>
    <p:sldId id="286" r:id="rId5"/>
    <p:sldId id="264" r:id="rId6"/>
    <p:sldId id="261" r:id="rId7"/>
    <p:sldId id="283" r:id="rId8"/>
    <p:sldId id="265" r:id="rId9"/>
    <p:sldId id="284" r:id="rId10"/>
    <p:sldId id="262" r:id="rId11"/>
    <p:sldId id="266" r:id="rId12"/>
    <p:sldId id="260" r:id="rId13"/>
    <p:sldId id="282" r:id="rId14"/>
    <p:sldId id="267" r:id="rId15"/>
    <p:sldId id="280" r:id="rId16"/>
    <p:sldId id="268" r:id="rId17"/>
    <p:sldId id="291" r:id="rId18"/>
    <p:sldId id="269" r:id="rId19"/>
    <p:sldId id="271" r:id="rId20"/>
    <p:sldId id="287" r:id="rId21"/>
    <p:sldId id="270" r:id="rId22"/>
    <p:sldId id="288" r:id="rId23"/>
    <p:sldId id="272" r:id="rId24"/>
    <p:sldId id="289" r:id="rId25"/>
    <p:sldId id="273" r:id="rId26"/>
    <p:sldId id="290" r:id="rId27"/>
    <p:sldId id="274" r:id="rId28"/>
    <p:sldId id="279" r:id="rId29"/>
    <p:sldId id="259" r:id="rId30"/>
    <p:sldId id="278" r:id="rId31"/>
    <p:sldId id="276" r:id="rId32"/>
    <p:sldId id="292" r:id="rId33"/>
    <p:sldId id="293" r:id="rId34"/>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BDB6"/>
    <a:srgbClr val="ECF595"/>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760" autoAdjust="0"/>
    <p:restoredTop sz="94660"/>
  </p:normalViewPr>
  <p:slideViewPr>
    <p:cSldViewPr>
      <p:cViewPr varScale="1">
        <p:scale>
          <a:sx n="86" d="100"/>
          <a:sy n="86" d="100"/>
        </p:scale>
        <p:origin x="-1086"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pt-B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pt-BR"/>
          </a:p>
        </p:txBody>
      </p:sp>
      <p:sp>
        <p:nvSpPr>
          <p:cNvPr id="4" name="3 Marcador de fecha"/>
          <p:cNvSpPr>
            <a:spLocks noGrp="1"/>
          </p:cNvSpPr>
          <p:nvPr>
            <p:ph type="dt" sz="half" idx="10"/>
          </p:nvPr>
        </p:nvSpPr>
        <p:spPr/>
        <p:txBody>
          <a:bodyPr/>
          <a:lstStyle/>
          <a:p>
            <a:fld id="{EE2A1A84-916D-4CCF-B9F0-BA8E3A805657}" type="datetimeFigureOut">
              <a:rPr lang="pt-BR" smtClean="0"/>
              <a:pPr/>
              <a:t>04/11/2023</a:t>
            </a:fld>
            <a:endParaRPr lang="pt-BR"/>
          </a:p>
        </p:txBody>
      </p:sp>
      <p:sp>
        <p:nvSpPr>
          <p:cNvPr id="5" name="4 Marcador de pie de página"/>
          <p:cNvSpPr>
            <a:spLocks noGrp="1"/>
          </p:cNvSpPr>
          <p:nvPr>
            <p:ph type="ftr" sz="quarter" idx="11"/>
          </p:nvPr>
        </p:nvSpPr>
        <p:spPr/>
        <p:txBody>
          <a:bodyPr/>
          <a:lstStyle/>
          <a:p>
            <a:endParaRPr lang="pt-BR"/>
          </a:p>
        </p:txBody>
      </p:sp>
      <p:sp>
        <p:nvSpPr>
          <p:cNvPr id="6" name="5 Marcador de número de diapositiva"/>
          <p:cNvSpPr>
            <a:spLocks noGrp="1"/>
          </p:cNvSpPr>
          <p:nvPr>
            <p:ph type="sldNum" sz="quarter" idx="12"/>
          </p:nvPr>
        </p:nvSpPr>
        <p:spPr/>
        <p:txBody>
          <a:bodyPr/>
          <a:lstStyle/>
          <a:p>
            <a:fld id="{E66F1A87-29B9-445C-A527-D8A232FB1C03}" type="slidenum">
              <a:rPr lang="pt-BR" smtClean="0"/>
              <a:pPr/>
              <a:t>‹Nº›</a:t>
            </a:fld>
            <a:endParaRPr lang="pt-B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pt-BR"/>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4" name="3 Marcador de fecha"/>
          <p:cNvSpPr>
            <a:spLocks noGrp="1"/>
          </p:cNvSpPr>
          <p:nvPr>
            <p:ph type="dt" sz="half" idx="10"/>
          </p:nvPr>
        </p:nvSpPr>
        <p:spPr/>
        <p:txBody>
          <a:bodyPr/>
          <a:lstStyle/>
          <a:p>
            <a:fld id="{EE2A1A84-916D-4CCF-B9F0-BA8E3A805657}" type="datetimeFigureOut">
              <a:rPr lang="pt-BR" smtClean="0"/>
              <a:pPr/>
              <a:t>04/11/2023</a:t>
            </a:fld>
            <a:endParaRPr lang="pt-BR"/>
          </a:p>
        </p:txBody>
      </p:sp>
      <p:sp>
        <p:nvSpPr>
          <p:cNvPr id="5" name="4 Marcador de pie de página"/>
          <p:cNvSpPr>
            <a:spLocks noGrp="1"/>
          </p:cNvSpPr>
          <p:nvPr>
            <p:ph type="ftr" sz="quarter" idx="11"/>
          </p:nvPr>
        </p:nvSpPr>
        <p:spPr/>
        <p:txBody>
          <a:bodyPr/>
          <a:lstStyle/>
          <a:p>
            <a:endParaRPr lang="pt-BR"/>
          </a:p>
        </p:txBody>
      </p:sp>
      <p:sp>
        <p:nvSpPr>
          <p:cNvPr id="6" name="5 Marcador de número de diapositiva"/>
          <p:cNvSpPr>
            <a:spLocks noGrp="1"/>
          </p:cNvSpPr>
          <p:nvPr>
            <p:ph type="sldNum" sz="quarter" idx="12"/>
          </p:nvPr>
        </p:nvSpPr>
        <p:spPr/>
        <p:txBody>
          <a:bodyPr/>
          <a:lstStyle/>
          <a:p>
            <a:fld id="{E66F1A87-29B9-445C-A527-D8A232FB1C03}" type="slidenum">
              <a:rPr lang="pt-BR" smtClean="0"/>
              <a:pPr/>
              <a:t>‹Nº›</a:t>
            </a:fld>
            <a:endParaRPr lang="pt-B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pt-B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EE2A1A84-916D-4CCF-B9F0-BA8E3A805657}" type="datetimeFigureOut">
              <a:rPr lang="pt-BR" smtClean="0"/>
              <a:pPr/>
              <a:t>04/11/2023</a:t>
            </a:fld>
            <a:endParaRPr lang="pt-BR"/>
          </a:p>
        </p:txBody>
      </p:sp>
      <p:sp>
        <p:nvSpPr>
          <p:cNvPr id="5" name="4 Marcador de pie de página"/>
          <p:cNvSpPr>
            <a:spLocks noGrp="1"/>
          </p:cNvSpPr>
          <p:nvPr>
            <p:ph type="ftr" sz="quarter" idx="11"/>
          </p:nvPr>
        </p:nvSpPr>
        <p:spPr/>
        <p:txBody>
          <a:bodyPr/>
          <a:lstStyle/>
          <a:p>
            <a:endParaRPr lang="pt-BR"/>
          </a:p>
        </p:txBody>
      </p:sp>
      <p:sp>
        <p:nvSpPr>
          <p:cNvPr id="6" name="5 Marcador de número de diapositiva"/>
          <p:cNvSpPr>
            <a:spLocks noGrp="1"/>
          </p:cNvSpPr>
          <p:nvPr>
            <p:ph type="sldNum" sz="quarter" idx="12"/>
          </p:nvPr>
        </p:nvSpPr>
        <p:spPr/>
        <p:txBody>
          <a:bodyPr/>
          <a:lstStyle/>
          <a:p>
            <a:fld id="{E66F1A87-29B9-445C-A527-D8A232FB1C03}" type="slidenum">
              <a:rPr lang="pt-BR" smtClean="0"/>
              <a:pPr/>
              <a:t>‹Nº›</a:t>
            </a:fld>
            <a:endParaRPr lang="pt-B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pt-B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5" name="4 Marcador de fecha"/>
          <p:cNvSpPr>
            <a:spLocks noGrp="1"/>
          </p:cNvSpPr>
          <p:nvPr>
            <p:ph type="dt" sz="half" idx="10"/>
          </p:nvPr>
        </p:nvSpPr>
        <p:spPr/>
        <p:txBody>
          <a:bodyPr/>
          <a:lstStyle/>
          <a:p>
            <a:fld id="{EE2A1A84-916D-4CCF-B9F0-BA8E3A805657}" type="datetimeFigureOut">
              <a:rPr lang="pt-BR" smtClean="0"/>
              <a:pPr/>
              <a:t>04/11/2023</a:t>
            </a:fld>
            <a:endParaRPr lang="pt-BR"/>
          </a:p>
        </p:txBody>
      </p:sp>
      <p:sp>
        <p:nvSpPr>
          <p:cNvPr id="6" name="5 Marcador de pie de página"/>
          <p:cNvSpPr>
            <a:spLocks noGrp="1"/>
          </p:cNvSpPr>
          <p:nvPr>
            <p:ph type="ftr" sz="quarter" idx="11"/>
          </p:nvPr>
        </p:nvSpPr>
        <p:spPr/>
        <p:txBody>
          <a:bodyPr/>
          <a:lstStyle/>
          <a:p>
            <a:endParaRPr lang="pt-BR"/>
          </a:p>
        </p:txBody>
      </p:sp>
      <p:sp>
        <p:nvSpPr>
          <p:cNvPr id="7" name="6 Marcador de número de diapositiva"/>
          <p:cNvSpPr>
            <a:spLocks noGrp="1"/>
          </p:cNvSpPr>
          <p:nvPr>
            <p:ph type="sldNum" sz="quarter" idx="12"/>
          </p:nvPr>
        </p:nvSpPr>
        <p:spPr/>
        <p:txBody>
          <a:bodyPr/>
          <a:lstStyle/>
          <a:p>
            <a:fld id="{E66F1A87-29B9-445C-A527-D8A232FB1C03}" type="slidenum">
              <a:rPr lang="pt-BR" smtClean="0"/>
              <a:pPr/>
              <a:t>‹Nº›</a:t>
            </a:fld>
            <a:endParaRPr lang="pt-B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pt-B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7" name="6 Marcador de fecha"/>
          <p:cNvSpPr>
            <a:spLocks noGrp="1"/>
          </p:cNvSpPr>
          <p:nvPr>
            <p:ph type="dt" sz="half" idx="10"/>
          </p:nvPr>
        </p:nvSpPr>
        <p:spPr/>
        <p:txBody>
          <a:bodyPr/>
          <a:lstStyle/>
          <a:p>
            <a:fld id="{EE2A1A84-916D-4CCF-B9F0-BA8E3A805657}" type="datetimeFigureOut">
              <a:rPr lang="pt-BR" smtClean="0"/>
              <a:pPr/>
              <a:t>04/11/2023</a:t>
            </a:fld>
            <a:endParaRPr lang="pt-BR"/>
          </a:p>
        </p:txBody>
      </p:sp>
      <p:sp>
        <p:nvSpPr>
          <p:cNvPr id="8" name="7 Marcador de pie de página"/>
          <p:cNvSpPr>
            <a:spLocks noGrp="1"/>
          </p:cNvSpPr>
          <p:nvPr>
            <p:ph type="ftr" sz="quarter" idx="11"/>
          </p:nvPr>
        </p:nvSpPr>
        <p:spPr/>
        <p:txBody>
          <a:bodyPr/>
          <a:lstStyle/>
          <a:p>
            <a:endParaRPr lang="pt-BR"/>
          </a:p>
        </p:txBody>
      </p:sp>
      <p:sp>
        <p:nvSpPr>
          <p:cNvPr id="9" name="8 Marcador de número de diapositiva"/>
          <p:cNvSpPr>
            <a:spLocks noGrp="1"/>
          </p:cNvSpPr>
          <p:nvPr>
            <p:ph type="sldNum" sz="quarter" idx="12"/>
          </p:nvPr>
        </p:nvSpPr>
        <p:spPr/>
        <p:txBody>
          <a:bodyPr/>
          <a:lstStyle/>
          <a:p>
            <a:fld id="{E66F1A87-29B9-445C-A527-D8A232FB1C03}" type="slidenum">
              <a:rPr lang="pt-BR" smtClean="0"/>
              <a:pPr/>
              <a:t>‹Nº›</a:t>
            </a:fld>
            <a:endParaRPr lang="pt-B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pt-BR"/>
          </a:p>
        </p:txBody>
      </p:sp>
      <p:sp>
        <p:nvSpPr>
          <p:cNvPr id="3" name="2 Marcador de fecha"/>
          <p:cNvSpPr>
            <a:spLocks noGrp="1"/>
          </p:cNvSpPr>
          <p:nvPr>
            <p:ph type="dt" sz="half" idx="10"/>
          </p:nvPr>
        </p:nvSpPr>
        <p:spPr/>
        <p:txBody>
          <a:bodyPr/>
          <a:lstStyle/>
          <a:p>
            <a:fld id="{EE2A1A84-916D-4CCF-B9F0-BA8E3A805657}" type="datetimeFigureOut">
              <a:rPr lang="pt-BR" smtClean="0"/>
              <a:pPr/>
              <a:t>04/11/2023</a:t>
            </a:fld>
            <a:endParaRPr lang="pt-BR"/>
          </a:p>
        </p:txBody>
      </p:sp>
      <p:sp>
        <p:nvSpPr>
          <p:cNvPr id="4" name="3 Marcador de pie de página"/>
          <p:cNvSpPr>
            <a:spLocks noGrp="1"/>
          </p:cNvSpPr>
          <p:nvPr>
            <p:ph type="ftr" sz="quarter" idx="11"/>
          </p:nvPr>
        </p:nvSpPr>
        <p:spPr/>
        <p:txBody>
          <a:bodyPr/>
          <a:lstStyle/>
          <a:p>
            <a:endParaRPr lang="pt-BR"/>
          </a:p>
        </p:txBody>
      </p:sp>
      <p:sp>
        <p:nvSpPr>
          <p:cNvPr id="5" name="4 Marcador de número de diapositiva"/>
          <p:cNvSpPr>
            <a:spLocks noGrp="1"/>
          </p:cNvSpPr>
          <p:nvPr>
            <p:ph type="sldNum" sz="quarter" idx="12"/>
          </p:nvPr>
        </p:nvSpPr>
        <p:spPr/>
        <p:txBody>
          <a:bodyPr/>
          <a:lstStyle/>
          <a:p>
            <a:fld id="{E66F1A87-29B9-445C-A527-D8A232FB1C03}" type="slidenum">
              <a:rPr lang="pt-BR" smtClean="0"/>
              <a:pPr/>
              <a:t>‹Nº›</a:t>
            </a:fld>
            <a:endParaRPr lang="pt-B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EE2A1A84-916D-4CCF-B9F0-BA8E3A805657}" type="datetimeFigureOut">
              <a:rPr lang="pt-BR" smtClean="0"/>
              <a:pPr/>
              <a:t>04/11/2023</a:t>
            </a:fld>
            <a:endParaRPr lang="pt-BR"/>
          </a:p>
        </p:txBody>
      </p:sp>
      <p:sp>
        <p:nvSpPr>
          <p:cNvPr id="3" name="2 Marcador de pie de página"/>
          <p:cNvSpPr>
            <a:spLocks noGrp="1"/>
          </p:cNvSpPr>
          <p:nvPr>
            <p:ph type="ftr" sz="quarter" idx="11"/>
          </p:nvPr>
        </p:nvSpPr>
        <p:spPr/>
        <p:txBody>
          <a:bodyPr/>
          <a:lstStyle/>
          <a:p>
            <a:endParaRPr lang="pt-BR"/>
          </a:p>
        </p:txBody>
      </p:sp>
      <p:sp>
        <p:nvSpPr>
          <p:cNvPr id="4" name="3 Marcador de número de diapositiva"/>
          <p:cNvSpPr>
            <a:spLocks noGrp="1"/>
          </p:cNvSpPr>
          <p:nvPr>
            <p:ph type="sldNum" sz="quarter" idx="12"/>
          </p:nvPr>
        </p:nvSpPr>
        <p:spPr/>
        <p:txBody>
          <a:bodyPr/>
          <a:lstStyle/>
          <a:p>
            <a:fld id="{E66F1A87-29B9-445C-A527-D8A232FB1C03}" type="slidenum">
              <a:rPr lang="pt-BR" smtClean="0"/>
              <a:pPr/>
              <a:t>‹Nº›</a:t>
            </a:fld>
            <a:endParaRPr lang="pt-B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pt-B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EE2A1A84-916D-4CCF-B9F0-BA8E3A805657}" type="datetimeFigureOut">
              <a:rPr lang="pt-BR" smtClean="0"/>
              <a:pPr/>
              <a:t>04/11/2023</a:t>
            </a:fld>
            <a:endParaRPr lang="pt-BR"/>
          </a:p>
        </p:txBody>
      </p:sp>
      <p:sp>
        <p:nvSpPr>
          <p:cNvPr id="6" name="5 Marcador de pie de página"/>
          <p:cNvSpPr>
            <a:spLocks noGrp="1"/>
          </p:cNvSpPr>
          <p:nvPr>
            <p:ph type="ftr" sz="quarter" idx="11"/>
          </p:nvPr>
        </p:nvSpPr>
        <p:spPr/>
        <p:txBody>
          <a:bodyPr/>
          <a:lstStyle/>
          <a:p>
            <a:endParaRPr lang="pt-BR"/>
          </a:p>
        </p:txBody>
      </p:sp>
      <p:sp>
        <p:nvSpPr>
          <p:cNvPr id="7" name="6 Marcador de número de diapositiva"/>
          <p:cNvSpPr>
            <a:spLocks noGrp="1"/>
          </p:cNvSpPr>
          <p:nvPr>
            <p:ph type="sldNum" sz="quarter" idx="12"/>
          </p:nvPr>
        </p:nvSpPr>
        <p:spPr/>
        <p:txBody>
          <a:bodyPr/>
          <a:lstStyle/>
          <a:p>
            <a:fld id="{E66F1A87-29B9-445C-A527-D8A232FB1C03}" type="slidenum">
              <a:rPr lang="pt-BR" smtClean="0"/>
              <a:pPr/>
              <a:t>‹Nº›</a:t>
            </a:fld>
            <a:endParaRPr lang="pt-B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pt-B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EE2A1A84-916D-4CCF-B9F0-BA8E3A805657}" type="datetimeFigureOut">
              <a:rPr lang="pt-BR" smtClean="0"/>
              <a:pPr/>
              <a:t>04/11/2023</a:t>
            </a:fld>
            <a:endParaRPr lang="pt-BR"/>
          </a:p>
        </p:txBody>
      </p:sp>
      <p:sp>
        <p:nvSpPr>
          <p:cNvPr id="6" name="5 Marcador de pie de página"/>
          <p:cNvSpPr>
            <a:spLocks noGrp="1"/>
          </p:cNvSpPr>
          <p:nvPr>
            <p:ph type="ftr" sz="quarter" idx="11"/>
          </p:nvPr>
        </p:nvSpPr>
        <p:spPr/>
        <p:txBody>
          <a:bodyPr/>
          <a:lstStyle/>
          <a:p>
            <a:endParaRPr lang="pt-BR"/>
          </a:p>
        </p:txBody>
      </p:sp>
      <p:sp>
        <p:nvSpPr>
          <p:cNvPr id="7" name="6 Marcador de número de diapositiva"/>
          <p:cNvSpPr>
            <a:spLocks noGrp="1"/>
          </p:cNvSpPr>
          <p:nvPr>
            <p:ph type="sldNum" sz="quarter" idx="12"/>
          </p:nvPr>
        </p:nvSpPr>
        <p:spPr/>
        <p:txBody>
          <a:bodyPr/>
          <a:lstStyle/>
          <a:p>
            <a:fld id="{E66F1A87-29B9-445C-A527-D8A232FB1C03}" type="slidenum">
              <a:rPr lang="pt-BR" smtClean="0"/>
              <a:pPr/>
              <a:t>‹Nº›</a:t>
            </a:fld>
            <a:endParaRPr lang="pt-B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pt-BR"/>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4" name="3 Marcador de fecha"/>
          <p:cNvSpPr>
            <a:spLocks noGrp="1"/>
          </p:cNvSpPr>
          <p:nvPr>
            <p:ph type="dt" sz="half" idx="10"/>
          </p:nvPr>
        </p:nvSpPr>
        <p:spPr/>
        <p:txBody>
          <a:bodyPr/>
          <a:lstStyle/>
          <a:p>
            <a:fld id="{EE2A1A84-916D-4CCF-B9F0-BA8E3A805657}" type="datetimeFigureOut">
              <a:rPr lang="pt-BR" smtClean="0"/>
              <a:pPr/>
              <a:t>04/11/2023</a:t>
            </a:fld>
            <a:endParaRPr lang="pt-BR"/>
          </a:p>
        </p:txBody>
      </p:sp>
      <p:sp>
        <p:nvSpPr>
          <p:cNvPr id="5" name="4 Marcador de pie de página"/>
          <p:cNvSpPr>
            <a:spLocks noGrp="1"/>
          </p:cNvSpPr>
          <p:nvPr>
            <p:ph type="ftr" sz="quarter" idx="11"/>
          </p:nvPr>
        </p:nvSpPr>
        <p:spPr/>
        <p:txBody>
          <a:bodyPr/>
          <a:lstStyle/>
          <a:p>
            <a:endParaRPr lang="pt-BR"/>
          </a:p>
        </p:txBody>
      </p:sp>
      <p:sp>
        <p:nvSpPr>
          <p:cNvPr id="6" name="5 Marcador de número de diapositiva"/>
          <p:cNvSpPr>
            <a:spLocks noGrp="1"/>
          </p:cNvSpPr>
          <p:nvPr>
            <p:ph type="sldNum" sz="quarter" idx="12"/>
          </p:nvPr>
        </p:nvSpPr>
        <p:spPr/>
        <p:txBody>
          <a:bodyPr/>
          <a:lstStyle/>
          <a:p>
            <a:fld id="{E66F1A87-29B9-445C-A527-D8A232FB1C03}" type="slidenum">
              <a:rPr lang="pt-BR" smtClean="0"/>
              <a:pPr/>
              <a:t>‹Nº›</a:t>
            </a:fld>
            <a:endParaRPr lang="pt-B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pt-B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4" name="3 Marcador de fecha"/>
          <p:cNvSpPr>
            <a:spLocks noGrp="1"/>
          </p:cNvSpPr>
          <p:nvPr>
            <p:ph type="dt" sz="half" idx="10"/>
          </p:nvPr>
        </p:nvSpPr>
        <p:spPr/>
        <p:txBody>
          <a:bodyPr/>
          <a:lstStyle/>
          <a:p>
            <a:fld id="{EE2A1A84-916D-4CCF-B9F0-BA8E3A805657}" type="datetimeFigureOut">
              <a:rPr lang="pt-BR" smtClean="0"/>
              <a:pPr/>
              <a:t>04/11/2023</a:t>
            </a:fld>
            <a:endParaRPr lang="pt-BR"/>
          </a:p>
        </p:txBody>
      </p:sp>
      <p:sp>
        <p:nvSpPr>
          <p:cNvPr id="5" name="4 Marcador de pie de página"/>
          <p:cNvSpPr>
            <a:spLocks noGrp="1"/>
          </p:cNvSpPr>
          <p:nvPr>
            <p:ph type="ftr" sz="quarter" idx="11"/>
          </p:nvPr>
        </p:nvSpPr>
        <p:spPr/>
        <p:txBody>
          <a:bodyPr/>
          <a:lstStyle/>
          <a:p>
            <a:endParaRPr lang="pt-BR"/>
          </a:p>
        </p:txBody>
      </p:sp>
      <p:sp>
        <p:nvSpPr>
          <p:cNvPr id="6" name="5 Marcador de número de diapositiva"/>
          <p:cNvSpPr>
            <a:spLocks noGrp="1"/>
          </p:cNvSpPr>
          <p:nvPr>
            <p:ph type="sldNum" sz="quarter" idx="12"/>
          </p:nvPr>
        </p:nvSpPr>
        <p:spPr/>
        <p:txBody>
          <a:bodyPr/>
          <a:lstStyle/>
          <a:p>
            <a:fld id="{E66F1A87-29B9-445C-A527-D8A232FB1C03}" type="slidenum">
              <a:rPr lang="pt-BR" smtClean="0"/>
              <a:pPr/>
              <a:t>‹Nº›</a:t>
            </a:fld>
            <a:endParaRPr lang="pt-B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ECF595"/>
            </a:gs>
            <a:gs pos="50000">
              <a:schemeClr val="tx2">
                <a:lumMod val="20000"/>
                <a:lumOff val="80000"/>
              </a:schemeClr>
            </a:gs>
            <a:gs pos="100000">
              <a:srgbClr val="FCBDB6"/>
            </a:gs>
          </a:gsLst>
          <a:lin ang="5400000" scaled="0"/>
          <a:tileRect/>
        </a:grad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pt-BR"/>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2A1A84-916D-4CCF-B9F0-BA8E3A805657}" type="datetimeFigureOut">
              <a:rPr lang="pt-BR" smtClean="0"/>
              <a:pPr/>
              <a:t>04/11/2023</a:t>
            </a:fld>
            <a:endParaRPr lang="pt-B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6F1A87-29B9-445C-A527-D8A232FB1C03}" type="slidenum">
              <a:rPr lang="pt-BR" smtClean="0"/>
              <a:pPr/>
              <a:t>‹Nº›</a:t>
            </a:fld>
            <a:endParaRPr lang="pt-B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4 Imagen" descr="Confederacion ESPERANZA Log01.JPG"/>
          <p:cNvPicPr>
            <a:picLocks noChangeAspect="1"/>
          </p:cNvPicPr>
          <p:nvPr/>
        </p:nvPicPr>
        <p:blipFill>
          <a:blip r:embed="rId2"/>
          <a:stretch>
            <a:fillRect/>
          </a:stretch>
        </p:blipFill>
        <p:spPr>
          <a:xfrm>
            <a:off x="142844" y="1785926"/>
            <a:ext cx="8885864" cy="4857784"/>
          </a:xfrm>
          <a:prstGeom prst="rect">
            <a:avLst/>
          </a:prstGeom>
        </p:spPr>
      </p:pic>
      <p:sp>
        <p:nvSpPr>
          <p:cNvPr id="6" name="5 Rectángulo"/>
          <p:cNvSpPr/>
          <p:nvPr/>
        </p:nvSpPr>
        <p:spPr>
          <a:xfrm>
            <a:off x="1785918" y="367955"/>
            <a:ext cx="5715040" cy="800219"/>
          </a:xfrm>
          <a:prstGeom prst="rect">
            <a:avLst/>
          </a:prstGeom>
          <a:effectLst/>
        </p:spPr>
        <p:txBody>
          <a:bodyPr wrap="square">
            <a:spAutoFit/>
          </a:bodyPr>
          <a:lstStyle/>
          <a:p>
            <a:pPr algn="ctr"/>
            <a:r>
              <a:rPr lang="es-ES" sz="2300" dirty="0" smtClean="0">
                <a:ln w="18415" cmpd="sng">
                  <a:noFill/>
                  <a:prstDash val="solid"/>
                </a:ln>
                <a:latin typeface="Book Antiqua" pitchFamily="18" charset="0"/>
              </a:rPr>
              <a:t>Comunicado 1</a:t>
            </a:r>
          </a:p>
          <a:p>
            <a:pPr algn="ctr"/>
            <a:r>
              <a:rPr lang="es-ES" sz="2300" smtClean="0">
                <a:ln w="18415" cmpd="sng">
                  <a:noFill/>
                  <a:prstDash val="solid"/>
                </a:ln>
                <a:latin typeface="Book Antiqua" pitchFamily="18" charset="0"/>
              </a:rPr>
              <a:t>Noviembre - </a:t>
            </a:r>
            <a:r>
              <a:rPr lang="es-ES" sz="2300" dirty="0" smtClean="0">
                <a:ln w="18415" cmpd="sng">
                  <a:noFill/>
                  <a:prstDash val="solid"/>
                </a:ln>
                <a:latin typeface="Book Antiqua" pitchFamily="18" charset="0"/>
              </a:rPr>
              <a:t>2023</a:t>
            </a:r>
            <a:endParaRPr lang="es-ES" sz="2300" dirty="0" smtClean="0">
              <a:ln w="18415" cmpd="sng">
                <a:noFill/>
                <a:prstDash val="solid"/>
              </a:ln>
              <a:latin typeface="Book Antiqua" pitchFamily="18" charset="0"/>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ECF595"/>
            </a:gs>
            <a:gs pos="50000">
              <a:schemeClr val="tx2">
                <a:lumMod val="20000"/>
                <a:lumOff val="80000"/>
              </a:schemeClr>
            </a:gs>
            <a:gs pos="100000">
              <a:srgbClr val="FCBDB6"/>
            </a:gs>
          </a:gsLst>
          <a:lin ang="5400000" scaled="0"/>
          <a:tileRect/>
        </a:gradFill>
        <a:effectLst/>
      </p:bgPr>
    </p:bg>
    <p:spTree>
      <p:nvGrpSpPr>
        <p:cNvPr id="1" name=""/>
        <p:cNvGrpSpPr/>
        <p:nvPr/>
      </p:nvGrpSpPr>
      <p:grpSpPr>
        <a:xfrm>
          <a:off x="0" y="0"/>
          <a:ext cx="0" cy="0"/>
          <a:chOff x="0" y="0"/>
          <a:chExt cx="0" cy="0"/>
        </a:xfrm>
      </p:grpSpPr>
      <p:sp>
        <p:nvSpPr>
          <p:cNvPr id="21" name="20 Rectángulo"/>
          <p:cNvSpPr/>
          <p:nvPr/>
        </p:nvSpPr>
        <p:spPr>
          <a:xfrm>
            <a:off x="1785918" y="1255373"/>
            <a:ext cx="5715040" cy="4339650"/>
          </a:xfrm>
          <a:prstGeom prst="rect">
            <a:avLst/>
          </a:prstGeom>
          <a:effectLst/>
        </p:spPr>
        <p:txBody>
          <a:bodyPr wrap="square">
            <a:spAutoFit/>
          </a:bodyPr>
          <a:lstStyle/>
          <a:p>
            <a:pPr algn="ctr">
              <a:lnSpc>
                <a:spcPct val="200000"/>
              </a:lnSpc>
              <a:spcAft>
                <a:spcPts val="1800"/>
              </a:spcAft>
            </a:pPr>
            <a:r>
              <a:rPr lang="es-ES" sz="2300" dirty="0" smtClean="0">
                <a:ln w="18415" cmpd="sng">
                  <a:noFill/>
                  <a:prstDash val="solid"/>
                </a:ln>
                <a:latin typeface="Book Antiqua" pitchFamily="18" charset="0"/>
              </a:rPr>
              <a:t>Venezuela ha sido destruida tan profundamente, que su recuperación amerita de un </a:t>
            </a:r>
            <a:r>
              <a:rPr lang="es-ES" sz="2300" dirty="0" smtClean="0">
                <a:ln w="18415" cmpd="sng">
                  <a:noFill/>
                  <a:prstDash val="solid"/>
                </a:ln>
                <a:latin typeface="Book Antiqua" pitchFamily="18" charset="0"/>
              </a:rPr>
              <a:t>tratamiento profundo que </a:t>
            </a:r>
            <a:r>
              <a:rPr lang="es-ES" sz="2300" dirty="0" smtClean="0">
                <a:ln w="18415" cmpd="sng">
                  <a:noFill/>
                  <a:prstDash val="solid"/>
                </a:ln>
                <a:latin typeface="Book Antiqua" pitchFamily="18" charset="0"/>
              </a:rPr>
              <a:t>implica </a:t>
            </a:r>
            <a:r>
              <a:rPr lang="es-ES" sz="2300" dirty="0" smtClean="0">
                <a:ln w="18415" cmpd="sng">
                  <a:noFill/>
                  <a:prstDash val="solid"/>
                </a:ln>
                <a:latin typeface="Book Antiqua" pitchFamily="18" charset="0"/>
              </a:rPr>
              <a:t>“dos cosas</a:t>
            </a:r>
            <a:r>
              <a:rPr lang="es-ES" sz="2300" dirty="0" smtClean="0">
                <a:ln w="18415" cmpd="sng">
                  <a:noFill/>
                  <a:prstDash val="solid"/>
                </a:ln>
                <a:latin typeface="Book Antiqua" pitchFamily="18" charset="0"/>
              </a:rPr>
              <a:t>” fundamentales y complementarias una de la otra, dado que son parte del mismo proceso</a:t>
            </a:r>
            <a:r>
              <a:rPr lang="es-ES" sz="2300" dirty="0" smtClean="0">
                <a:ln w="18415" cmpd="sng">
                  <a:noFill/>
                  <a:prstDash val="solid"/>
                </a:ln>
                <a:latin typeface="Book Antiqua" pitchFamily="18" charset="0"/>
              </a:rPr>
              <a:t>:</a:t>
            </a:r>
            <a:endParaRPr lang="es-ES" sz="2300" dirty="0" smtClean="0">
              <a:ln w="18415" cmpd="sng">
                <a:noFill/>
                <a:prstDash val="solid"/>
              </a:ln>
              <a:latin typeface="Book Antiqua" pitchFamily="18" charset="0"/>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500166" y="1877833"/>
            <a:ext cx="6143668" cy="2908489"/>
          </a:xfrm>
          <a:prstGeom prst="rect">
            <a:avLst/>
          </a:prstGeom>
          <a:effectLst/>
        </p:spPr>
        <p:txBody>
          <a:bodyPr wrap="square">
            <a:spAutoFit/>
          </a:bodyPr>
          <a:lstStyle/>
          <a:p>
            <a:pPr algn="ctr">
              <a:lnSpc>
                <a:spcPct val="150000"/>
              </a:lnSpc>
              <a:spcAft>
                <a:spcPts val="1800"/>
              </a:spcAft>
            </a:pPr>
            <a:r>
              <a:rPr lang="es-ES" sz="2300" dirty="0" smtClean="0">
                <a:ln w="18415" cmpd="sng">
                  <a:noFill/>
                  <a:prstDash val="solid"/>
                </a:ln>
                <a:latin typeface="Book Antiqua" pitchFamily="18" charset="0"/>
              </a:rPr>
              <a:t>La</a:t>
            </a:r>
          </a:p>
          <a:p>
            <a:pPr algn="ctr">
              <a:lnSpc>
                <a:spcPct val="150000"/>
              </a:lnSpc>
              <a:spcAft>
                <a:spcPts val="1800"/>
              </a:spcAft>
            </a:pPr>
            <a:r>
              <a:rPr lang="es-ES" sz="2300" dirty="0" smtClean="0">
                <a:ln w="18415" cmpd="sng">
                  <a:noFill/>
                  <a:prstDash val="solid"/>
                </a:ln>
                <a:latin typeface="Book Antiqua" pitchFamily="18" charset="0"/>
              </a:rPr>
              <a:t>RECUPERACIÓN de la PATRIA</a:t>
            </a:r>
          </a:p>
          <a:p>
            <a:pPr algn="ctr">
              <a:lnSpc>
                <a:spcPct val="150000"/>
              </a:lnSpc>
              <a:spcAft>
                <a:spcPts val="1800"/>
              </a:spcAft>
            </a:pPr>
            <a:r>
              <a:rPr lang="es-ES" sz="2300" dirty="0" smtClean="0">
                <a:ln w="18415" cmpd="sng">
                  <a:noFill/>
                  <a:prstDash val="solid"/>
                </a:ln>
                <a:latin typeface="Book Antiqua" pitchFamily="18" charset="0"/>
              </a:rPr>
              <a:t>… y la</a:t>
            </a:r>
          </a:p>
          <a:p>
            <a:pPr algn="ctr">
              <a:lnSpc>
                <a:spcPct val="150000"/>
              </a:lnSpc>
              <a:spcAft>
                <a:spcPts val="1800"/>
              </a:spcAft>
            </a:pPr>
            <a:r>
              <a:rPr lang="es-ES" sz="2300" dirty="0" smtClean="0">
                <a:ln w="18415" cmpd="sng">
                  <a:noFill/>
                  <a:prstDash val="solid"/>
                </a:ln>
                <a:latin typeface="Book Antiqua" pitchFamily="18" charset="0"/>
              </a:rPr>
              <a:t>REFUNDACIÓN de la REPÚBLICA</a:t>
            </a:r>
            <a:endParaRPr lang="es-ES" sz="2300" dirty="0" smtClean="0">
              <a:ln w="18415" cmpd="sng">
                <a:noFill/>
                <a:prstDash val="solid"/>
              </a:ln>
              <a:latin typeface="Book Antiqua" pitchFamily="18" charset="0"/>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214414" y="1073096"/>
            <a:ext cx="6786610" cy="4570482"/>
          </a:xfrm>
          <a:prstGeom prst="rect">
            <a:avLst/>
          </a:prstGeom>
          <a:effectLst/>
        </p:spPr>
        <p:txBody>
          <a:bodyPr wrap="square">
            <a:spAutoFit/>
          </a:bodyPr>
          <a:lstStyle/>
          <a:p>
            <a:pPr algn="ctr">
              <a:lnSpc>
                <a:spcPct val="200000"/>
              </a:lnSpc>
              <a:spcAft>
                <a:spcPts val="1800"/>
              </a:spcAft>
            </a:pPr>
            <a:r>
              <a:rPr lang="es-ES" sz="2300" dirty="0" smtClean="0">
                <a:ln w="18415" cmpd="sng">
                  <a:noFill/>
                  <a:prstDash val="solid"/>
                </a:ln>
                <a:latin typeface="Book Antiqua" pitchFamily="18" charset="0"/>
              </a:rPr>
              <a:t>Una cosa sin la otra, no va a funcionar bien ninguna.</a:t>
            </a:r>
          </a:p>
          <a:p>
            <a:pPr algn="ctr">
              <a:lnSpc>
                <a:spcPct val="200000"/>
              </a:lnSpc>
              <a:spcAft>
                <a:spcPts val="1800"/>
              </a:spcAft>
            </a:pPr>
            <a:r>
              <a:rPr lang="es-ES" sz="2300" dirty="0" smtClean="0">
                <a:ln w="18415" cmpd="sng">
                  <a:noFill/>
                  <a:prstDash val="solid"/>
                </a:ln>
                <a:effectLst/>
                <a:latin typeface="Book Antiqua" pitchFamily="18" charset="0"/>
              </a:rPr>
              <a:t>Si </a:t>
            </a:r>
            <a:r>
              <a:rPr lang="es-ES" sz="2300" dirty="0" smtClean="0">
                <a:ln w="18415" cmpd="sng">
                  <a:noFill/>
                  <a:prstDash val="solid"/>
                </a:ln>
                <a:effectLst/>
                <a:latin typeface="Book Antiqua" pitchFamily="18" charset="0"/>
              </a:rPr>
              <a:t>solo se recupera la patria sin que la república sea </a:t>
            </a:r>
            <a:r>
              <a:rPr lang="es-ES" sz="2300" dirty="0" smtClean="0">
                <a:ln w="18415" cmpd="sng">
                  <a:noFill/>
                  <a:prstDash val="solid"/>
                </a:ln>
                <a:effectLst/>
                <a:latin typeface="Book Antiqua" pitchFamily="18" charset="0"/>
              </a:rPr>
              <a:t>refundada, </a:t>
            </a:r>
            <a:r>
              <a:rPr lang="es-ES" sz="2300" dirty="0" smtClean="0">
                <a:ln w="18415" cmpd="sng">
                  <a:noFill/>
                  <a:prstDash val="solid"/>
                </a:ln>
                <a:effectLst/>
                <a:latin typeface="Book Antiqua" pitchFamily="18" charset="0"/>
              </a:rPr>
              <a:t>las fallas continuarán; y si se refunda la república sin que se recupere la patria, la misma será una farsa como hasta ahora es.</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785786" y="1071546"/>
            <a:ext cx="7500990" cy="4570482"/>
          </a:xfrm>
          <a:prstGeom prst="rect">
            <a:avLst/>
          </a:prstGeom>
          <a:effectLst/>
        </p:spPr>
        <p:txBody>
          <a:bodyPr wrap="square">
            <a:spAutoFit/>
          </a:bodyPr>
          <a:lstStyle/>
          <a:p>
            <a:pPr algn="ctr">
              <a:lnSpc>
                <a:spcPct val="200000"/>
              </a:lnSpc>
              <a:spcAft>
                <a:spcPts val="1800"/>
              </a:spcAft>
            </a:pPr>
            <a:r>
              <a:rPr lang="es-ES" sz="2300" dirty="0" smtClean="0">
                <a:ln w="18415" cmpd="sng">
                  <a:noFill/>
                  <a:prstDash val="solid"/>
                </a:ln>
                <a:effectLst/>
                <a:latin typeface="Book Antiqua" pitchFamily="18" charset="0"/>
              </a:rPr>
              <a:t>Ambas deben realizarse de manera conjunta y armonizada, pues, se complementan la una con la otra.</a:t>
            </a:r>
          </a:p>
          <a:p>
            <a:pPr algn="ctr">
              <a:lnSpc>
                <a:spcPct val="200000"/>
              </a:lnSpc>
              <a:spcAft>
                <a:spcPts val="1800"/>
              </a:spcAft>
            </a:pPr>
            <a:r>
              <a:rPr lang="es-ES" sz="2300" dirty="0" smtClean="0">
                <a:ln w="18415" cmpd="sng">
                  <a:noFill/>
                  <a:prstDash val="solid"/>
                </a:ln>
                <a:effectLst/>
                <a:latin typeface="Book Antiqua" pitchFamily="18" charset="0"/>
              </a:rPr>
              <a:t>Y ambas deben ser ejecutadas por la sociedad en su conjunto, lo que implica que la sociedad venezolana se organice lo mejor que pueda, en su justo lugar y a su debido tiempo.</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857224" y="906985"/>
            <a:ext cx="7429552" cy="4950907"/>
          </a:xfrm>
          <a:prstGeom prst="rect">
            <a:avLst/>
          </a:prstGeom>
          <a:effectLst/>
        </p:spPr>
        <p:txBody>
          <a:bodyPr wrap="square">
            <a:spAutoFit/>
          </a:bodyPr>
          <a:lstStyle/>
          <a:p>
            <a:pPr algn="ctr">
              <a:lnSpc>
                <a:spcPct val="200000"/>
              </a:lnSpc>
              <a:spcAft>
                <a:spcPts val="1800"/>
              </a:spcAft>
            </a:pPr>
            <a:r>
              <a:rPr lang="es-ES" sz="2300" dirty="0" smtClean="0">
                <a:ln w="18415" cmpd="sng">
                  <a:noFill/>
                  <a:prstDash val="solid"/>
                </a:ln>
                <a:effectLst/>
                <a:latin typeface="Book Antiqua" pitchFamily="18" charset="0"/>
              </a:rPr>
              <a:t>Como parte de ese proceso, mencionado al inicio, una parte de la sociedad venezolana, esa que no pretende tomar el poder para beneficiarse de él, esa que no sigue partido ni ideología política alguna, sino que ha entendido que debemos recuperar la patria y refundar la república en ella para poder tener las mejores posibilidades de que Venezuela sea lo que debe ser</a:t>
            </a:r>
            <a:r>
              <a:rPr lang="es-ES" sz="2300" dirty="0" smtClean="0">
                <a:ln w="18415" cmpd="sng">
                  <a:noFill/>
                  <a:prstDash val="solid"/>
                </a:ln>
                <a:effectLst/>
                <a:latin typeface="Book Antiqua" pitchFamily="18" charset="0"/>
              </a:rPr>
              <a:t>,…</a:t>
            </a:r>
            <a:endParaRPr lang="es-ES" sz="2300" dirty="0" smtClean="0">
              <a:ln w="18415" cmpd="sng">
                <a:noFill/>
                <a:prstDash val="solid"/>
              </a:ln>
              <a:effectLst/>
              <a:latin typeface="Book Antiqua" pitchFamily="18" charset="0"/>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857224" y="1862445"/>
            <a:ext cx="7358114" cy="2923877"/>
          </a:xfrm>
          <a:prstGeom prst="rect">
            <a:avLst/>
          </a:prstGeom>
          <a:effectLst/>
        </p:spPr>
        <p:txBody>
          <a:bodyPr wrap="square">
            <a:spAutoFit/>
          </a:bodyPr>
          <a:lstStyle/>
          <a:p>
            <a:pPr algn="ctr">
              <a:lnSpc>
                <a:spcPct val="200000"/>
              </a:lnSpc>
              <a:spcAft>
                <a:spcPts val="1800"/>
              </a:spcAft>
            </a:pPr>
            <a:r>
              <a:rPr lang="es-ES" sz="2300" dirty="0" smtClean="0">
                <a:ln w="18415" cmpd="sng">
                  <a:noFill/>
                  <a:prstDash val="solid"/>
                </a:ln>
                <a:effectLst/>
                <a:latin typeface="Book Antiqua" pitchFamily="18" charset="0"/>
              </a:rPr>
              <a:t>damos </a:t>
            </a:r>
            <a:r>
              <a:rPr lang="es-ES" sz="2300" dirty="0" smtClean="0">
                <a:ln w="18415" cmpd="sng">
                  <a:noFill/>
                  <a:prstDash val="solid"/>
                </a:ln>
                <a:effectLst/>
                <a:latin typeface="Book Antiqua" pitchFamily="18" charset="0"/>
              </a:rPr>
              <a:t>inicio a esta etapa que vamos a llamar la ETAPA INFORMATIVA Y FORMATIVA,  de lo que debe hacerse como paso previo a lo que ha de continuarse mas adelante.</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928662" y="1285860"/>
            <a:ext cx="7358114" cy="4243021"/>
          </a:xfrm>
          <a:prstGeom prst="rect">
            <a:avLst/>
          </a:prstGeom>
          <a:effectLst/>
        </p:spPr>
        <p:txBody>
          <a:bodyPr wrap="square">
            <a:spAutoFit/>
          </a:bodyPr>
          <a:lstStyle/>
          <a:p>
            <a:pPr algn="ctr">
              <a:lnSpc>
                <a:spcPct val="200000"/>
              </a:lnSpc>
              <a:spcAft>
                <a:spcPts val="1800"/>
              </a:spcAft>
            </a:pPr>
            <a:r>
              <a:rPr lang="es-ES" sz="2300" dirty="0" smtClean="0">
                <a:ln w="18415" cmpd="sng">
                  <a:noFill/>
                  <a:prstDash val="solid"/>
                </a:ln>
                <a:effectLst/>
                <a:latin typeface="Book Antiqua" pitchFamily="18" charset="0"/>
              </a:rPr>
              <a:t>Esta ETAPA INFORMATIVA Y FORMATIVA está dirigida a la sociedad venezolana y la llamada comunidad internacional; para ponerles en conocimiento de lo que ha de ser la próxima Constitución de la Patria venezolana y la República de Venezuela en su proceso de </a:t>
            </a:r>
            <a:r>
              <a:rPr lang="es-ES" sz="2300" dirty="0" smtClean="0">
                <a:ln w="18415" cmpd="sng">
                  <a:noFill/>
                  <a:prstDash val="solid"/>
                </a:ln>
                <a:effectLst/>
                <a:latin typeface="Book Antiqua" pitchFamily="18" charset="0"/>
              </a:rPr>
              <a:t>refundación</a:t>
            </a:r>
            <a:r>
              <a:rPr lang="es-ES" sz="2300" dirty="0" smtClean="0">
                <a:ln w="18415" cmpd="sng">
                  <a:noFill/>
                  <a:prstDash val="solid"/>
                </a:ln>
                <a:latin typeface="Book Antiqua" pitchFamily="18" charset="0"/>
              </a:rPr>
              <a:t>.</a:t>
            </a:r>
            <a:endParaRPr lang="es-ES" sz="2300" dirty="0" smtClean="0">
              <a:ln w="18415" cmpd="sng">
                <a:noFill/>
                <a:prstDash val="solid"/>
              </a:ln>
              <a:effectLst/>
              <a:latin typeface="Book Antiqua" pitchFamily="18" charset="0"/>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142976" y="1643050"/>
            <a:ext cx="6786610" cy="3631763"/>
          </a:xfrm>
          <a:prstGeom prst="rect">
            <a:avLst/>
          </a:prstGeom>
          <a:effectLst/>
        </p:spPr>
        <p:txBody>
          <a:bodyPr wrap="square">
            <a:spAutoFit/>
          </a:bodyPr>
          <a:lstStyle/>
          <a:p>
            <a:pPr algn="ctr">
              <a:lnSpc>
                <a:spcPct val="200000"/>
              </a:lnSpc>
              <a:spcAft>
                <a:spcPts val="1800"/>
              </a:spcAft>
            </a:pPr>
            <a:r>
              <a:rPr lang="es-ES" sz="2300" dirty="0" smtClean="0">
                <a:ln w="18415" cmpd="sng">
                  <a:noFill/>
                  <a:prstDash val="solid"/>
                </a:ln>
                <a:effectLst/>
                <a:latin typeface="Book Antiqua" pitchFamily="18" charset="0"/>
              </a:rPr>
              <a:t>No </a:t>
            </a:r>
            <a:r>
              <a:rPr lang="es-ES" sz="2300" dirty="0" smtClean="0">
                <a:ln w="18415" cmpd="sng">
                  <a:noFill/>
                  <a:prstDash val="solid"/>
                </a:ln>
                <a:effectLst/>
                <a:latin typeface="Book Antiqua" pitchFamily="18" charset="0"/>
              </a:rPr>
              <a:t>es una petición de permiso </a:t>
            </a:r>
            <a:r>
              <a:rPr lang="es-ES" sz="2300" dirty="0" smtClean="0">
                <a:ln w="18415" cmpd="sng">
                  <a:noFill/>
                  <a:prstDash val="solid"/>
                </a:ln>
                <a:effectLst/>
                <a:latin typeface="Book Antiqua" pitchFamily="18" charset="0"/>
              </a:rPr>
              <a:t>o licencia, ni </a:t>
            </a:r>
            <a:r>
              <a:rPr lang="es-ES" sz="2300" dirty="0" smtClean="0">
                <a:ln w="18415" cmpd="sng">
                  <a:noFill/>
                  <a:prstDash val="solid"/>
                </a:ln>
                <a:effectLst/>
                <a:latin typeface="Book Antiqua" pitchFamily="18" charset="0"/>
              </a:rPr>
              <a:t>lo que los socialistas llaman una consulta popular para ver si están o no, de acuerdo con </a:t>
            </a:r>
            <a:r>
              <a:rPr lang="es-ES" sz="2300" dirty="0" smtClean="0">
                <a:ln w="18415" cmpd="sng">
                  <a:noFill/>
                  <a:prstDash val="solid"/>
                </a:ln>
                <a:effectLst/>
                <a:latin typeface="Book Antiqua" pitchFamily="18" charset="0"/>
              </a:rPr>
              <a:t>esto, y luego imponer las decisiones ya tomadas por las cúpulas corruptas y aparentar ser </a:t>
            </a:r>
            <a:r>
              <a:rPr lang="es-ES" sz="2300" dirty="0" err="1" smtClean="0">
                <a:ln w="18415" cmpd="sng">
                  <a:noFill/>
                  <a:prstDash val="solid"/>
                </a:ln>
                <a:effectLst/>
                <a:latin typeface="Book Antiqua" pitchFamily="18" charset="0"/>
              </a:rPr>
              <a:t>democratas</a:t>
            </a:r>
            <a:r>
              <a:rPr lang="es-ES" sz="2300" dirty="0" smtClean="0">
                <a:ln w="18415" cmpd="sng">
                  <a:noFill/>
                  <a:prstDash val="solid"/>
                </a:ln>
                <a:effectLst/>
                <a:latin typeface="Book Antiqua" pitchFamily="18" charset="0"/>
              </a:rPr>
              <a:t>.</a:t>
            </a:r>
            <a:endParaRPr lang="es-ES" sz="2300" dirty="0" smtClean="0">
              <a:ln w="18415" cmpd="sng">
                <a:noFill/>
                <a:prstDash val="solid"/>
              </a:ln>
              <a:effectLst/>
              <a:latin typeface="Book Antiqua" pitchFamily="18" charset="0"/>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928662" y="602536"/>
            <a:ext cx="7286676" cy="5755422"/>
          </a:xfrm>
          <a:prstGeom prst="rect">
            <a:avLst/>
          </a:prstGeom>
          <a:effectLst/>
        </p:spPr>
        <p:txBody>
          <a:bodyPr wrap="square">
            <a:spAutoFit/>
          </a:bodyPr>
          <a:lstStyle/>
          <a:p>
            <a:pPr algn="ctr">
              <a:lnSpc>
                <a:spcPct val="200000"/>
              </a:lnSpc>
              <a:spcAft>
                <a:spcPts val="1800"/>
              </a:spcAft>
            </a:pPr>
            <a:r>
              <a:rPr lang="es-ES" sz="2300" dirty="0" smtClean="0">
                <a:ln w="18415" cmpd="sng">
                  <a:noFill/>
                  <a:prstDash val="solid"/>
                </a:ln>
                <a:effectLst/>
                <a:latin typeface="Book Antiqua" pitchFamily="18" charset="0"/>
              </a:rPr>
              <a:t>Cada artículo propuesto de lo que ha de ser la nueva Constitución, será notificado por las vías que estén a nuestro alcance para que quien quiera apoyar los artículos propuestos, pueda hacerlo de manera </a:t>
            </a:r>
            <a:r>
              <a:rPr lang="es-ES" sz="2300" dirty="0" smtClean="0">
                <a:ln w="18415" cmpd="sng">
                  <a:noFill/>
                  <a:prstDash val="solid"/>
                </a:ln>
                <a:effectLst/>
                <a:latin typeface="Book Antiqua" pitchFamily="18" charset="0"/>
              </a:rPr>
              <a:t>directa; </a:t>
            </a:r>
            <a:r>
              <a:rPr lang="es-ES" sz="2300" dirty="0" smtClean="0">
                <a:ln w="18415" cmpd="sng">
                  <a:noFill/>
                  <a:prstDash val="solid"/>
                </a:ln>
                <a:effectLst/>
                <a:latin typeface="Book Antiqua" pitchFamily="18" charset="0"/>
              </a:rPr>
              <a:t>incluso, habrá la opción para que cada quien deje por escrito, lo que considera deba ser la redacción, el sentido o esencia del artículo propuesto, o el por qué no esté de acuerdo con el </a:t>
            </a:r>
            <a:r>
              <a:rPr lang="es-ES" sz="2300" dirty="0" smtClean="0">
                <a:ln w="18415" cmpd="sng">
                  <a:noFill/>
                  <a:prstDash val="solid"/>
                </a:ln>
                <a:effectLst/>
                <a:latin typeface="Book Antiqua" pitchFamily="18" charset="0"/>
              </a:rPr>
              <a:t>mismo.</a:t>
            </a:r>
            <a:endParaRPr lang="es-ES" sz="2300" dirty="0" smtClean="0">
              <a:ln w="18415" cmpd="sng">
                <a:noFill/>
                <a:prstDash val="solid"/>
              </a:ln>
              <a:effectLst/>
              <a:latin typeface="Book Antiqua" pitchFamily="18" charset="0"/>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071538" y="428604"/>
            <a:ext cx="7000924" cy="5986254"/>
          </a:xfrm>
          <a:prstGeom prst="rect">
            <a:avLst/>
          </a:prstGeom>
          <a:effectLst/>
        </p:spPr>
        <p:txBody>
          <a:bodyPr wrap="square">
            <a:spAutoFit/>
          </a:bodyPr>
          <a:lstStyle/>
          <a:p>
            <a:pPr algn="ctr">
              <a:lnSpc>
                <a:spcPct val="200000"/>
              </a:lnSpc>
              <a:spcAft>
                <a:spcPts val="1800"/>
              </a:spcAft>
            </a:pPr>
            <a:r>
              <a:rPr lang="es-ES" sz="2300" dirty="0" smtClean="0">
                <a:ln w="18415" cmpd="sng">
                  <a:noFill/>
                  <a:prstDash val="solid"/>
                </a:ln>
                <a:effectLst/>
                <a:latin typeface="Book Antiqua" pitchFamily="18" charset="0"/>
              </a:rPr>
              <a:t>Así que</a:t>
            </a:r>
            <a:r>
              <a:rPr lang="es-ES" sz="2300" dirty="0" smtClean="0">
                <a:ln w="18415" cmpd="sng">
                  <a:noFill/>
                  <a:prstDash val="solid"/>
                </a:ln>
                <a:effectLst/>
                <a:latin typeface="Book Antiqua" pitchFamily="18" charset="0"/>
              </a:rPr>
              <a:t>, de esa manera, quien quiera o pueda, tendrá la posibilidad de participar en la redacción de la misma o si considera que nada debe redactar, podrá apoyar, o no, la propuesta, de manera directa, sin intermediarios.</a:t>
            </a:r>
          </a:p>
          <a:p>
            <a:pPr algn="ctr">
              <a:lnSpc>
                <a:spcPct val="200000"/>
              </a:lnSpc>
              <a:spcAft>
                <a:spcPts val="1800"/>
              </a:spcAft>
            </a:pPr>
            <a:r>
              <a:rPr lang="es-ES" sz="2300" dirty="0" smtClean="0">
                <a:ln w="18415" cmpd="sng">
                  <a:noFill/>
                  <a:prstDash val="solid"/>
                </a:ln>
                <a:effectLst/>
                <a:latin typeface="Book Antiqua" pitchFamily="18" charset="0"/>
              </a:rPr>
              <a:t>Sea cual fuere su decisión, estará participando, incluso hasta solo observando como participan los demás venezolanos.</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642910" y="571480"/>
            <a:ext cx="7715304" cy="5755422"/>
          </a:xfrm>
          <a:prstGeom prst="rect">
            <a:avLst/>
          </a:prstGeom>
          <a:effectLst/>
        </p:spPr>
        <p:txBody>
          <a:bodyPr wrap="square">
            <a:spAutoFit/>
          </a:bodyPr>
          <a:lstStyle/>
          <a:p>
            <a:pPr algn="ctr">
              <a:lnSpc>
                <a:spcPct val="200000"/>
              </a:lnSpc>
              <a:spcAft>
                <a:spcPts val="1800"/>
              </a:spcAft>
            </a:pPr>
            <a:r>
              <a:rPr lang="es-ES" sz="2300" dirty="0" smtClean="0">
                <a:ln w="18415" cmpd="sng">
                  <a:noFill/>
                  <a:prstDash val="solid"/>
                </a:ln>
                <a:latin typeface="Book Antiqua" pitchFamily="18" charset="0"/>
              </a:rPr>
              <a:t>Los llamados políticos, siguiendo directrices de sus socios internacionales, a los cuales están subordinados, especialmente los de mentalidad democrática, socialista, revolucionaria, nazista </a:t>
            </a:r>
            <a:r>
              <a:rPr lang="es-ES" sz="2300" dirty="0" smtClean="0">
                <a:ln w="18415" cmpd="sng">
                  <a:noFill/>
                  <a:prstDash val="solid"/>
                </a:ln>
                <a:latin typeface="Book Antiqua" pitchFamily="18" charset="0"/>
              </a:rPr>
              <a:t>y </a:t>
            </a:r>
            <a:r>
              <a:rPr lang="es-ES" sz="2300" dirty="0" smtClean="0">
                <a:ln w="18415" cmpd="sng">
                  <a:noFill/>
                  <a:prstDash val="solid"/>
                </a:ln>
                <a:latin typeface="Book Antiqua" pitchFamily="18" charset="0"/>
              </a:rPr>
              <a:t>fascista, que forman parte de este régimen, el cual está conformado por los partidos del gobierno, mas los partidos de la oposición; insisten en que creamos que con cambiar de presidente y de partido de gobierno, es suficiente. </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571472" y="428604"/>
            <a:ext cx="8001056" cy="5986254"/>
          </a:xfrm>
          <a:prstGeom prst="rect">
            <a:avLst/>
          </a:prstGeom>
          <a:effectLst/>
        </p:spPr>
        <p:txBody>
          <a:bodyPr wrap="square">
            <a:spAutoFit/>
          </a:bodyPr>
          <a:lstStyle/>
          <a:p>
            <a:pPr algn="ctr">
              <a:lnSpc>
                <a:spcPct val="200000"/>
              </a:lnSpc>
              <a:spcAft>
                <a:spcPts val="1800"/>
              </a:spcAft>
            </a:pPr>
            <a:r>
              <a:rPr lang="es-ES" sz="2300" dirty="0" smtClean="0">
                <a:ln w="18415" cmpd="sng">
                  <a:noFill/>
                  <a:prstDash val="solid"/>
                </a:ln>
                <a:latin typeface="Book Antiqua" pitchFamily="18" charset="0"/>
              </a:rPr>
              <a:t>Que no hace falta ni recuperar la patria ni refundar la república, sino que debemos aceptar, una vez mas, las reglas de un juego creado a la medida del organizador. </a:t>
            </a:r>
          </a:p>
          <a:p>
            <a:pPr algn="ctr">
              <a:lnSpc>
                <a:spcPct val="200000"/>
              </a:lnSpc>
              <a:spcAft>
                <a:spcPts val="1800"/>
              </a:spcAft>
            </a:pPr>
            <a:r>
              <a:rPr lang="es-ES" sz="2300" dirty="0" smtClean="0">
                <a:ln w="18415" cmpd="sng">
                  <a:noFill/>
                  <a:prstDash val="solid"/>
                </a:ln>
                <a:latin typeface="Book Antiqua" pitchFamily="18" charset="0"/>
              </a:rPr>
              <a:t>Que solo se debe cambiar al presidente, que a veces desconocen o califican de dictador, de usurpador, etc., pero </a:t>
            </a:r>
            <a:r>
              <a:rPr lang="es-ES" sz="2300" dirty="0" smtClean="0">
                <a:ln w="18415" cmpd="sng">
                  <a:noFill/>
                  <a:prstDash val="solid"/>
                </a:ln>
                <a:latin typeface="Book Antiqua" pitchFamily="18" charset="0"/>
              </a:rPr>
              <a:t>luego lo </a:t>
            </a:r>
            <a:r>
              <a:rPr lang="es-ES" sz="2300" dirty="0" smtClean="0">
                <a:ln w="18415" cmpd="sng">
                  <a:noFill/>
                  <a:prstDash val="solid"/>
                </a:ln>
                <a:latin typeface="Book Antiqua" pitchFamily="18" charset="0"/>
              </a:rPr>
              <a:t>reconocen como tal, y que mediante un “proceso electoral”, organizado por ese mismo que quieren sacar y que siempre le ha anunciado como el ganador, es suficiente.</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571472" y="142852"/>
            <a:ext cx="8072494" cy="6463308"/>
          </a:xfrm>
          <a:prstGeom prst="rect">
            <a:avLst/>
          </a:prstGeom>
          <a:effectLst/>
        </p:spPr>
        <p:txBody>
          <a:bodyPr wrap="square">
            <a:spAutoFit/>
          </a:bodyPr>
          <a:lstStyle/>
          <a:p>
            <a:pPr algn="ctr">
              <a:lnSpc>
                <a:spcPct val="200000"/>
              </a:lnSpc>
              <a:spcAft>
                <a:spcPts val="1800"/>
              </a:spcAft>
            </a:pPr>
            <a:r>
              <a:rPr lang="es-ES" sz="2300" dirty="0" smtClean="0">
                <a:ln w="18415" cmpd="sng">
                  <a:noFill/>
                  <a:prstDash val="solid"/>
                </a:ln>
                <a:latin typeface="Book Antiqua" pitchFamily="18" charset="0"/>
              </a:rPr>
              <a:t>Para </a:t>
            </a:r>
            <a:r>
              <a:rPr lang="es-ES" sz="2300" dirty="0" smtClean="0">
                <a:ln w="18415" cmpd="sng">
                  <a:noFill/>
                  <a:prstDash val="solid"/>
                </a:ln>
                <a:latin typeface="Book Antiqua" pitchFamily="18" charset="0"/>
              </a:rPr>
              <a:t>el </a:t>
            </a:r>
            <a:r>
              <a:rPr lang="es-ES" sz="2300" dirty="0" smtClean="0">
                <a:ln w="18415" cmpd="sng">
                  <a:noFill/>
                  <a:prstDash val="solid"/>
                </a:ln>
                <a:latin typeface="Book Antiqua" pitchFamily="18" charset="0"/>
              </a:rPr>
              <a:t>régimen y sus jefes </a:t>
            </a:r>
            <a:r>
              <a:rPr lang="es-ES" sz="2300" dirty="0" smtClean="0">
                <a:ln w="18415" cmpd="sng">
                  <a:noFill/>
                  <a:prstDash val="solid"/>
                </a:ln>
                <a:latin typeface="Book Antiqua" pitchFamily="18" charset="0"/>
              </a:rPr>
              <a:t>internacionales, </a:t>
            </a:r>
            <a:r>
              <a:rPr lang="es-ES" sz="2300" dirty="0" smtClean="0">
                <a:ln w="18415" cmpd="sng">
                  <a:noFill/>
                  <a:prstDash val="solid"/>
                </a:ln>
                <a:latin typeface="Book Antiqua" pitchFamily="18" charset="0"/>
              </a:rPr>
              <a:t>lo importante es recuperar la democracia, esa ideología política, </a:t>
            </a:r>
            <a:r>
              <a:rPr lang="es-ES" sz="2300" dirty="0" smtClean="0">
                <a:ln w="18415" cmpd="sng">
                  <a:noFill/>
                  <a:prstDash val="solid"/>
                </a:ln>
                <a:latin typeface="Book Antiqua" pitchFamily="18" charset="0"/>
              </a:rPr>
              <a:t>entendida, </a:t>
            </a:r>
            <a:r>
              <a:rPr lang="es-ES" sz="2300" dirty="0" smtClean="0">
                <a:ln w="18415" cmpd="sng">
                  <a:noFill/>
                  <a:prstDash val="solid"/>
                </a:ln>
                <a:latin typeface="Book Antiqua" pitchFamily="18" charset="0"/>
              </a:rPr>
              <a:t>según sus propios intereses, de una forma que les permita seguir viviendo del Estado y del llamado pueblo que vota por ellos, que según los </a:t>
            </a:r>
            <a:r>
              <a:rPr lang="es-ES" sz="2300" dirty="0" smtClean="0">
                <a:ln w="18415" cmpd="sng">
                  <a:noFill/>
                  <a:prstDash val="solid"/>
                </a:ln>
                <a:latin typeface="Book Antiqua" pitchFamily="18" charset="0"/>
              </a:rPr>
              <a:t>resultados </a:t>
            </a:r>
            <a:r>
              <a:rPr lang="es-ES" sz="2300" dirty="0" smtClean="0">
                <a:ln w="18415" cmpd="sng">
                  <a:noFill/>
                  <a:prstDash val="solid"/>
                </a:ln>
                <a:latin typeface="Book Antiqua" pitchFamily="18" charset="0"/>
              </a:rPr>
              <a:t>anunciados por el </a:t>
            </a:r>
            <a:r>
              <a:rPr lang="es-ES" sz="2300" dirty="0" smtClean="0">
                <a:ln w="18415" cmpd="sng">
                  <a:noFill/>
                  <a:prstDash val="solid"/>
                </a:ln>
                <a:latin typeface="Book Antiqua" pitchFamily="18" charset="0"/>
              </a:rPr>
              <a:t>mismo organizador</a:t>
            </a:r>
            <a:r>
              <a:rPr lang="es-ES" sz="2300" dirty="0" smtClean="0">
                <a:ln w="18415" cmpd="sng">
                  <a:noFill/>
                  <a:prstDash val="solid"/>
                </a:ln>
                <a:latin typeface="Book Antiqua" pitchFamily="18" charset="0"/>
              </a:rPr>
              <a:t>, </a:t>
            </a:r>
            <a:r>
              <a:rPr lang="es-ES" sz="2300" dirty="0" smtClean="0">
                <a:ln w="18415" cmpd="sng">
                  <a:noFill/>
                  <a:prstDash val="solid"/>
                </a:ln>
                <a:latin typeface="Book Antiqua" pitchFamily="18" charset="0"/>
              </a:rPr>
              <a:t>es </a:t>
            </a:r>
            <a:r>
              <a:rPr lang="es-ES" sz="2300" dirty="0" smtClean="0">
                <a:ln w="18415" cmpd="sng">
                  <a:noFill/>
                  <a:prstDash val="solid"/>
                </a:ln>
                <a:latin typeface="Book Antiqua" pitchFamily="18" charset="0"/>
              </a:rPr>
              <a:t>una </a:t>
            </a:r>
            <a:r>
              <a:rPr lang="es-ES" sz="2300" dirty="0" smtClean="0">
                <a:ln w="18415" cmpd="sng">
                  <a:noFill/>
                  <a:prstDash val="solid"/>
                </a:ln>
                <a:latin typeface="Book Antiqua" pitchFamily="18" charset="0"/>
              </a:rPr>
              <a:t>cantidad </a:t>
            </a:r>
            <a:r>
              <a:rPr lang="es-ES" sz="2300" dirty="0" smtClean="0">
                <a:ln w="18415" cmpd="sng">
                  <a:noFill/>
                  <a:prstDash val="solid"/>
                </a:ln>
                <a:latin typeface="Book Antiqua" pitchFamily="18" charset="0"/>
              </a:rPr>
              <a:t>cada vez mas reducida, por </a:t>
            </a:r>
            <a:r>
              <a:rPr lang="es-ES" sz="2300" dirty="0" smtClean="0">
                <a:ln w="18415" cmpd="sng">
                  <a:noFill/>
                  <a:prstDash val="solid"/>
                </a:ln>
                <a:latin typeface="Book Antiqua" pitchFamily="18" charset="0"/>
              </a:rPr>
              <a:t>cierto; eso basta para que se hagan algunos </a:t>
            </a:r>
            <a:r>
              <a:rPr lang="es-ES" sz="2300" dirty="0" smtClean="0">
                <a:ln w="18415" cmpd="sng">
                  <a:noFill/>
                  <a:prstDash val="solid"/>
                </a:ln>
                <a:latin typeface="Book Antiqua" pitchFamily="18" charset="0"/>
              </a:rPr>
              <a:t>ajustes en el </a:t>
            </a:r>
            <a:r>
              <a:rPr lang="es-ES" sz="2300" dirty="0" smtClean="0">
                <a:ln w="18415" cmpd="sng">
                  <a:noFill/>
                  <a:prstDash val="solid"/>
                </a:ln>
                <a:latin typeface="Book Antiqua" pitchFamily="18" charset="0"/>
              </a:rPr>
              <a:t>Sistema-Estado, </a:t>
            </a:r>
            <a:r>
              <a:rPr lang="es-ES" sz="2300" dirty="0" smtClean="0">
                <a:ln w="18415" cmpd="sng">
                  <a:noFill/>
                  <a:prstDash val="solid"/>
                </a:ln>
                <a:latin typeface="Book Antiqua" pitchFamily="18" charset="0"/>
              </a:rPr>
              <a:t>para que sea </a:t>
            </a:r>
            <a:r>
              <a:rPr lang="es-ES" sz="2300" dirty="0" smtClean="0">
                <a:ln w="18415" cmpd="sng">
                  <a:noFill/>
                  <a:prstDash val="solid"/>
                </a:ln>
                <a:latin typeface="Book Antiqua" pitchFamily="18" charset="0"/>
              </a:rPr>
              <a:t>socialista o como dicen ahora: mas “democrático, </a:t>
            </a:r>
            <a:r>
              <a:rPr lang="es-ES" sz="2300" dirty="0" smtClean="0">
                <a:ln w="18415" cmpd="sng">
                  <a:noFill/>
                  <a:prstDash val="solid"/>
                </a:ln>
                <a:latin typeface="Book Antiqua" pitchFamily="18" charset="0"/>
              </a:rPr>
              <a:t>de </a:t>
            </a:r>
            <a:r>
              <a:rPr lang="es-ES" sz="2300" dirty="0" smtClean="0">
                <a:ln w="18415" cmpd="sng">
                  <a:noFill/>
                  <a:prstDash val="solid"/>
                </a:ln>
                <a:latin typeface="Book Antiqua" pitchFamily="18" charset="0"/>
              </a:rPr>
              <a:t>derecho y de justicia social”.</a:t>
            </a:r>
            <a:endParaRPr lang="es-ES" sz="2300" dirty="0" smtClean="0">
              <a:ln w="18415" cmpd="sng">
                <a:noFill/>
                <a:prstDash val="solid"/>
              </a:ln>
              <a:latin typeface="Book Antiqua" pitchFamily="18" charset="0"/>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357290" y="500042"/>
            <a:ext cx="6500858" cy="5755422"/>
          </a:xfrm>
          <a:prstGeom prst="rect">
            <a:avLst/>
          </a:prstGeom>
          <a:effectLst/>
        </p:spPr>
        <p:txBody>
          <a:bodyPr wrap="square">
            <a:spAutoFit/>
          </a:bodyPr>
          <a:lstStyle/>
          <a:p>
            <a:pPr algn="ctr">
              <a:lnSpc>
                <a:spcPct val="200000"/>
              </a:lnSpc>
              <a:spcAft>
                <a:spcPts val="1800"/>
              </a:spcAft>
            </a:pPr>
            <a:r>
              <a:rPr lang="es-ES" sz="2300" dirty="0" smtClean="0">
                <a:ln w="18415" cmpd="sng">
                  <a:noFill/>
                  <a:prstDash val="solid"/>
                </a:ln>
                <a:latin typeface="Book Antiqua" pitchFamily="18" charset="0"/>
              </a:rPr>
              <a:t>El régimen sabe que </a:t>
            </a:r>
            <a:r>
              <a:rPr lang="es-ES" sz="2300" dirty="0" smtClean="0">
                <a:ln w="18415" cmpd="sng">
                  <a:noFill/>
                  <a:prstDash val="solid"/>
                </a:ln>
                <a:latin typeface="Book Antiqua" pitchFamily="18" charset="0"/>
              </a:rPr>
              <a:t>si procedemos a refundar la república y recuperar la patria, </a:t>
            </a:r>
            <a:r>
              <a:rPr lang="es-ES" sz="2300" dirty="0" smtClean="0">
                <a:ln w="18415" cmpd="sng">
                  <a:noFill/>
                  <a:prstDash val="solid"/>
                </a:ln>
                <a:latin typeface="Book Antiqua" pitchFamily="18" charset="0"/>
              </a:rPr>
              <a:t>no van a poder seguir viviendo </a:t>
            </a:r>
            <a:r>
              <a:rPr lang="es-ES" sz="2300" dirty="0" smtClean="0">
                <a:ln w="18415" cmpd="sng">
                  <a:noFill/>
                  <a:prstDash val="solid"/>
                </a:ln>
                <a:latin typeface="Book Antiqua" pitchFamily="18" charset="0"/>
              </a:rPr>
              <a:t>como hasta ahora viven, una especie de reyes, dueños y amos del </a:t>
            </a:r>
            <a:r>
              <a:rPr lang="es-ES" sz="2300" dirty="0" smtClean="0">
                <a:ln w="18415" cmpd="sng">
                  <a:noFill/>
                  <a:prstDash val="solid"/>
                </a:ln>
                <a:latin typeface="Book Antiqua" pitchFamily="18" charset="0"/>
              </a:rPr>
              <a:t>Estado, que </a:t>
            </a:r>
            <a:r>
              <a:rPr lang="es-ES" sz="2300" dirty="0" smtClean="0">
                <a:ln w="18415" cmpd="sng">
                  <a:noFill/>
                  <a:prstDash val="solid"/>
                </a:ln>
                <a:latin typeface="Book Antiqua" pitchFamily="18" charset="0"/>
              </a:rPr>
              <a:t>han de ser obedecidos y mantenidos, mediantes un conjunto de impuestos y tazas, cada vez mas injustas y </a:t>
            </a:r>
            <a:r>
              <a:rPr lang="es-ES" sz="2300" dirty="0" smtClean="0">
                <a:ln w="18415" cmpd="sng">
                  <a:noFill/>
                  <a:prstDash val="solid"/>
                </a:ln>
                <a:latin typeface="Book Antiqua" pitchFamily="18" charset="0"/>
              </a:rPr>
              <a:t>onerosas, ellos lo saben y por eso se opondrán y atacarán este proyecto.</a:t>
            </a:r>
            <a:endParaRPr lang="es-ES" sz="2300" dirty="0" smtClean="0">
              <a:ln w="18415" cmpd="sng">
                <a:noFill/>
                <a:prstDash val="solid"/>
              </a:ln>
              <a:latin typeface="Book Antiqua" pitchFamily="18" charset="0"/>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500166" y="881794"/>
            <a:ext cx="6357982" cy="5047536"/>
          </a:xfrm>
          <a:prstGeom prst="rect">
            <a:avLst/>
          </a:prstGeom>
          <a:effectLst/>
        </p:spPr>
        <p:txBody>
          <a:bodyPr wrap="square">
            <a:spAutoFit/>
          </a:bodyPr>
          <a:lstStyle/>
          <a:p>
            <a:pPr algn="ctr">
              <a:lnSpc>
                <a:spcPct val="200000"/>
              </a:lnSpc>
              <a:spcAft>
                <a:spcPts val="1800"/>
              </a:spcAft>
            </a:pPr>
            <a:r>
              <a:rPr lang="es-ES" sz="2300" dirty="0" smtClean="0">
                <a:ln w="18415" cmpd="sng">
                  <a:noFill/>
                  <a:prstDash val="solid"/>
                </a:ln>
                <a:latin typeface="Book Antiqua" pitchFamily="18" charset="0"/>
              </a:rPr>
              <a:t>Las organizaciones </a:t>
            </a:r>
            <a:r>
              <a:rPr lang="es-ES" sz="2300" dirty="0" smtClean="0">
                <a:ln w="18415" cmpd="sng">
                  <a:noFill/>
                  <a:prstDash val="solid"/>
                </a:ln>
                <a:latin typeface="Book Antiqua" pitchFamily="18" charset="0"/>
              </a:rPr>
              <a:t>e instituciones, de la sociedad civil, que ahora viven del actual gobierno, junto a los </a:t>
            </a:r>
            <a:r>
              <a:rPr lang="es-ES" sz="2300" dirty="0" smtClean="0">
                <a:ln w="18415" cmpd="sng">
                  <a:noFill/>
                  <a:prstDash val="solid"/>
                </a:ln>
                <a:latin typeface="Book Antiqua" pitchFamily="18" charset="0"/>
              </a:rPr>
              <a:t>partidos </a:t>
            </a:r>
            <a:r>
              <a:rPr lang="es-ES" sz="2300" dirty="0" smtClean="0">
                <a:ln w="18415" cmpd="sng">
                  <a:noFill/>
                  <a:prstDash val="solid"/>
                </a:ln>
                <a:latin typeface="Book Antiqua" pitchFamily="18" charset="0"/>
              </a:rPr>
              <a:t>de la </a:t>
            </a:r>
            <a:r>
              <a:rPr lang="es-ES" sz="2300" dirty="0" smtClean="0">
                <a:ln w="18415" cmpd="sng">
                  <a:noFill/>
                  <a:prstDash val="solid"/>
                </a:ln>
                <a:latin typeface="Book Antiqua" pitchFamily="18" charset="0"/>
              </a:rPr>
              <a:t>oposición democrática, </a:t>
            </a:r>
            <a:r>
              <a:rPr lang="es-ES" sz="2300" dirty="0" smtClean="0">
                <a:ln w="18415" cmpd="sng">
                  <a:noFill/>
                  <a:prstDash val="solid"/>
                </a:ln>
                <a:latin typeface="Book Antiqua" pitchFamily="18" charset="0"/>
              </a:rPr>
              <a:t>con sus socios internacionales, se unirán mucho mas para que nada de lo que hagamos, como sociedad organizada, sin partidos, sino como la sociedad que somos, </a:t>
            </a:r>
            <a:r>
              <a:rPr lang="es-ES" sz="2300" dirty="0" smtClean="0">
                <a:ln w="18415" cmpd="sng">
                  <a:noFill/>
                  <a:prstDash val="solid"/>
                </a:ln>
                <a:latin typeface="Book Antiqua" pitchFamily="18" charset="0"/>
              </a:rPr>
              <a:t>…</a:t>
            </a:r>
            <a:endParaRPr lang="es-ES" sz="2300" dirty="0" smtClean="0">
              <a:ln w="18415" cmpd="sng">
                <a:noFill/>
                <a:prstDash val="solid"/>
              </a:ln>
              <a:latin typeface="Book Antiqua" pitchFamily="18" charset="0"/>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571604" y="785794"/>
            <a:ext cx="6143668" cy="5047536"/>
          </a:xfrm>
          <a:prstGeom prst="rect">
            <a:avLst/>
          </a:prstGeom>
          <a:effectLst/>
        </p:spPr>
        <p:txBody>
          <a:bodyPr wrap="square">
            <a:spAutoFit/>
          </a:bodyPr>
          <a:lstStyle/>
          <a:p>
            <a:pPr algn="ctr">
              <a:lnSpc>
                <a:spcPct val="200000"/>
              </a:lnSpc>
              <a:spcAft>
                <a:spcPts val="1800"/>
              </a:spcAft>
            </a:pPr>
            <a:r>
              <a:rPr lang="es-ES" sz="2300" dirty="0" smtClean="0">
                <a:ln w="18415" cmpd="sng">
                  <a:noFill/>
                  <a:prstDash val="solid"/>
                </a:ln>
                <a:latin typeface="Book Antiqua" pitchFamily="18" charset="0"/>
              </a:rPr>
              <a:t>… conformada </a:t>
            </a:r>
            <a:r>
              <a:rPr lang="es-ES" sz="2300" dirty="0" smtClean="0">
                <a:ln w="18415" cmpd="sng">
                  <a:noFill/>
                  <a:prstDash val="solid"/>
                </a:ln>
                <a:latin typeface="Book Antiqua" pitchFamily="18" charset="0"/>
              </a:rPr>
              <a:t>por campesinos, pescadores, obreros, empleados, empresarios, profesionales, jóvenes, adultos, civiles y militares, en fin, por todos los que queremos salir de esta locura que los partidos, sin excepción, insisten en mantener, podamos </a:t>
            </a:r>
            <a:r>
              <a:rPr lang="es-ES" sz="2300" dirty="0" smtClean="0">
                <a:ln w="18415" cmpd="sng">
                  <a:noFill/>
                  <a:prstDash val="solid"/>
                </a:ln>
                <a:latin typeface="Book Antiqua" pitchFamily="18" charset="0"/>
              </a:rPr>
              <a:t>lograrlo, podamos hacerlo realidad.</a:t>
            </a:r>
            <a:endParaRPr lang="es-ES" sz="2300" dirty="0" smtClean="0">
              <a:ln w="18415" cmpd="sng">
                <a:noFill/>
                <a:prstDash val="solid"/>
              </a:ln>
              <a:latin typeface="Book Antiqua" pitchFamily="18" charset="0"/>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357290" y="428604"/>
            <a:ext cx="6429420" cy="5986254"/>
          </a:xfrm>
          <a:prstGeom prst="rect">
            <a:avLst/>
          </a:prstGeom>
          <a:effectLst/>
        </p:spPr>
        <p:txBody>
          <a:bodyPr wrap="square">
            <a:spAutoFit/>
          </a:bodyPr>
          <a:lstStyle/>
          <a:p>
            <a:pPr algn="ctr">
              <a:lnSpc>
                <a:spcPct val="200000"/>
              </a:lnSpc>
              <a:spcAft>
                <a:spcPts val="1800"/>
              </a:spcAft>
            </a:pPr>
            <a:r>
              <a:rPr lang="es-ES" sz="2300" dirty="0" smtClean="0">
                <a:ln w="18415" cmpd="sng">
                  <a:noFill/>
                  <a:prstDash val="solid"/>
                </a:ln>
                <a:latin typeface="Book Antiqua" pitchFamily="18" charset="0"/>
              </a:rPr>
              <a:t>No dudamos que recurrirán a las medidas que están acostumbrados a hacer, como la represión, el asesinato, la tortura, la calumnia, en engaño.</a:t>
            </a:r>
          </a:p>
          <a:p>
            <a:pPr algn="ctr">
              <a:lnSpc>
                <a:spcPct val="200000"/>
              </a:lnSpc>
              <a:spcAft>
                <a:spcPts val="1800"/>
              </a:spcAft>
            </a:pPr>
            <a:r>
              <a:rPr lang="es-ES" sz="2300" dirty="0" smtClean="0">
                <a:ln w="18415" cmpd="sng">
                  <a:noFill/>
                  <a:prstDash val="solid"/>
                </a:ln>
                <a:latin typeface="Book Antiqua" pitchFamily="18" charset="0"/>
              </a:rPr>
              <a:t>Se nos calificará de corruptos, delincuentes, criminales, viciosos, enfermos, que estamos financiados por el narcotráfico y sectores de lo que llaman la ultra </a:t>
            </a:r>
            <a:r>
              <a:rPr lang="es-ES" sz="2300" dirty="0" smtClean="0">
                <a:ln w="18415" cmpd="sng">
                  <a:noFill/>
                  <a:prstDash val="solid"/>
                </a:ln>
                <a:latin typeface="Book Antiqua" pitchFamily="18" charset="0"/>
              </a:rPr>
              <a:t>derecha, </a:t>
            </a:r>
            <a:r>
              <a:rPr lang="es-ES" sz="2300" dirty="0" smtClean="0">
                <a:ln w="18415" cmpd="sng">
                  <a:noFill/>
                  <a:prstDash val="solid"/>
                </a:ln>
                <a:latin typeface="Book Antiqua" pitchFamily="18" charset="0"/>
              </a:rPr>
              <a:t>los nazis y fascistas, entre otras peores cosas.</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285852" y="928670"/>
            <a:ext cx="6715172" cy="5278368"/>
          </a:xfrm>
          <a:prstGeom prst="rect">
            <a:avLst/>
          </a:prstGeom>
          <a:effectLst/>
        </p:spPr>
        <p:txBody>
          <a:bodyPr wrap="square">
            <a:spAutoFit/>
          </a:bodyPr>
          <a:lstStyle/>
          <a:p>
            <a:pPr algn="ctr">
              <a:lnSpc>
                <a:spcPct val="200000"/>
              </a:lnSpc>
              <a:spcAft>
                <a:spcPts val="1800"/>
              </a:spcAft>
            </a:pPr>
            <a:r>
              <a:rPr lang="es-ES" sz="2300" dirty="0" smtClean="0">
                <a:ln w="18415" cmpd="sng">
                  <a:noFill/>
                  <a:prstDash val="solid"/>
                </a:ln>
                <a:latin typeface="Book Antiqua" pitchFamily="18" charset="0"/>
              </a:rPr>
              <a:t>Queremos dejar </a:t>
            </a:r>
            <a:r>
              <a:rPr lang="es-ES" sz="2300" dirty="0" smtClean="0">
                <a:ln w="18415" cmpd="sng">
                  <a:noFill/>
                  <a:prstDash val="solid"/>
                </a:ln>
                <a:latin typeface="Book Antiqua" pitchFamily="18" charset="0"/>
              </a:rPr>
              <a:t>claro </a:t>
            </a:r>
            <a:r>
              <a:rPr lang="es-ES" sz="2300" dirty="0" smtClean="0">
                <a:ln w="18415" cmpd="sng">
                  <a:noFill/>
                  <a:prstDash val="solid"/>
                </a:ln>
                <a:latin typeface="Book Antiqua" pitchFamily="18" charset="0"/>
              </a:rPr>
              <a:t>que </a:t>
            </a:r>
            <a:r>
              <a:rPr lang="es-ES" sz="2300" dirty="0" smtClean="0">
                <a:ln w="18415" cmpd="sng">
                  <a:noFill/>
                  <a:prstDash val="solid"/>
                </a:ln>
                <a:latin typeface="Book Antiqua" pitchFamily="18" charset="0"/>
              </a:rPr>
              <a:t>esta confederación de ciudadanos, no </a:t>
            </a:r>
            <a:r>
              <a:rPr lang="es-ES" sz="2300" dirty="0" smtClean="0">
                <a:ln w="18415" cmpd="sng">
                  <a:noFill/>
                  <a:prstDash val="solid"/>
                </a:ln>
                <a:latin typeface="Book Antiqua" pitchFamily="18" charset="0"/>
              </a:rPr>
              <a:t>es un partido político que busca el poder o aspira algún cargo en el gobierno o del Estado.</a:t>
            </a:r>
          </a:p>
          <a:p>
            <a:pPr algn="ctr">
              <a:lnSpc>
                <a:spcPct val="200000"/>
              </a:lnSpc>
              <a:spcAft>
                <a:spcPts val="1800"/>
              </a:spcAft>
            </a:pPr>
            <a:r>
              <a:rPr lang="es-ES" sz="2300" dirty="0" smtClean="0">
                <a:ln w="18415" cmpd="sng">
                  <a:noFill/>
                  <a:prstDash val="solid"/>
                </a:ln>
                <a:latin typeface="Book Antiqua" pitchFamily="18" charset="0"/>
              </a:rPr>
              <a:t>Esto es solo un movimiento de base republicana, que cada quien podrá apoyar a su manera, sin formar parte de él</a:t>
            </a:r>
            <a:r>
              <a:rPr lang="es-ES" sz="2300" dirty="0" smtClean="0">
                <a:ln w="18415" cmpd="sng">
                  <a:noFill/>
                  <a:prstDash val="solid"/>
                </a:ln>
                <a:latin typeface="Book Antiqua" pitchFamily="18" charset="0"/>
              </a:rPr>
              <a:t>.</a:t>
            </a:r>
            <a:endParaRPr lang="es-ES" sz="2300" dirty="0" smtClean="0">
              <a:ln w="18415" cmpd="sng">
                <a:noFill/>
                <a:prstDash val="solid"/>
              </a:ln>
              <a:latin typeface="Book Antiqua" pitchFamily="18" charset="0"/>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214414" y="1500174"/>
            <a:ext cx="6715172" cy="4339650"/>
          </a:xfrm>
          <a:prstGeom prst="rect">
            <a:avLst/>
          </a:prstGeom>
          <a:effectLst/>
        </p:spPr>
        <p:txBody>
          <a:bodyPr wrap="square">
            <a:spAutoFit/>
          </a:bodyPr>
          <a:lstStyle/>
          <a:p>
            <a:pPr algn="ctr">
              <a:lnSpc>
                <a:spcPct val="200000"/>
              </a:lnSpc>
              <a:spcAft>
                <a:spcPts val="1800"/>
              </a:spcAft>
            </a:pPr>
            <a:r>
              <a:rPr lang="es-ES" sz="2300" dirty="0" smtClean="0">
                <a:ln w="18415" cmpd="sng">
                  <a:noFill/>
                  <a:prstDash val="solid"/>
                </a:ln>
                <a:latin typeface="Book Antiqua" pitchFamily="18" charset="0"/>
              </a:rPr>
              <a:t>El Equipo Director, de esta Confederación, solo </a:t>
            </a:r>
            <a:r>
              <a:rPr lang="es-ES" sz="2300" dirty="0" smtClean="0">
                <a:ln w="18415" cmpd="sng">
                  <a:noFill/>
                  <a:prstDash val="solid"/>
                </a:ln>
                <a:latin typeface="Book Antiqua" pitchFamily="18" charset="0"/>
              </a:rPr>
              <a:t>se limitará a servir y guiar a todos los venezolanos de bien que se identifiquen y quieran </a:t>
            </a:r>
            <a:r>
              <a:rPr lang="es-ES" sz="2300" dirty="0" smtClean="0">
                <a:ln w="18415" cmpd="sng">
                  <a:noFill/>
                  <a:prstDash val="solid"/>
                </a:ln>
                <a:latin typeface="Book Antiqua" pitchFamily="18" charset="0"/>
              </a:rPr>
              <a:t>el </a:t>
            </a:r>
            <a:r>
              <a:rPr lang="es-ES" sz="2300" dirty="0" smtClean="0">
                <a:ln w="18415" cmpd="sng">
                  <a:noFill/>
                  <a:prstDash val="solid"/>
                </a:ln>
                <a:latin typeface="Book Antiqua" pitchFamily="18" charset="0"/>
              </a:rPr>
              <a:t>objetivo </a:t>
            </a:r>
            <a:r>
              <a:rPr lang="es-ES" sz="2300" dirty="0" smtClean="0">
                <a:ln w="18415" cmpd="sng">
                  <a:noFill/>
                  <a:prstDash val="solid"/>
                </a:ln>
                <a:latin typeface="Book Antiqua" pitchFamily="18" charset="0"/>
              </a:rPr>
              <a:t>de </a:t>
            </a:r>
            <a:r>
              <a:rPr lang="es-ES" sz="2300" dirty="0" smtClean="0">
                <a:ln w="18415" cmpd="sng">
                  <a:noFill/>
                  <a:prstDash val="solid"/>
                </a:ln>
                <a:latin typeface="Book Antiqua" pitchFamily="18" charset="0"/>
              </a:rPr>
              <a:t>recuperar la patria y refundar la república en </a:t>
            </a:r>
            <a:r>
              <a:rPr lang="es-ES" sz="2300" dirty="0" smtClean="0">
                <a:ln w="18415" cmpd="sng">
                  <a:noFill/>
                  <a:prstDash val="solid"/>
                </a:ln>
                <a:latin typeface="Book Antiqua" pitchFamily="18" charset="0"/>
              </a:rPr>
              <a:t>Venezuela, en </a:t>
            </a:r>
            <a:r>
              <a:rPr lang="es-ES" sz="2300" dirty="0" smtClean="0">
                <a:ln w="18415" cmpd="sng">
                  <a:noFill/>
                  <a:prstDash val="solid"/>
                </a:ln>
                <a:latin typeface="Book Antiqua" pitchFamily="18" charset="0"/>
              </a:rPr>
              <a:t>esta parte del proceso que hemos llamado la Etapa Informativa y Formativa</a:t>
            </a:r>
            <a:r>
              <a:rPr lang="es-ES" sz="2300" dirty="0" smtClean="0">
                <a:ln w="18415" cmpd="sng">
                  <a:noFill/>
                  <a:prstDash val="solid"/>
                </a:ln>
                <a:latin typeface="Book Antiqua" pitchFamily="18" charset="0"/>
              </a:rPr>
              <a:t>.</a:t>
            </a:r>
            <a:endParaRPr lang="es-ES" sz="2300" dirty="0" smtClean="0">
              <a:ln w="18415" cmpd="sng">
                <a:noFill/>
                <a:prstDash val="solid"/>
              </a:ln>
              <a:latin typeface="Book Antiqua" pitchFamily="18" charset="0"/>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500166" y="835547"/>
            <a:ext cx="6215106" cy="4950907"/>
          </a:xfrm>
          <a:prstGeom prst="rect">
            <a:avLst/>
          </a:prstGeom>
          <a:effectLst/>
        </p:spPr>
        <p:txBody>
          <a:bodyPr wrap="square">
            <a:spAutoFit/>
          </a:bodyPr>
          <a:lstStyle/>
          <a:p>
            <a:pPr algn="ctr">
              <a:lnSpc>
                <a:spcPct val="200000"/>
              </a:lnSpc>
              <a:spcAft>
                <a:spcPts val="1800"/>
              </a:spcAft>
            </a:pPr>
            <a:r>
              <a:rPr lang="es-ES" sz="2300" dirty="0" smtClean="0">
                <a:ln w="18415" cmpd="sng">
                  <a:noFill/>
                  <a:prstDash val="solid"/>
                </a:ln>
                <a:latin typeface="Book Antiqua" pitchFamily="18" charset="0"/>
              </a:rPr>
              <a:t>Esta etapa incluye la promoción y difusión de los valores y los principios de la república, que han de ser necesarios para que sirvan de base sólida para la Venezuela que debe ser, es decir, una Venezuela decente, próspera, ética, generadora de riqueza y bienestar para todos los miembros de su sociedad</a:t>
            </a:r>
            <a:r>
              <a:rPr lang="es-ES" sz="2300" dirty="0" smtClean="0">
                <a:ln w="18415" cmpd="sng">
                  <a:noFill/>
                  <a:prstDash val="solid"/>
                </a:ln>
                <a:latin typeface="Book Antiqua" pitchFamily="18" charset="0"/>
              </a:rPr>
              <a:t>.</a:t>
            </a:r>
            <a:endParaRPr lang="es-ES" sz="2300" dirty="0" smtClean="0">
              <a:ln w="18415" cmpd="sng">
                <a:noFill/>
                <a:prstDash val="solid"/>
              </a:ln>
              <a:latin typeface="Book Antiqua" pitchFamily="18" charset="0"/>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571604" y="1857364"/>
            <a:ext cx="6215106" cy="2827249"/>
          </a:xfrm>
          <a:prstGeom prst="rect">
            <a:avLst/>
          </a:prstGeom>
          <a:effectLst/>
        </p:spPr>
        <p:txBody>
          <a:bodyPr wrap="square">
            <a:spAutoFit/>
          </a:bodyPr>
          <a:lstStyle/>
          <a:p>
            <a:pPr algn="ctr">
              <a:lnSpc>
                <a:spcPct val="200000"/>
              </a:lnSpc>
              <a:spcAft>
                <a:spcPts val="1800"/>
              </a:spcAft>
            </a:pPr>
            <a:r>
              <a:rPr lang="es-ES" sz="2300" dirty="0" smtClean="0">
                <a:ln w="18415" cmpd="sng">
                  <a:noFill/>
                  <a:prstDash val="solid"/>
                </a:ln>
                <a:latin typeface="Book Antiqua" pitchFamily="18" charset="0"/>
              </a:rPr>
              <a:t>También </a:t>
            </a:r>
            <a:r>
              <a:rPr lang="es-ES" sz="2300" dirty="0" smtClean="0">
                <a:ln w="18415" cmpd="sng">
                  <a:noFill/>
                  <a:prstDash val="solid"/>
                </a:ln>
                <a:latin typeface="Book Antiqua" pitchFamily="18" charset="0"/>
              </a:rPr>
              <a:t>se incluye el proceso Constituyente que generará las bases para la conformación del nuevo Estado republicano, el cual permitirá que esa Venezuela sea posible.</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000100" y="531098"/>
            <a:ext cx="7143800" cy="5755422"/>
          </a:xfrm>
          <a:prstGeom prst="rect">
            <a:avLst/>
          </a:prstGeom>
          <a:effectLst/>
        </p:spPr>
        <p:txBody>
          <a:bodyPr wrap="square">
            <a:spAutoFit/>
          </a:bodyPr>
          <a:lstStyle/>
          <a:p>
            <a:pPr algn="ctr">
              <a:lnSpc>
                <a:spcPct val="200000"/>
              </a:lnSpc>
              <a:spcAft>
                <a:spcPts val="1800"/>
              </a:spcAft>
            </a:pPr>
            <a:r>
              <a:rPr lang="es-ES" sz="2300" dirty="0" smtClean="0">
                <a:ln w="18415" cmpd="sng">
                  <a:noFill/>
                  <a:prstDash val="solid"/>
                </a:ln>
                <a:latin typeface="Book Antiqua" pitchFamily="18" charset="0"/>
              </a:rPr>
              <a:t>Habrá un inevitable período de transición, de ajustes, de desmontaje de este estado criminal, delictivo, </a:t>
            </a:r>
            <a:r>
              <a:rPr lang="es-ES" sz="2300" dirty="0" smtClean="0">
                <a:ln w="18415" cmpd="sng">
                  <a:noFill/>
                  <a:prstDash val="solid"/>
                </a:ln>
                <a:latin typeface="Book Antiqua" pitchFamily="18" charset="0"/>
              </a:rPr>
              <a:t>también llamado de “</a:t>
            </a:r>
            <a:r>
              <a:rPr lang="es-ES" sz="2300" dirty="0" smtClean="0">
                <a:ln w="18415" cmpd="sng">
                  <a:noFill/>
                  <a:prstDash val="solid"/>
                </a:ln>
                <a:latin typeface="Book Antiqua" pitchFamily="18" charset="0"/>
              </a:rPr>
              <a:t>estado </a:t>
            </a:r>
            <a:r>
              <a:rPr lang="es-ES" sz="2300" dirty="0" smtClean="0">
                <a:ln w="18415" cmpd="sng">
                  <a:noFill/>
                  <a:prstDash val="solid"/>
                </a:ln>
                <a:latin typeface="Book Antiqua" pitchFamily="18" charset="0"/>
              </a:rPr>
              <a:t>fallido”. Este período va a exigir de todos el mejor comportamiento ciudadano el cual a su vez, permita que el proceso sea el mas justo. No es un período de venganzas o cobro salvaje de cuentas. Es de rendición de cuentas y de colocación de las cosas en su mejor lugar.</a:t>
            </a:r>
            <a:endParaRPr lang="es-ES" sz="2300" dirty="0" smtClean="0">
              <a:ln w="18415" cmpd="sng">
                <a:noFill/>
                <a:prstDash val="solid"/>
              </a:ln>
              <a:latin typeface="Book Antiqua" pitchFamily="18" charset="0"/>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428728" y="1440311"/>
            <a:ext cx="6643734" cy="3631763"/>
          </a:xfrm>
          <a:prstGeom prst="rect">
            <a:avLst/>
          </a:prstGeom>
          <a:effectLst/>
        </p:spPr>
        <p:txBody>
          <a:bodyPr wrap="square">
            <a:spAutoFit/>
          </a:bodyPr>
          <a:lstStyle/>
          <a:p>
            <a:pPr algn="ctr">
              <a:lnSpc>
                <a:spcPct val="200000"/>
              </a:lnSpc>
              <a:spcAft>
                <a:spcPts val="1800"/>
              </a:spcAft>
            </a:pPr>
            <a:r>
              <a:rPr lang="es-ES" sz="2300" dirty="0" smtClean="0">
                <a:ln w="18415" cmpd="sng">
                  <a:noFill/>
                  <a:prstDash val="solid"/>
                </a:ln>
                <a:latin typeface="Book Antiqua" pitchFamily="18" charset="0"/>
              </a:rPr>
              <a:t>El </a:t>
            </a:r>
            <a:r>
              <a:rPr lang="es-ES" sz="2300" dirty="0" smtClean="0">
                <a:ln w="18415" cmpd="sng">
                  <a:noFill/>
                  <a:prstDash val="solid"/>
                </a:ln>
                <a:latin typeface="Book Antiqua" pitchFamily="18" charset="0"/>
              </a:rPr>
              <a:t>nuevo Estado republicano ha de formarse con los mejores ciudadanos  que resulten ganadores de los concursos  que se realicen para quienes formarán parte del mismo y de ese proceso de transición, que deberá ser de corta duración.</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500166" y="1643050"/>
            <a:ext cx="6286544" cy="3631763"/>
          </a:xfrm>
          <a:prstGeom prst="rect">
            <a:avLst/>
          </a:prstGeom>
          <a:effectLst/>
        </p:spPr>
        <p:txBody>
          <a:bodyPr wrap="square">
            <a:spAutoFit/>
          </a:bodyPr>
          <a:lstStyle/>
          <a:p>
            <a:pPr algn="ctr">
              <a:lnSpc>
                <a:spcPct val="200000"/>
              </a:lnSpc>
            </a:pPr>
            <a:r>
              <a:rPr lang="es-ES" sz="2300" dirty="0" smtClean="0">
                <a:ln w="18415" cmpd="sng">
                  <a:noFill/>
                  <a:prstDash val="solid"/>
                </a:ln>
                <a:latin typeface="Book Antiqua" pitchFamily="18" charset="0"/>
              </a:rPr>
              <a:t>Este proceso de selección se realizará dentro de la visión republicana la cual tiene como esencia y finalidad el </a:t>
            </a:r>
            <a:r>
              <a:rPr lang="es-ES" sz="2300" dirty="0" smtClean="0">
                <a:ln w="18415" cmpd="sng">
                  <a:noFill/>
                  <a:prstDash val="solid"/>
                </a:ln>
                <a:latin typeface="Book Antiqua" pitchFamily="18" charset="0"/>
              </a:rPr>
              <a:t>de servir a los ciudadanos con </a:t>
            </a:r>
            <a:r>
              <a:rPr lang="es-ES" sz="2300" dirty="0" smtClean="0">
                <a:ln w="18415" cmpd="sng">
                  <a:noFill/>
                  <a:prstDash val="solid"/>
                </a:ln>
                <a:latin typeface="Book Antiqua" pitchFamily="18" charset="0"/>
              </a:rPr>
              <a:t>la mayor y mejor eficacia y eficiencia</a:t>
            </a:r>
            <a:r>
              <a:rPr lang="es-ES" sz="2300" dirty="0" smtClean="0">
                <a:ln w="18415" cmpd="sng">
                  <a:noFill/>
                  <a:prstDash val="solid"/>
                </a:ln>
                <a:latin typeface="Book Antiqua" pitchFamily="18" charset="0"/>
              </a:rPr>
              <a:t>.</a:t>
            </a:r>
            <a:endParaRPr lang="es-ES" sz="2300" dirty="0" smtClean="0">
              <a:ln w="18415" cmpd="sng">
                <a:noFill/>
                <a:prstDash val="solid"/>
              </a:ln>
              <a:latin typeface="Book Antiqua" pitchFamily="18" charset="0"/>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500166" y="500042"/>
            <a:ext cx="6143668" cy="5755422"/>
          </a:xfrm>
          <a:prstGeom prst="rect">
            <a:avLst/>
          </a:prstGeom>
          <a:effectLst/>
        </p:spPr>
        <p:txBody>
          <a:bodyPr wrap="square">
            <a:spAutoFit/>
          </a:bodyPr>
          <a:lstStyle/>
          <a:p>
            <a:pPr algn="ctr">
              <a:lnSpc>
                <a:spcPct val="200000"/>
              </a:lnSpc>
            </a:pPr>
            <a:r>
              <a:rPr lang="es-ES" sz="2300" dirty="0" smtClean="0">
                <a:ln w="18415" cmpd="sng">
                  <a:noFill/>
                  <a:prstDash val="solid"/>
                </a:ln>
                <a:latin typeface="Book Antiqua" pitchFamily="18" charset="0"/>
              </a:rPr>
              <a:t>El </a:t>
            </a:r>
            <a:r>
              <a:rPr lang="es-ES" sz="2300" dirty="0" smtClean="0">
                <a:ln w="18415" cmpd="sng">
                  <a:noFill/>
                  <a:prstDash val="solid"/>
                </a:ln>
                <a:latin typeface="Book Antiqua" pitchFamily="18" charset="0"/>
              </a:rPr>
              <a:t>proceso constituyente producirá los funcionarios básicos del Estado de la república naciente y de éste Estado, por vía de concurso público, serán obtenidos los demás funcionarios que le permitan a ese Estado, cumplir con sus funciones de servicio público y representatividad ante la sociedad venezolana y el mundo.</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428728" y="1500174"/>
            <a:ext cx="6429420" cy="3808735"/>
          </a:xfrm>
          <a:prstGeom prst="rect">
            <a:avLst/>
          </a:prstGeom>
          <a:effectLst/>
        </p:spPr>
        <p:txBody>
          <a:bodyPr wrap="square">
            <a:spAutoFit/>
          </a:bodyPr>
          <a:lstStyle/>
          <a:p>
            <a:pPr algn="ctr">
              <a:lnSpc>
                <a:spcPct val="150000"/>
              </a:lnSpc>
            </a:pPr>
            <a:r>
              <a:rPr lang="es-ES" sz="2300" dirty="0" smtClean="0">
                <a:ln w="18415" cmpd="sng">
                  <a:noFill/>
                  <a:prstDash val="solid"/>
                </a:ln>
                <a:latin typeface="Book Antiqua" pitchFamily="18" charset="0"/>
              </a:rPr>
              <a:t>En lo inmediato, vamos a la etapa ya mencionada, les exhortamos a participar, será su decisión hacerlo de una u otra manera.</a:t>
            </a:r>
          </a:p>
          <a:p>
            <a:pPr algn="ctr">
              <a:lnSpc>
                <a:spcPct val="150000"/>
              </a:lnSpc>
            </a:pPr>
            <a:endParaRPr lang="es-ES" sz="2300" dirty="0" smtClean="0">
              <a:ln w="18415" cmpd="sng">
                <a:noFill/>
                <a:prstDash val="solid"/>
              </a:ln>
              <a:latin typeface="Book Antiqua" pitchFamily="18" charset="0"/>
            </a:endParaRPr>
          </a:p>
          <a:p>
            <a:pPr algn="ctr">
              <a:lnSpc>
                <a:spcPct val="150000"/>
              </a:lnSpc>
            </a:pPr>
            <a:r>
              <a:rPr lang="es-ES" sz="2300" dirty="0" smtClean="0">
                <a:ln w="18415" cmpd="sng">
                  <a:noFill/>
                  <a:prstDash val="solid"/>
                </a:ln>
                <a:latin typeface="Book Antiqua" pitchFamily="18" charset="0"/>
              </a:rPr>
              <a:t>Sea cual sea su decisión, el proceso se ha iniciado y deberá llegar a su meta, a su </a:t>
            </a:r>
            <a:r>
              <a:rPr lang="es-ES" sz="2300" dirty="0" smtClean="0">
                <a:ln w="18415" cmpd="sng">
                  <a:noFill/>
                  <a:prstDash val="solid"/>
                </a:ln>
                <a:latin typeface="Book Antiqua" pitchFamily="18" charset="0"/>
              </a:rPr>
              <a:t>etapa </a:t>
            </a:r>
            <a:r>
              <a:rPr lang="es-ES" sz="2300" dirty="0" smtClean="0">
                <a:ln w="18415" cmpd="sng">
                  <a:noFill/>
                  <a:prstDash val="solid"/>
                </a:ln>
                <a:latin typeface="Book Antiqua" pitchFamily="18" charset="0"/>
              </a:rPr>
              <a:t>y según </a:t>
            </a:r>
            <a:r>
              <a:rPr lang="es-ES" sz="2300" dirty="0" smtClean="0">
                <a:ln w="18415" cmpd="sng">
                  <a:noFill/>
                  <a:prstDash val="solid"/>
                </a:ln>
                <a:latin typeface="Book Antiqua" pitchFamily="18" charset="0"/>
              </a:rPr>
              <a:t>la necesidad requerida</a:t>
            </a:r>
            <a:r>
              <a:rPr lang="es-ES" sz="2300" dirty="0" smtClean="0">
                <a:ln w="18415" cmpd="sng">
                  <a:noFill/>
                  <a:prstDash val="solid"/>
                </a:ln>
                <a:latin typeface="Book Antiqua" pitchFamily="18" charset="0"/>
              </a:rPr>
              <a:t>.</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928662" y="571480"/>
            <a:ext cx="7500990" cy="5755422"/>
          </a:xfrm>
          <a:prstGeom prst="rect">
            <a:avLst/>
          </a:prstGeom>
          <a:effectLst/>
        </p:spPr>
        <p:txBody>
          <a:bodyPr wrap="square">
            <a:spAutoFit/>
          </a:bodyPr>
          <a:lstStyle/>
          <a:p>
            <a:pPr algn="ctr">
              <a:lnSpc>
                <a:spcPct val="200000"/>
              </a:lnSpc>
            </a:pPr>
            <a:r>
              <a:rPr lang="es-ES" sz="2300" dirty="0" smtClean="0">
                <a:ln w="18415" cmpd="sng">
                  <a:noFill/>
                  <a:prstDash val="solid"/>
                </a:ln>
                <a:latin typeface="Book Antiqua" pitchFamily="18" charset="0"/>
              </a:rPr>
              <a:t>Su participación es importante pero no es vital, en el sentido de que si no participa, nada se hará, eso debe quedar claro, esto no se esta </a:t>
            </a:r>
            <a:r>
              <a:rPr lang="es-ES" sz="2300" dirty="0" smtClean="0">
                <a:ln w="18415" cmpd="sng">
                  <a:noFill/>
                  <a:prstDash val="solid"/>
                </a:ln>
                <a:latin typeface="Book Antiqua" pitchFamily="18" charset="0"/>
              </a:rPr>
              <a:t>viendo como los </a:t>
            </a:r>
            <a:r>
              <a:rPr lang="es-ES" sz="2300" dirty="0" smtClean="0">
                <a:ln w="18415" cmpd="sng">
                  <a:noFill/>
                  <a:prstDash val="solid"/>
                </a:ln>
                <a:latin typeface="Book Antiqua" pitchFamily="18" charset="0"/>
              </a:rPr>
              <a:t>seguidores de ideologías </a:t>
            </a:r>
            <a:r>
              <a:rPr lang="es-ES" sz="2300" dirty="0" smtClean="0">
                <a:ln w="18415" cmpd="sng">
                  <a:noFill/>
                  <a:prstDash val="solid"/>
                </a:ln>
                <a:latin typeface="Book Antiqua" pitchFamily="18" charset="0"/>
              </a:rPr>
              <a:t>populistas, esa </a:t>
            </a:r>
            <a:r>
              <a:rPr lang="es-ES" sz="2300" dirty="0" smtClean="0">
                <a:ln w="18415" cmpd="sng">
                  <a:noFill/>
                  <a:prstDash val="solid"/>
                </a:ln>
                <a:latin typeface="Book Antiqua" pitchFamily="18" charset="0"/>
              </a:rPr>
              <a:t>que llaman </a:t>
            </a:r>
            <a:r>
              <a:rPr lang="es-ES" sz="2300" dirty="0" smtClean="0">
                <a:ln w="18415" cmpd="sng">
                  <a:noFill/>
                  <a:prstDash val="solid"/>
                </a:ln>
                <a:latin typeface="Book Antiqua" pitchFamily="18" charset="0"/>
              </a:rPr>
              <a:t>democrática o social-democrática, menos en una socialista-comunista-</a:t>
            </a:r>
            <a:r>
              <a:rPr lang="es-ES" sz="2300" dirty="0" err="1" smtClean="0">
                <a:ln w="18415" cmpd="sng">
                  <a:noFill/>
                  <a:prstDash val="solid"/>
                </a:ln>
                <a:latin typeface="Book Antiqua" pitchFamily="18" charset="0"/>
              </a:rPr>
              <a:t>nazifascista</a:t>
            </a:r>
            <a:r>
              <a:rPr lang="es-ES" sz="2300" dirty="0" smtClean="0">
                <a:ln w="18415" cmpd="sng">
                  <a:noFill/>
                  <a:prstDash val="solid"/>
                </a:ln>
                <a:latin typeface="Book Antiqua" pitchFamily="18" charset="0"/>
              </a:rPr>
              <a:t>-totalitarista, lo ven; esto </a:t>
            </a:r>
            <a:r>
              <a:rPr lang="es-ES" sz="2300" dirty="0" smtClean="0">
                <a:ln w="18415" cmpd="sng">
                  <a:noFill/>
                  <a:prstDash val="solid"/>
                </a:ln>
                <a:latin typeface="Book Antiqua" pitchFamily="18" charset="0"/>
              </a:rPr>
              <a:t>se basa </a:t>
            </a:r>
            <a:r>
              <a:rPr lang="es-ES" sz="2300" dirty="0" smtClean="0">
                <a:ln w="18415" cmpd="sng">
                  <a:noFill/>
                  <a:prstDash val="solid"/>
                </a:ln>
                <a:latin typeface="Book Antiqua" pitchFamily="18" charset="0"/>
              </a:rPr>
              <a:t>en la </a:t>
            </a:r>
            <a:r>
              <a:rPr lang="es-ES" sz="2300" dirty="0" smtClean="0">
                <a:ln w="18415" cmpd="sng">
                  <a:noFill/>
                  <a:prstDash val="solid"/>
                </a:ln>
                <a:latin typeface="Book Antiqua" pitchFamily="18" charset="0"/>
              </a:rPr>
              <a:t>visión republicana, esa que </a:t>
            </a:r>
            <a:r>
              <a:rPr lang="es-ES" sz="2300" dirty="0" smtClean="0">
                <a:ln w="18415" cmpd="sng">
                  <a:noFill/>
                  <a:prstDash val="solid"/>
                </a:ln>
                <a:latin typeface="Book Antiqua" pitchFamily="18" charset="0"/>
              </a:rPr>
              <a:t>parte del deber</a:t>
            </a:r>
            <a:r>
              <a:rPr lang="es-ES" sz="2300" dirty="0" smtClean="0">
                <a:ln w="18415" cmpd="sng">
                  <a:noFill/>
                  <a:prstDash val="solid"/>
                </a:ln>
                <a:latin typeface="Book Antiqua" pitchFamily="18" charset="0"/>
              </a:rPr>
              <a:t>, tanto en el ser, el hacer y el estar, entre </a:t>
            </a:r>
            <a:r>
              <a:rPr lang="es-ES" sz="2300" dirty="0" smtClean="0">
                <a:ln w="18415" cmpd="sng">
                  <a:noFill/>
                  <a:prstDash val="solid"/>
                </a:ln>
                <a:latin typeface="Book Antiqua" pitchFamily="18" charset="0"/>
              </a:rPr>
              <a:t>otras bases.</a:t>
            </a:r>
            <a:endParaRPr lang="es-ES" sz="2300" dirty="0" smtClean="0">
              <a:ln w="18415" cmpd="sng">
                <a:noFill/>
                <a:prstDash val="solid"/>
              </a:ln>
              <a:latin typeface="Book Antiqua" pitchFamily="18" charset="0"/>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214414" y="459660"/>
            <a:ext cx="6715172" cy="5755422"/>
          </a:xfrm>
          <a:prstGeom prst="rect">
            <a:avLst/>
          </a:prstGeom>
          <a:effectLst/>
        </p:spPr>
        <p:txBody>
          <a:bodyPr wrap="square">
            <a:spAutoFit/>
          </a:bodyPr>
          <a:lstStyle/>
          <a:p>
            <a:pPr algn="ctr">
              <a:lnSpc>
                <a:spcPct val="200000"/>
              </a:lnSpc>
            </a:pPr>
            <a:r>
              <a:rPr lang="es-ES" sz="2300" dirty="0" smtClean="0">
                <a:ln w="18415" cmpd="sng">
                  <a:noFill/>
                  <a:prstDash val="solid"/>
                </a:ln>
                <a:latin typeface="Book Antiqua" pitchFamily="18" charset="0"/>
              </a:rPr>
              <a:t>Venezuela necesita ser recuperada como Patria y su república debe ser refundada</a:t>
            </a:r>
            <a:r>
              <a:rPr lang="es-ES" sz="2300" dirty="0" smtClean="0">
                <a:ln w="18415" cmpd="sng">
                  <a:noFill/>
                  <a:prstDash val="solid"/>
                </a:ln>
                <a:latin typeface="Book Antiqua" pitchFamily="18" charset="0"/>
              </a:rPr>
              <a:t>. Esto </a:t>
            </a:r>
            <a:r>
              <a:rPr lang="es-ES" sz="2300" dirty="0" smtClean="0">
                <a:ln w="18415" cmpd="sng">
                  <a:noFill/>
                  <a:prstDash val="solid"/>
                </a:ln>
                <a:latin typeface="Book Antiqua" pitchFamily="18" charset="0"/>
              </a:rPr>
              <a:t>es algo que no puede seguir esperando </a:t>
            </a:r>
            <a:r>
              <a:rPr lang="es-ES" sz="2300" dirty="0" smtClean="0">
                <a:ln w="18415" cmpd="sng">
                  <a:noFill/>
                  <a:prstDash val="solid"/>
                </a:ln>
                <a:latin typeface="Book Antiqua" pitchFamily="18" charset="0"/>
              </a:rPr>
              <a:t>por que una </a:t>
            </a:r>
            <a:r>
              <a:rPr lang="es-ES" sz="2300" dirty="0" smtClean="0">
                <a:ln w="18415" cmpd="sng">
                  <a:noFill/>
                  <a:prstDash val="solid"/>
                </a:ln>
                <a:latin typeface="Book Antiqua" pitchFamily="18" charset="0"/>
              </a:rPr>
              <a:t>mayoría equis lo note y luego lo quiera, este proceso, de hecho, ya se ha iniciado y está en movimiento, desde hace tiempo, solo que ahora, se han conjugado una serie de elementos, que han generado un poco mas de fuerza y voluntad.</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357290" y="1651378"/>
            <a:ext cx="6500858" cy="4243021"/>
          </a:xfrm>
          <a:prstGeom prst="rect">
            <a:avLst/>
          </a:prstGeom>
          <a:effectLst/>
        </p:spPr>
        <p:txBody>
          <a:bodyPr wrap="square">
            <a:spAutoFit/>
          </a:bodyPr>
          <a:lstStyle/>
          <a:p>
            <a:pPr algn="ctr">
              <a:lnSpc>
                <a:spcPct val="200000"/>
              </a:lnSpc>
            </a:pPr>
            <a:r>
              <a:rPr lang="es-ES" sz="2300" dirty="0" smtClean="0">
                <a:ln w="18415" cmpd="sng">
                  <a:noFill/>
                  <a:prstDash val="solid"/>
                </a:ln>
                <a:latin typeface="Book Antiqua" pitchFamily="18" charset="0"/>
              </a:rPr>
              <a:t>¿Será alcanzado el objetivo y sus complementos?</a:t>
            </a:r>
          </a:p>
          <a:p>
            <a:pPr algn="ctr">
              <a:lnSpc>
                <a:spcPct val="200000"/>
              </a:lnSpc>
            </a:pPr>
            <a:endParaRPr lang="es-ES" sz="2300" dirty="0" smtClean="0">
              <a:ln w="18415" cmpd="sng">
                <a:noFill/>
                <a:prstDash val="solid"/>
              </a:ln>
              <a:latin typeface="Book Antiqua" pitchFamily="18" charset="0"/>
            </a:endParaRPr>
          </a:p>
          <a:p>
            <a:pPr algn="ctr">
              <a:lnSpc>
                <a:spcPct val="200000"/>
              </a:lnSpc>
            </a:pPr>
            <a:r>
              <a:rPr lang="es-ES" sz="2300" dirty="0" smtClean="0">
                <a:ln w="18415" cmpd="sng">
                  <a:noFill/>
                  <a:prstDash val="solid"/>
                </a:ln>
                <a:latin typeface="Book Antiqua" pitchFamily="18" charset="0"/>
              </a:rPr>
              <a:t>Solo Dios lo sabe y nuestra organización, disciplina, voluntad, constancia , dedicación y apego al deber ser, lo permita, lo genere, lo materialice.</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928662" y="142852"/>
            <a:ext cx="7215238" cy="6463308"/>
          </a:xfrm>
          <a:prstGeom prst="rect">
            <a:avLst/>
          </a:prstGeom>
          <a:effectLst/>
        </p:spPr>
        <p:txBody>
          <a:bodyPr wrap="square">
            <a:spAutoFit/>
          </a:bodyPr>
          <a:lstStyle/>
          <a:p>
            <a:pPr algn="ctr">
              <a:lnSpc>
                <a:spcPct val="200000"/>
              </a:lnSpc>
            </a:pPr>
            <a:r>
              <a:rPr lang="es-ES" sz="2300" dirty="0" smtClean="0">
                <a:ln w="18415" cmpd="sng">
                  <a:noFill/>
                  <a:prstDash val="solid"/>
                </a:ln>
                <a:latin typeface="Book Antiqua" pitchFamily="18" charset="0"/>
              </a:rPr>
              <a:t>La decisión se ha tomado, el movimiento se ha iniciado, los factores se han encontrado, las consecuencias se están produciendo y los resultados serán lo que esa disciplina, esa organización, esa voluntad, esa constancia, esa dedicación y ese apego al deber ser, producirá y ello no debe ser otra cosa que lo mejor para Venezuela y la sociedad decente que le conforma y está dispuesta a recuperar su patria y refundar la república en </a:t>
            </a:r>
            <a:r>
              <a:rPr lang="es-ES" sz="2300" dirty="0" smtClean="0">
                <a:ln w="18415" cmpd="sng">
                  <a:noFill/>
                  <a:prstDash val="solid"/>
                </a:ln>
                <a:latin typeface="Book Antiqua" pitchFamily="18" charset="0"/>
              </a:rPr>
              <a:t>ella, </a:t>
            </a:r>
            <a:r>
              <a:rPr lang="es-ES" sz="2300" dirty="0" smtClean="0">
                <a:ln w="18415" cmpd="sng">
                  <a:noFill/>
                  <a:prstDash val="solid"/>
                </a:ln>
                <a:latin typeface="Book Antiqua" pitchFamily="18" charset="0"/>
              </a:rPr>
              <a:t>como debe ser.</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928662" y="142852"/>
            <a:ext cx="7215238" cy="6463308"/>
          </a:xfrm>
          <a:prstGeom prst="rect">
            <a:avLst/>
          </a:prstGeom>
          <a:effectLst/>
        </p:spPr>
        <p:txBody>
          <a:bodyPr wrap="square">
            <a:spAutoFit/>
          </a:bodyPr>
          <a:lstStyle/>
          <a:p>
            <a:pPr algn="ctr">
              <a:lnSpc>
                <a:spcPct val="200000"/>
              </a:lnSpc>
            </a:pPr>
            <a:r>
              <a:rPr lang="es-ES" sz="2300" dirty="0" smtClean="0">
                <a:ln w="18415" cmpd="sng">
                  <a:noFill/>
                  <a:prstDash val="solid"/>
                </a:ln>
                <a:latin typeface="Book Antiqua" pitchFamily="18" charset="0"/>
              </a:rPr>
              <a:t>La decisión se ha tomado, el movimiento se ha iniciado, los factores se han encontrado, las consecuencias se están produciendo y los resultados serán lo que esa disciplina, esa organización, esa voluntad, esa constancia, esa dedicación y ese apego al deber ser, producirá y ello no debe ser otra cosa que lo mejor para Venezuela y la sociedad decente que le conforma y está dispuesta a recuperar su patria y refundar la república en </a:t>
            </a:r>
            <a:r>
              <a:rPr lang="es-ES" sz="2300" dirty="0" smtClean="0">
                <a:ln w="18415" cmpd="sng">
                  <a:noFill/>
                  <a:prstDash val="solid"/>
                </a:ln>
                <a:latin typeface="Book Antiqua" pitchFamily="18" charset="0"/>
              </a:rPr>
              <a:t>ella, </a:t>
            </a:r>
            <a:r>
              <a:rPr lang="es-ES" sz="2300" dirty="0" smtClean="0">
                <a:ln w="18415" cmpd="sng">
                  <a:noFill/>
                  <a:prstDash val="solid"/>
                </a:ln>
                <a:latin typeface="Book Antiqua" pitchFamily="18" charset="0"/>
              </a:rPr>
              <a:t>como debe ser.</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928662" y="142852"/>
            <a:ext cx="7215238" cy="6463308"/>
          </a:xfrm>
          <a:prstGeom prst="rect">
            <a:avLst/>
          </a:prstGeom>
          <a:effectLst/>
        </p:spPr>
        <p:txBody>
          <a:bodyPr wrap="square">
            <a:spAutoFit/>
          </a:bodyPr>
          <a:lstStyle/>
          <a:p>
            <a:pPr algn="ctr">
              <a:lnSpc>
                <a:spcPct val="200000"/>
              </a:lnSpc>
            </a:pPr>
            <a:r>
              <a:rPr lang="es-ES" sz="2300" dirty="0" smtClean="0">
                <a:ln w="18415" cmpd="sng">
                  <a:noFill/>
                  <a:prstDash val="solid"/>
                </a:ln>
                <a:latin typeface="Book Antiqua" pitchFamily="18" charset="0"/>
              </a:rPr>
              <a:t>Todo aquel y aquello que tome posición contraria e intente evitar que esto sea realizado, para continuar generando mas sufrimientos a la sociedad venezolana dentro y fuera del país, será considero un enemigo y como tal será tratado. Aspiramos lo bueno y lo mejor para todos los venezolanos de bien y que ello sea logrado por vías civilizadas y humanas. No es nuestra responsabilidad si quienes deben entregar la patria, deciden no hacerlo.</a:t>
            </a:r>
            <a:endParaRPr lang="es-ES" sz="2300" dirty="0" smtClean="0">
              <a:ln w="18415" cmpd="sng">
                <a:noFill/>
                <a:prstDash val="solid"/>
              </a:ln>
              <a:latin typeface="Book Antiqua" pitchFamily="18" charset="0"/>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2010</TotalTime>
  <Words>1917</Words>
  <Application>Microsoft Office PowerPoint</Application>
  <PresentationFormat>Presentación en pantalla (4:3)</PresentationFormat>
  <Paragraphs>47</Paragraphs>
  <Slides>33</Slides>
  <Notes>0</Notes>
  <HiddenSlides>0</HiddenSlides>
  <MMClips>0</MMClips>
  <ScaleCrop>false</ScaleCrop>
  <HeadingPairs>
    <vt:vector size="4" baseType="variant">
      <vt:variant>
        <vt:lpstr>Tema</vt:lpstr>
      </vt:variant>
      <vt:variant>
        <vt:i4>1</vt:i4>
      </vt:variant>
      <vt:variant>
        <vt:lpstr>Títulos de diapositiva</vt:lpstr>
      </vt:variant>
      <vt:variant>
        <vt:i4>33</vt:i4>
      </vt:variant>
    </vt:vector>
  </HeadingPairs>
  <TitlesOfParts>
    <vt:vector size="34" baseType="lpstr">
      <vt:lpstr>Tema de Office</vt:lpstr>
      <vt:lpstr>Diapositiva 1</vt:lpstr>
      <vt:lpstr>Diapositiva 2</vt:lpstr>
      <vt:lpstr>Diapositiva 3</vt:lpstr>
      <vt:lpstr>Diapositiva 4</vt:lpstr>
      <vt:lpstr>Diapositiva 5</vt:lpstr>
      <vt:lpstr>Diapositiva 6</vt:lpstr>
      <vt:lpstr>Diapositiva 7</vt:lpstr>
      <vt:lpstr>Diapositiva 8</vt:lpstr>
      <vt:lpstr>Diapositiva 9</vt:lpstr>
      <vt:lpstr>Diapositiva 10</vt:lpstr>
      <vt:lpstr>Diapositiva 11</vt:lpstr>
      <vt:lpstr>Diapositiva 12</vt:lpstr>
      <vt:lpstr>Diapositiva 13</vt:lpstr>
      <vt:lpstr>Diapositiva 14</vt:lpstr>
      <vt:lpstr>Diapositiva 15</vt:lpstr>
      <vt:lpstr>Diapositiva 16</vt:lpstr>
      <vt:lpstr>Diapositiva 17</vt:lpstr>
      <vt:lpstr>Diapositiva 18</vt:lpstr>
      <vt:lpstr>Diapositiva 19</vt:lpstr>
      <vt:lpstr>Diapositiva 20</vt:lpstr>
      <vt:lpstr>Diapositiva 21</vt:lpstr>
      <vt:lpstr>Diapositiva 22</vt:lpstr>
      <vt:lpstr>Diapositiva 23</vt:lpstr>
      <vt:lpstr>Diapositiva 24</vt:lpstr>
      <vt:lpstr>Diapositiva 25</vt:lpstr>
      <vt:lpstr>Diapositiva 26</vt:lpstr>
      <vt:lpstr>Diapositiva 27</vt:lpstr>
      <vt:lpstr>Diapositiva 28</vt:lpstr>
      <vt:lpstr>Diapositiva 29</vt:lpstr>
      <vt:lpstr>Diapositiva 30</vt:lpstr>
      <vt:lpstr>Diapositiva 31</vt:lpstr>
      <vt:lpstr>Diapositiva 32</vt:lpstr>
      <vt:lpstr>Diapositiva 33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Henry Diaz</dc:creator>
  <cp:lastModifiedBy>Henry Diaz</cp:lastModifiedBy>
  <cp:revision>139</cp:revision>
  <dcterms:created xsi:type="dcterms:W3CDTF">2023-10-15T16:47:29Z</dcterms:created>
  <dcterms:modified xsi:type="dcterms:W3CDTF">2023-11-04T22:20:40Z</dcterms:modified>
</cp:coreProperties>
</file>