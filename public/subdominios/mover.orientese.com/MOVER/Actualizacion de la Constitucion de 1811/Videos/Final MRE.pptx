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3" r:id="rId4"/>
    <p:sldId id="264" r:id="rId5"/>
    <p:sldId id="261" r:id="rId6"/>
    <p:sldId id="265" r:id="rId7"/>
    <p:sldId id="262" r:id="rId8"/>
    <p:sldId id="266" r:id="rId9"/>
    <p:sldId id="260" r:id="rId10"/>
    <p:sldId id="282" r:id="rId11"/>
    <p:sldId id="267" r:id="rId12"/>
    <p:sldId id="280" r:id="rId13"/>
    <p:sldId id="268" r:id="rId14"/>
    <p:sldId id="269" r:id="rId15"/>
    <p:sldId id="271" r:id="rId16"/>
    <p:sldId id="270" r:id="rId17"/>
    <p:sldId id="272" r:id="rId18"/>
    <p:sldId id="273" r:id="rId19"/>
    <p:sldId id="274" r:id="rId20"/>
    <p:sldId id="279" r:id="rId21"/>
    <p:sldId id="259" r:id="rId22"/>
    <p:sldId id="278" r:id="rId23"/>
    <p:sldId id="276" r:id="rId24"/>
    <p:sldId id="277" r:id="rId25"/>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760" autoAdjust="0"/>
    <p:restoredTop sz="94660"/>
  </p:normalViewPr>
  <p:slideViewPr>
    <p:cSldViewPr>
      <p:cViewPr varScale="1">
        <p:scale>
          <a:sx n="99" d="100"/>
          <a:sy n="99" d="100"/>
        </p:scale>
        <p:origin x="-23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pt-B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pt-BR"/>
          </a:p>
        </p:txBody>
      </p:sp>
      <p:sp>
        <p:nvSpPr>
          <p:cNvPr id="4" name="3 Marcador de fecha"/>
          <p:cNvSpPr>
            <a:spLocks noGrp="1"/>
          </p:cNvSpPr>
          <p:nvPr>
            <p:ph type="dt" sz="half" idx="10"/>
          </p:nvPr>
        </p:nvSpPr>
        <p:spPr/>
        <p:txBody>
          <a:bodyPr/>
          <a:lstStyle/>
          <a:p>
            <a:fld id="{EE2A1A84-916D-4CCF-B9F0-BA8E3A805657}" type="datetimeFigureOut">
              <a:rPr lang="pt-BR" smtClean="0"/>
              <a:pPr/>
              <a:t>03/11/2023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EE2A1A84-916D-4CCF-B9F0-BA8E3A805657}" type="datetimeFigureOut">
              <a:rPr lang="pt-BR" smtClean="0"/>
              <a:pPr/>
              <a:t>03/11/2023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EE2A1A84-916D-4CCF-B9F0-BA8E3A805657}" type="datetimeFigureOut">
              <a:rPr lang="pt-BR" smtClean="0"/>
              <a:pPr/>
              <a:t>03/11/2023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5" name="4 Marcador de fecha"/>
          <p:cNvSpPr>
            <a:spLocks noGrp="1"/>
          </p:cNvSpPr>
          <p:nvPr>
            <p:ph type="dt" sz="half" idx="10"/>
          </p:nvPr>
        </p:nvSpPr>
        <p:spPr/>
        <p:txBody>
          <a:bodyPr/>
          <a:lstStyle/>
          <a:p>
            <a:fld id="{EE2A1A84-916D-4CCF-B9F0-BA8E3A805657}" type="datetimeFigureOut">
              <a:rPr lang="pt-BR" smtClean="0"/>
              <a:pPr/>
              <a:t>03/11/2023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7" name="6 Marcador de fecha"/>
          <p:cNvSpPr>
            <a:spLocks noGrp="1"/>
          </p:cNvSpPr>
          <p:nvPr>
            <p:ph type="dt" sz="half" idx="10"/>
          </p:nvPr>
        </p:nvSpPr>
        <p:spPr/>
        <p:txBody>
          <a:bodyPr/>
          <a:lstStyle/>
          <a:p>
            <a:fld id="{EE2A1A84-916D-4CCF-B9F0-BA8E3A805657}" type="datetimeFigureOut">
              <a:rPr lang="pt-BR" smtClean="0"/>
              <a:pPr/>
              <a:t>03/11/2023</a:t>
            </a:fld>
            <a:endParaRPr lang="pt-BR"/>
          </a:p>
        </p:txBody>
      </p:sp>
      <p:sp>
        <p:nvSpPr>
          <p:cNvPr id="8" name="7 Marcador de pie de página"/>
          <p:cNvSpPr>
            <a:spLocks noGrp="1"/>
          </p:cNvSpPr>
          <p:nvPr>
            <p:ph type="ftr" sz="quarter" idx="11"/>
          </p:nvPr>
        </p:nvSpPr>
        <p:spPr/>
        <p:txBody>
          <a:bodyPr/>
          <a:lstStyle/>
          <a:p>
            <a:endParaRPr lang="pt-BR"/>
          </a:p>
        </p:txBody>
      </p:sp>
      <p:sp>
        <p:nvSpPr>
          <p:cNvPr id="9" name="8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fecha"/>
          <p:cNvSpPr>
            <a:spLocks noGrp="1"/>
          </p:cNvSpPr>
          <p:nvPr>
            <p:ph type="dt" sz="half" idx="10"/>
          </p:nvPr>
        </p:nvSpPr>
        <p:spPr/>
        <p:txBody>
          <a:bodyPr/>
          <a:lstStyle/>
          <a:p>
            <a:fld id="{EE2A1A84-916D-4CCF-B9F0-BA8E3A805657}" type="datetimeFigureOut">
              <a:rPr lang="pt-BR" smtClean="0"/>
              <a:pPr/>
              <a:t>03/11/2023</a:t>
            </a:fld>
            <a:endParaRPr lang="pt-BR"/>
          </a:p>
        </p:txBody>
      </p:sp>
      <p:sp>
        <p:nvSpPr>
          <p:cNvPr id="4" name="3 Marcador de pie de página"/>
          <p:cNvSpPr>
            <a:spLocks noGrp="1"/>
          </p:cNvSpPr>
          <p:nvPr>
            <p:ph type="ftr" sz="quarter" idx="11"/>
          </p:nvPr>
        </p:nvSpPr>
        <p:spPr/>
        <p:txBody>
          <a:bodyPr/>
          <a:lstStyle/>
          <a:p>
            <a:endParaRPr lang="pt-BR"/>
          </a:p>
        </p:txBody>
      </p:sp>
      <p:sp>
        <p:nvSpPr>
          <p:cNvPr id="5" name="4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EE2A1A84-916D-4CCF-B9F0-BA8E3A805657}" type="datetimeFigureOut">
              <a:rPr lang="pt-BR" smtClean="0"/>
              <a:pPr/>
              <a:t>03/11/2023</a:t>
            </a:fld>
            <a:endParaRPr lang="pt-BR"/>
          </a:p>
        </p:txBody>
      </p:sp>
      <p:sp>
        <p:nvSpPr>
          <p:cNvPr id="3" name="2 Marcador de pie de página"/>
          <p:cNvSpPr>
            <a:spLocks noGrp="1"/>
          </p:cNvSpPr>
          <p:nvPr>
            <p:ph type="ftr" sz="quarter" idx="11"/>
          </p:nvPr>
        </p:nvSpPr>
        <p:spPr/>
        <p:txBody>
          <a:bodyPr/>
          <a:lstStyle/>
          <a:p>
            <a:endParaRPr lang="pt-BR"/>
          </a:p>
        </p:txBody>
      </p:sp>
      <p:sp>
        <p:nvSpPr>
          <p:cNvPr id="4" name="3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pt-B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EE2A1A84-916D-4CCF-B9F0-BA8E3A805657}" type="datetimeFigureOut">
              <a:rPr lang="pt-BR" smtClean="0"/>
              <a:pPr/>
              <a:t>03/11/2023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pt-B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EE2A1A84-916D-4CCF-B9F0-BA8E3A805657}" type="datetimeFigureOut">
              <a:rPr lang="pt-BR" smtClean="0"/>
              <a:pPr/>
              <a:t>03/11/2023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EE2A1A84-916D-4CCF-B9F0-BA8E3A805657}" type="datetimeFigureOut">
              <a:rPr lang="pt-BR" smtClean="0"/>
              <a:pPr/>
              <a:t>03/11/2023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pt-B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EE2A1A84-916D-4CCF-B9F0-BA8E3A805657}" type="datetimeFigureOut">
              <a:rPr lang="pt-BR" smtClean="0"/>
              <a:pPr/>
              <a:t>03/11/2023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E66F1A87-29B9-445C-A527-D8A232FB1C03}" type="slidenum">
              <a:rPr lang="pt-BR" smtClean="0"/>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2A1A84-916D-4CCF-B9F0-BA8E3A805657}" type="datetimeFigureOut">
              <a:rPr lang="pt-BR" smtClean="0"/>
              <a:pPr/>
              <a:t>03/11/2023</a:t>
            </a:fld>
            <a:endParaRPr lang="pt-B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6F1A87-29B9-445C-A527-D8A232FB1C03}"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p:cNvPicPr>
            <a:picLocks noChangeAspect="1" noChangeArrowheads="1"/>
          </p:cNvPicPr>
          <p:nvPr/>
        </p:nvPicPr>
        <p:blipFill>
          <a:blip r:embed="rId2"/>
          <a:srcRect/>
          <a:stretch>
            <a:fillRect/>
          </a:stretch>
        </p:blipFill>
        <p:spPr bwMode="auto">
          <a:xfrm>
            <a:off x="408741" y="113360"/>
            <a:ext cx="8378101" cy="4030020"/>
          </a:xfrm>
          <a:prstGeom prst="rect">
            <a:avLst/>
          </a:prstGeom>
          <a:noFill/>
          <a:ln w="9525">
            <a:noFill/>
            <a:miter lim="800000"/>
            <a:headEnd/>
            <a:tailEnd/>
          </a:ln>
          <a:effectLst/>
        </p:spPr>
      </p:pic>
      <p:sp>
        <p:nvSpPr>
          <p:cNvPr id="21" name="20 Rectángulo"/>
          <p:cNvSpPr/>
          <p:nvPr/>
        </p:nvSpPr>
        <p:spPr>
          <a:xfrm>
            <a:off x="571440" y="4278491"/>
            <a:ext cx="8072526" cy="507831"/>
          </a:xfrm>
          <a:prstGeom prst="rect">
            <a:avLst/>
          </a:prstGeom>
          <a:effectLst>
            <a:outerShdw blurRad="50800" dist="38100" dir="2700000" algn="tl" rotWithShape="0">
              <a:schemeClr val="tx1">
                <a:alpha val="50000"/>
              </a:schemeClr>
            </a:outerShdw>
          </a:effectLst>
        </p:spPr>
        <p:txBody>
          <a:bodyPr wrap="square">
            <a:spAutoFit/>
          </a:bodyPr>
          <a:lstStyle/>
          <a:p>
            <a:pPr algn="ctr"/>
            <a:r>
              <a:rPr lang="es-ES" sz="2700" dirty="0" smtClean="0">
                <a:ln w="18415" cmpd="sng">
                  <a:noFill/>
                  <a:prstDash val="solid"/>
                </a:ln>
                <a:latin typeface="Book Antiqua" pitchFamily="18" charset="0"/>
              </a:rPr>
              <a:t>En armonía, las pequeñas cosas crecen.</a:t>
            </a:r>
          </a:p>
        </p:txBody>
      </p:sp>
      <p:pic>
        <p:nvPicPr>
          <p:cNvPr id="4" name="3 Imagen" descr="logo mover horizontal.JPG"/>
          <p:cNvPicPr>
            <a:picLocks noChangeAspect="1"/>
          </p:cNvPicPr>
          <p:nvPr/>
        </p:nvPicPr>
        <p:blipFill>
          <a:blip r:embed="rId3" cstate="print"/>
          <a:stretch>
            <a:fillRect/>
          </a:stretch>
        </p:blipFill>
        <p:spPr>
          <a:xfrm>
            <a:off x="1500166" y="5060967"/>
            <a:ext cx="6217920" cy="1582743"/>
          </a:xfrm>
          <a:prstGeom prst="rect">
            <a:avLst/>
          </a:prstGeom>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Effect transition="in" filter="fade">
                                      <p:cBhvr>
                                        <p:cTn id="7" dur="1000"/>
                                        <p:tgtEl>
                                          <p:spTgt spid="1036"/>
                                        </p:tgtEl>
                                      </p:cBhvr>
                                    </p:animEffect>
                                    <p:anim calcmode="lin" valueType="num">
                                      <p:cBhvr>
                                        <p:cTn id="8" dur="1000" fill="hold"/>
                                        <p:tgtEl>
                                          <p:spTgt spid="1036"/>
                                        </p:tgtEl>
                                        <p:attrNameLst>
                                          <p:attrName>ppt_x</p:attrName>
                                        </p:attrNameLst>
                                      </p:cBhvr>
                                      <p:tavLst>
                                        <p:tav tm="0">
                                          <p:val>
                                            <p:strVal val="#ppt_x"/>
                                          </p:val>
                                        </p:tav>
                                        <p:tav tm="100000">
                                          <p:val>
                                            <p:strVal val="#ppt_x"/>
                                          </p:val>
                                        </p:tav>
                                      </p:tavLst>
                                    </p:anim>
                                    <p:anim calcmode="lin" valueType="num">
                                      <p:cBhvr>
                                        <p:cTn id="9" dur="1000" fill="hold"/>
                                        <p:tgtEl>
                                          <p:spTgt spid="1036"/>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2000"/>
                                        <p:tgtEl>
                                          <p:spTgt spid="21"/>
                                        </p:tgtEl>
                                      </p:cBhvr>
                                    </p:animEffect>
                                  </p:childTnLst>
                                </p:cTn>
                              </p:par>
                            </p:childTnLst>
                          </p:cTn>
                        </p:par>
                        <p:par>
                          <p:cTn id="13" fill="hold">
                            <p:stCondLst>
                              <p:cond delay="2000"/>
                            </p:stCondLst>
                            <p:childTnLst>
                              <p:par>
                                <p:cTn id="14" presetID="53"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2000" fill="hold"/>
                                        <p:tgtEl>
                                          <p:spTgt spid="4"/>
                                        </p:tgtEl>
                                        <p:attrNameLst>
                                          <p:attrName>ppt_w</p:attrName>
                                        </p:attrNameLst>
                                      </p:cBhvr>
                                      <p:tavLst>
                                        <p:tav tm="0">
                                          <p:val>
                                            <p:fltVal val="0"/>
                                          </p:val>
                                        </p:tav>
                                        <p:tav tm="100000">
                                          <p:val>
                                            <p:strVal val="#ppt_w"/>
                                          </p:val>
                                        </p:tav>
                                      </p:tavLst>
                                    </p:anim>
                                    <p:anim calcmode="lin" valueType="num">
                                      <p:cBhvr>
                                        <p:cTn id="17" dur="2000" fill="hold"/>
                                        <p:tgtEl>
                                          <p:spTgt spid="4"/>
                                        </p:tgtEl>
                                        <p:attrNameLst>
                                          <p:attrName>ppt_h</p:attrName>
                                        </p:attrNameLst>
                                      </p:cBhvr>
                                      <p:tavLst>
                                        <p:tav tm="0">
                                          <p:val>
                                            <p:fltVal val="0"/>
                                          </p:val>
                                        </p:tav>
                                        <p:tav tm="100000">
                                          <p:val>
                                            <p:strVal val="#ppt_h"/>
                                          </p:val>
                                        </p:tav>
                                      </p:tavLst>
                                    </p:anim>
                                    <p:animEffect transition="in" filter="fade">
                                      <p:cBhvr>
                                        <p:cTn id="18"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785786" y="642918"/>
            <a:ext cx="7572428" cy="4501232"/>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Venezuela ha sido destruida tan profundamente, que su recuperación amerita de un proceso que implica dos “cosas” fundamentales y complementarias una de la otra, dado que son parte del mismo proceso:</a:t>
            </a:r>
          </a:p>
          <a:p>
            <a:pPr algn="ctr">
              <a:lnSpc>
                <a:spcPct val="150000"/>
              </a:lnSpc>
              <a:spcAft>
                <a:spcPts val="1800"/>
              </a:spcAft>
            </a:pPr>
            <a:endParaRPr lang="es-ES" sz="2300" dirty="0" smtClean="0">
              <a:ln w="18415" cmpd="sng">
                <a:noFill/>
                <a:prstDash val="solid"/>
              </a:ln>
              <a:effectLst/>
              <a:latin typeface="Book Antiqua" pitchFamily="18" charset="0"/>
            </a:endParaRPr>
          </a:p>
          <a:p>
            <a:pPr algn="ctr">
              <a:lnSpc>
                <a:spcPct val="150000"/>
              </a:lnSpc>
              <a:spcAft>
                <a:spcPts val="1800"/>
              </a:spcAft>
            </a:pPr>
            <a:r>
              <a:rPr lang="es-ES" sz="2300" dirty="0" smtClean="0">
                <a:ln w="18415" cmpd="sng">
                  <a:noFill/>
                  <a:prstDash val="solid"/>
                </a:ln>
                <a:effectLst/>
                <a:latin typeface="Book Antiqua" pitchFamily="18" charset="0"/>
              </a:rPr>
              <a:t>LA RECUPERACIÓN DE LA PATRIA Y </a:t>
            </a:r>
          </a:p>
          <a:p>
            <a:pPr algn="ctr">
              <a:lnSpc>
                <a:spcPct val="150000"/>
              </a:lnSpc>
              <a:spcAft>
                <a:spcPts val="1800"/>
              </a:spcAft>
            </a:pPr>
            <a:r>
              <a:rPr lang="es-ES" sz="2300" dirty="0" smtClean="0">
                <a:ln w="18415" cmpd="sng">
                  <a:noFill/>
                  <a:prstDash val="solid"/>
                </a:ln>
                <a:effectLst/>
                <a:latin typeface="Book Antiqua" pitchFamily="18" charset="0"/>
              </a:rPr>
              <a:t>LA REFUNDACIÓN DE LA REPÚBLICA.</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000100" y="571480"/>
            <a:ext cx="7500990" cy="2925353"/>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Una cosa sin la otra no va a funcionar bien ninguna.</a:t>
            </a:r>
          </a:p>
          <a:p>
            <a:pPr algn="ctr">
              <a:lnSpc>
                <a:spcPct val="150000"/>
              </a:lnSpc>
              <a:spcAft>
                <a:spcPts val="1800"/>
              </a:spcAft>
            </a:pPr>
            <a:r>
              <a:rPr lang="es-ES" sz="2300" dirty="0" smtClean="0">
                <a:ln w="18415" cmpd="sng">
                  <a:noFill/>
                  <a:prstDash val="solid"/>
                </a:ln>
                <a:effectLst/>
                <a:latin typeface="Book Antiqua" pitchFamily="18" charset="0"/>
              </a:rPr>
              <a:t>Si solo se recupera la patria sin que la república sea refundada las fallas continuarán; y si se refunda la república sin que se recupere la patria, la misma será una farsa como hasta ahora es.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714480" y="428604"/>
            <a:ext cx="5857916" cy="4518096"/>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Ambas deben realizarse de manera conjunta y armonizada, pues, se complementan la una con la otra.</a:t>
            </a:r>
          </a:p>
          <a:p>
            <a:pPr algn="ctr">
              <a:lnSpc>
                <a:spcPct val="150000"/>
              </a:lnSpc>
              <a:spcAft>
                <a:spcPts val="1800"/>
              </a:spcAft>
            </a:pPr>
            <a:r>
              <a:rPr lang="es-ES" sz="2300" dirty="0" smtClean="0">
                <a:ln w="18415" cmpd="sng">
                  <a:noFill/>
                  <a:prstDash val="solid"/>
                </a:ln>
                <a:effectLst/>
                <a:latin typeface="Book Antiqua" pitchFamily="18" charset="0"/>
              </a:rPr>
              <a:t>Y ambas deben ser ejecutadas por la sociedad en su conjunto, lo que implica que la sociedad venezolana se organice lo mejor que pueda, en su justo lugar y a su debido tiempo.</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500042"/>
            <a:ext cx="7286676" cy="6110840"/>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Como parte de ese proceso, mencionado al inicio, una parte de la sociedad venezolana, esa que no pretende tomar el poder para beneficiarse de él, esa que no sigue partido ni ideología política alguna, sino que ha entendido que debemos recuperar la patria y refundar la república en ella para poder tener las mejores posibilidades de que Venezuela sea lo que debe ser, damos inicio a esta etapa que vamos a llamar la ETAPA INFORMATIVA Y FORMATIVA,  de lo que debe hacerse como paso previo a lo que ha de continuarse mas adelante.</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14414" y="844452"/>
            <a:ext cx="6858048" cy="5101397"/>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Esta ETAPA INFORMATIVA Y FORMATIVA está dirigida a la sociedad venezolana y la llamada comunidad internacional; para ponerles en conocimiento de lo que ha de ser la próxima Constitución de la Patria venezolana y la República de Venezuela en su proceso de refundación.</a:t>
            </a:r>
          </a:p>
          <a:p>
            <a:pPr algn="ctr">
              <a:lnSpc>
                <a:spcPct val="150000"/>
              </a:lnSpc>
              <a:spcAft>
                <a:spcPts val="1800"/>
              </a:spcAft>
            </a:pPr>
            <a:r>
              <a:rPr lang="es-ES" sz="2300" dirty="0" smtClean="0">
                <a:ln w="18415" cmpd="sng">
                  <a:noFill/>
                  <a:prstDash val="solid"/>
                </a:ln>
                <a:effectLst/>
                <a:latin typeface="Book Antiqua" pitchFamily="18" charset="0"/>
              </a:rPr>
              <a:t>No es una petición de permiso ni lo que los socialistas llaman una consulta popular para ver si están o no, de acuerdo con esto.</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14414" y="428604"/>
            <a:ext cx="6786610" cy="4870564"/>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Cada artículo propuesto de lo que ha de ser la nueva Constitución, será notificado por las vías que estén a nuestro alcance para que quien quiera apoyar los artículos propuestos, pueda hacerlo de manera directa, incluso, habrá la opción para que cada quien deje por escrito, lo que considera deba ser la redacción, el sentido o esencia del artículo propuesto, o el por qué no esté de acuerdo con el artículo propuesto.</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85852" y="500042"/>
            <a:ext cx="6643734" cy="4518096"/>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effectLst/>
                <a:latin typeface="Book Antiqua" pitchFamily="18" charset="0"/>
              </a:rPr>
              <a:t>Así pues que, de esa manera, quien quiera o pueda, tendrá la posibilidad de participar en la redacción de la misma o si considera que nada debe redactar, podrá apoyar, o no, la propuesta, de manera directa, sin intermediarios.</a:t>
            </a:r>
          </a:p>
          <a:p>
            <a:pPr algn="ctr">
              <a:lnSpc>
                <a:spcPct val="150000"/>
              </a:lnSpc>
              <a:spcAft>
                <a:spcPts val="1800"/>
              </a:spcAft>
            </a:pPr>
            <a:r>
              <a:rPr lang="es-ES" sz="2300" dirty="0" smtClean="0">
                <a:ln w="18415" cmpd="sng">
                  <a:noFill/>
                  <a:prstDash val="solid"/>
                </a:ln>
                <a:effectLst/>
                <a:latin typeface="Book Antiqua" pitchFamily="18" charset="0"/>
              </a:rPr>
              <a:t>Sea cual fuere su decisión, estará participando, incluso hasta solo observando como participan los demás venezolanos.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85852" y="571480"/>
            <a:ext cx="6643734" cy="4870564"/>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Los llamados políticos, siguiendo directrices de sus socios internacionales, a los cuales están subordinados, especialmente los de mentalidad democrática, socialista, revolucionaria, nazista o fascista, que forman parte de este régimen, el cual está conformado por los partidos del gobierno, mas los partidos de la oposición; insisten en que creamos que con cambiar de presidente y de partido de gobierno, es suficiente. </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714356"/>
            <a:ext cx="7286676" cy="5101397"/>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Que no hace falta ni recuperar la patria ni refundar la república, sino que debemos aceptar, una vez mas, las reglas de un juego creado a la medida del organizador. </a:t>
            </a:r>
          </a:p>
          <a:p>
            <a:pPr algn="ctr">
              <a:lnSpc>
                <a:spcPct val="150000"/>
              </a:lnSpc>
              <a:spcAft>
                <a:spcPts val="1800"/>
              </a:spcAft>
            </a:pPr>
            <a:r>
              <a:rPr lang="es-ES" sz="2300" dirty="0" smtClean="0">
                <a:ln w="18415" cmpd="sng">
                  <a:noFill/>
                  <a:prstDash val="solid"/>
                </a:ln>
                <a:latin typeface="Book Antiqua" pitchFamily="18" charset="0"/>
              </a:rPr>
              <a:t>Que solo se debe cambiar al presidente, que a veces desconocen o califican de dictador, de usurpador, etc., pero ahora lo reconocen como tal, y que mediante un “proceso electoral”, organizado por ese mismo que quieren sacar y que siempre le ha anunciado como el ganador, es suficiente.</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142976" y="500042"/>
            <a:ext cx="6929486" cy="5880008"/>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Para ellos, el régimen y sus jefes internacionales, según dicen, lo importante es recuperar la democracia, esa ideología política, entendida según sus propios intereses, de una forma que les permita seguir viviendo del Estado y del llamado pueblo que vota por ellos, que según los resultados, anunciados por el organizador, en una cantidad, cada vez mas reducida, por cierto. Con eso basta, según ellos o cuanto mas, se harán algunos ajustes en el Estado para que sea mas democrático y de derecho, como ahora les califican.</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357290" y="500042"/>
            <a:ext cx="6286544" cy="5932393"/>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Ellos saben, sin duda, que si procedemos a refundar la república y recuperar la patria, deberán ajustarse a un conjunto de leyes y normas mas justas, y que igualmente van a tener que trabajar bastante, honradamente, si quieren vivir como hasta ahora viven, una especie de reyes, dueños y amos del Estado que debería servirnos a todos , que han de ser obedecidos y mantenidos, mediantes un conjunto de impuestos y tazas, cada vez mas injustas y onerosas.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428596" y="142852"/>
            <a:ext cx="8143932" cy="6641755"/>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Por eso, atacarán este proceso y tratarán de evitar que la patria sea recuperada y la república refundada.</a:t>
            </a:r>
          </a:p>
          <a:p>
            <a:pPr algn="ctr">
              <a:lnSpc>
                <a:spcPct val="150000"/>
              </a:lnSpc>
              <a:spcAft>
                <a:spcPts val="1800"/>
              </a:spcAft>
            </a:pPr>
            <a:r>
              <a:rPr lang="es-ES" sz="2300" dirty="0" smtClean="0">
                <a:ln w="18415" cmpd="sng">
                  <a:noFill/>
                  <a:prstDash val="solid"/>
                </a:ln>
                <a:latin typeface="Book Antiqua" pitchFamily="18" charset="0"/>
              </a:rPr>
              <a:t>Las llamadas organizaciones e instituciones, de la sociedad civil, que ahora viven del actual gobierno, junto a los llamados partidos de la oposición, con sus socios internacionales, se unirán mucho mas para que nada de lo que hagamos, como sociedad organizada, sin partidos, sino como la sociedad que somos, conformada por campesinos, pescadores, obreros, empleados, empresarios, profesionales, jóvenes, adultos, civiles y militares, en fin, por todos los que queremos salir de esta locura que los partidos, sin excepción, insisten en mantener, podamos lograrlo.</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071538" y="599289"/>
            <a:ext cx="6929486" cy="4570482"/>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No dudamos que recurrirán a las medidas que están acostumbrados a hacer, como la represión, el asesinato, la tortura, la calumnia, en engaño.</a:t>
            </a:r>
          </a:p>
          <a:p>
            <a:pPr algn="ctr">
              <a:lnSpc>
                <a:spcPct val="150000"/>
              </a:lnSpc>
              <a:spcAft>
                <a:spcPts val="1800"/>
              </a:spcAft>
            </a:pPr>
            <a:r>
              <a:rPr lang="es-ES" sz="2300" dirty="0" smtClean="0">
                <a:ln w="18415" cmpd="sng">
                  <a:noFill/>
                  <a:prstDash val="solid"/>
                </a:ln>
                <a:latin typeface="Book Antiqua" pitchFamily="18" charset="0"/>
              </a:rPr>
              <a:t>Se nos calificará de corruptos, delincuentes, criminales, viciosos, enfermos, que estamos financiados por el narcotráfico y sectores de lo que llaman la ultra derecha y los nazis y fascistas, entre otras peores cosas.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714348" y="214290"/>
            <a:ext cx="7786742" cy="7155805"/>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Queremos dejar claro, que esto no es un partido político que busca el poder o aspira algún cargo en el gobierno o del Estado.</a:t>
            </a:r>
          </a:p>
          <a:p>
            <a:pPr algn="ctr">
              <a:lnSpc>
                <a:spcPct val="150000"/>
              </a:lnSpc>
              <a:spcAft>
                <a:spcPts val="1800"/>
              </a:spcAft>
            </a:pPr>
            <a:r>
              <a:rPr lang="es-ES" sz="2300" dirty="0" smtClean="0">
                <a:ln w="18415" cmpd="sng">
                  <a:noFill/>
                  <a:prstDash val="solid"/>
                </a:ln>
                <a:latin typeface="Book Antiqua" pitchFamily="18" charset="0"/>
              </a:rPr>
              <a:t>Esto es solo un movimiento de base republicana, que cada quien podrá apoyar a su manera, sin formar parte de él.</a:t>
            </a:r>
          </a:p>
          <a:p>
            <a:pPr algn="ctr">
              <a:lnSpc>
                <a:spcPct val="150000"/>
              </a:lnSpc>
              <a:spcAft>
                <a:spcPts val="1800"/>
              </a:spcAft>
            </a:pPr>
            <a:r>
              <a:rPr lang="es-ES" sz="2300" dirty="0" smtClean="0">
                <a:ln w="18415" cmpd="sng">
                  <a:noFill/>
                  <a:prstDash val="solid"/>
                </a:ln>
                <a:latin typeface="Book Antiqua" pitchFamily="18" charset="0"/>
              </a:rPr>
              <a:t>El Movimiento Republicano Esperanza, solo se limitará a servir y guiar a todos los venezolanos de bien que se identifiquen y quieran lo que es el objetivo que se ha dicho es el de recuperar la patria y refundar la república en ella, y en esta parte del proceso que hemos llamado la Etapa Informativa y Formativa.</a:t>
            </a:r>
          </a:p>
          <a:p>
            <a:pPr algn="ctr">
              <a:lnSpc>
                <a:spcPct val="150000"/>
              </a:lnSpc>
              <a:spcAft>
                <a:spcPts val="1800"/>
              </a:spcAft>
            </a:pPr>
            <a:endParaRPr lang="es-ES" sz="2300" dirty="0" smtClean="0">
              <a:ln w="18415" cmpd="sng">
                <a:noFill/>
                <a:prstDash val="solid"/>
              </a:ln>
              <a:latin typeface="Book Antiqua" pitchFamily="18"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071538" y="599289"/>
            <a:ext cx="7000924" cy="5632311"/>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Esta etapa incluye la promoción y difusión de los valores y los principios de la república, que han de ser necesarios para que sirvan de base sólida para la Venezuela que debe ser, es decir, una Venezuela decente, próspera, ética, generadora de riqueza y bienestar para todos los miembros de su sociedad.</a:t>
            </a:r>
          </a:p>
          <a:p>
            <a:pPr algn="ctr">
              <a:lnSpc>
                <a:spcPct val="150000"/>
              </a:lnSpc>
              <a:spcAft>
                <a:spcPts val="1800"/>
              </a:spcAft>
            </a:pPr>
            <a:r>
              <a:rPr lang="es-ES" sz="2300" dirty="0" smtClean="0">
                <a:ln w="18415" cmpd="sng">
                  <a:noFill/>
                  <a:prstDash val="solid"/>
                </a:ln>
                <a:latin typeface="Book Antiqua" pitchFamily="18" charset="0"/>
              </a:rPr>
              <a:t>También se incluye el proceso Constituyente que generará las bases para la conformación del nuevo Estado republicano, el cual permitirá que esa Venezuela sea posible.</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14414" y="928670"/>
            <a:ext cx="6715172" cy="5101397"/>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spcAft>
                <a:spcPts val="1800"/>
              </a:spcAft>
            </a:pPr>
            <a:r>
              <a:rPr lang="es-ES" sz="2300" dirty="0" smtClean="0">
                <a:ln w="18415" cmpd="sng">
                  <a:noFill/>
                  <a:prstDash val="solid"/>
                </a:ln>
                <a:latin typeface="Book Antiqua" pitchFamily="18" charset="0"/>
              </a:rPr>
              <a:t>Habrá un inevitable período de transición, de ajustes, de desmontaje de este estado criminal, delictivo, que también llaman de “estado fallido” y “estado democrático y de derecho”.</a:t>
            </a:r>
          </a:p>
          <a:p>
            <a:pPr algn="ctr">
              <a:lnSpc>
                <a:spcPct val="150000"/>
              </a:lnSpc>
              <a:spcAft>
                <a:spcPts val="1800"/>
              </a:spcAft>
            </a:pPr>
            <a:r>
              <a:rPr lang="es-ES" sz="2300" dirty="0" smtClean="0">
                <a:ln w="18415" cmpd="sng">
                  <a:noFill/>
                  <a:prstDash val="solid"/>
                </a:ln>
                <a:latin typeface="Book Antiqua" pitchFamily="18" charset="0"/>
              </a:rPr>
              <a:t>El nuevo Estado republicano ha de formarse con los mejores ciudadanos  que resulten ganadores de los concursos  que se realicen para quienes formarán parte del mismo y de ese proceso de transición, que deberá ser de corta duración.</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714348" y="642918"/>
            <a:ext cx="7786742" cy="5401479"/>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pPr>
            <a:r>
              <a:rPr lang="es-ES" sz="2300" dirty="0" smtClean="0">
                <a:ln w="18415" cmpd="sng">
                  <a:noFill/>
                  <a:prstDash val="solid"/>
                </a:ln>
                <a:latin typeface="Book Antiqua" pitchFamily="18" charset="0"/>
              </a:rPr>
              <a:t>Este proceso de selección se realizará dentro de la visión republicana la cual tiene como esencia y finalidad el servir con la mayor y mejor eficacia y eficiencia.</a:t>
            </a:r>
          </a:p>
          <a:p>
            <a:pPr algn="ctr">
              <a:lnSpc>
                <a:spcPct val="150000"/>
              </a:lnSpc>
            </a:pPr>
            <a:endParaRPr lang="es-ES" sz="2300" dirty="0" smtClean="0">
              <a:ln w="18415" cmpd="sng">
                <a:noFill/>
                <a:prstDash val="solid"/>
              </a:ln>
              <a:latin typeface="Book Antiqua" pitchFamily="18" charset="0"/>
            </a:endParaRPr>
          </a:p>
          <a:p>
            <a:pPr algn="ctr">
              <a:lnSpc>
                <a:spcPct val="150000"/>
              </a:lnSpc>
            </a:pPr>
            <a:r>
              <a:rPr lang="es-ES" sz="2300" dirty="0" smtClean="0">
                <a:ln w="18415" cmpd="sng">
                  <a:noFill/>
                  <a:prstDash val="solid"/>
                </a:ln>
                <a:latin typeface="Book Antiqua" pitchFamily="18" charset="0"/>
              </a:rPr>
              <a:t>El proceso constituyente producirá los funcionarios básicos del Estado de la república naciente y de éste Estado, por vía de concurso público, serán obtenidos los demás funcionarios que le permitan a ese Estado, cumplir con sus funciones de servicio público y representatividad ante la sociedad venezolana y el mundo.</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428728" y="1500174"/>
            <a:ext cx="6429420" cy="3808735"/>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pPr>
            <a:r>
              <a:rPr lang="es-ES" sz="2300" dirty="0" smtClean="0">
                <a:ln w="18415" cmpd="sng">
                  <a:noFill/>
                  <a:prstDash val="solid"/>
                </a:ln>
                <a:latin typeface="Book Antiqua" pitchFamily="18" charset="0"/>
              </a:rPr>
              <a:t>En lo inmediato, vamos a la etapa ya mencionada, les exhortamos a participar, será su decisión hacerlo de una u otra manera.</a:t>
            </a:r>
          </a:p>
          <a:p>
            <a:pPr algn="ctr">
              <a:lnSpc>
                <a:spcPct val="150000"/>
              </a:lnSpc>
            </a:pPr>
            <a:endParaRPr lang="es-ES" sz="2300" dirty="0" smtClean="0">
              <a:ln w="18415" cmpd="sng">
                <a:noFill/>
                <a:prstDash val="solid"/>
              </a:ln>
              <a:latin typeface="Book Antiqua" pitchFamily="18" charset="0"/>
            </a:endParaRPr>
          </a:p>
          <a:p>
            <a:pPr algn="ctr">
              <a:lnSpc>
                <a:spcPct val="150000"/>
              </a:lnSpc>
            </a:pPr>
            <a:r>
              <a:rPr lang="es-ES" sz="2300" dirty="0" smtClean="0">
                <a:ln w="18415" cmpd="sng">
                  <a:noFill/>
                  <a:prstDash val="solid"/>
                </a:ln>
                <a:latin typeface="Book Antiqua" pitchFamily="18" charset="0"/>
              </a:rPr>
              <a:t>Sea cual sea su decisión, el proceso se ha iniciado y deberá llegar a su meta, a su etapa, y según necesidad requerida.</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214414" y="1142984"/>
            <a:ext cx="6715172" cy="4339650"/>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pPr>
            <a:r>
              <a:rPr lang="es-ES" sz="2300" dirty="0" smtClean="0">
                <a:ln w="18415" cmpd="sng">
                  <a:noFill/>
                  <a:prstDash val="solid"/>
                </a:ln>
                <a:latin typeface="Book Antiqua" pitchFamily="18" charset="0"/>
              </a:rPr>
              <a:t>Su participación es importante pero no es vital, en el sentido de que si no participa, nada se hará, eso debe quedar claro, esto no se esta basando desde la perspectiva que los seguidores de ideologías imponen, esa que llaman democrática, esto se basa desde la visión republicana, esa que se basa en el deber, tanto en el ser, el hacer y el estar, entre otras.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857232"/>
            <a:ext cx="7286676" cy="4870564"/>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pPr>
            <a:r>
              <a:rPr lang="es-ES" sz="2300" dirty="0" smtClean="0">
                <a:ln w="18415" cmpd="sng">
                  <a:noFill/>
                  <a:prstDash val="solid"/>
                </a:ln>
                <a:latin typeface="Book Antiqua" pitchFamily="18" charset="0"/>
              </a:rPr>
              <a:t>Venezuela necesita ser recuperada como Patria y su república debe ser refundada.</a:t>
            </a:r>
          </a:p>
          <a:p>
            <a:pPr algn="ctr">
              <a:lnSpc>
                <a:spcPct val="150000"/>
              </a:lnSpc>
            </a:pPr>
            <a:endParaRPr lang="es-ES" sz="2300" dirty="0" smtClean="0">
              <a:ln w="18415" cmpd="sng">
                <a:noFill/>
                <a:prstDash val="solid"/>
              </a:ln>
              <a:latin typeface="Book Antiqua" pitchFamily="18" charset="0"/>
            </a:endParaRPr>
          </a:p>
          <a:p>
            <a:pPr algn="ctr">
              <a:lnSpc>
                <a:spcPct val="150000"/>
              </a:lnSpc>
            </a:pPr>
            <a:r>
              <a:rPr lang="es-ES" sz="2300" dirty="0" smtClean="0">
                <a:ln w="18415" cmpd="sng">
                  <a:noFill/>
                  <a:prstDash val="solid"/>
                </a:ln>
                <a:latin typeface="Book Antiqua" pitchFamily="18" charset="0"/>
              </a:rPr>
              <a:t>Esto es algo que no puede seguir esperando por que una mayoría equis lo note y luego lo quiera, este proceso, de hecho, ya se ha iniciado y está en movimiento, desde hace tiempo, solo que ahora, se han conjugado una serie de elementos, que han generado un poco mas de fuerza y voluntad.</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1000100" y="1651378"/>
            <a:ext cx="7286676" cy="2746906"/>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pPr>
            <a:r>
              <a:rPr lang="es-ES" sz="2300" dirty="0" smtClean="0">
                <a:ln w="18415" cmpd="sng">
                  <a:noFill/>
                  <a:prstDash val="solid"/>
                </a:ln>
                <a:latin typeface="Book Antiqua" pitchFamily="18" charset="0"/>
              </a:rPr>
              <a:t>¿Será alcanzado el objetivo y sus complementos?</a:t>
            </a:r>
          </a:p>
          <a:p>
            <a:pPr algn="ctr">
              <a:lnSpc>
                <a:spcPct val="150000"/>
              </a:lnSpc>
            </a:pPr>
            <a:endParaRPr lang="es-ES" sz="2300" dirty="0" smtClean="0">
              <a:ln w="18415" cmpd="sng">
                <a:noFill/>
                <a:prstDash val="solid"/>
              </a:ln>
              <a:latin typeface="Book Antiqua" pitchFamily="18" charset="0"/>
            </a:endParaRPr>
          </a:p>
          <a:p>
            <a:pPr algn="ctr">
              <a:lnSpc>
                <a:spcPct val="150000"/>
              </a:lnSpc>
            </a:pPr>
            <a:r>
              <a:rPr lang="es-ES" sz="2300" dirty="0" smtClean="0">
                <a:ln w="18415" cmpd="sng">
                  <a:noFill/>
                  <a:prstDash val="solid"/>
                </a:ln>
                <a:latin typeface="Book Antiqua" pitchFamily="18" charset="0"/>
              </a:rPr>
              <a:t>Solo Dios lo sabe y nuestra organización, disciplina, voluntad, constancia , dedicación y apego al deber ser, lo permita, lo genere, lo materialice.</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20 Rectángulo"/>
          <p:cNvSpPr/>
          <p:nvPr/>
        </p:nvSpPr>
        <p:spPr>
          <a:xfrm>
            <a:off x="928662" y="857232"/>
            <a:ext cx="7286676" cy="4870564"/>
          </a:xfrm>
          <a:prstGeom prst="rect">
            <a:avLst/>
          </a:prstGeom>
          <a:effectLst>
            <a:outerShdw blurRad="50800" dist="38100" dir="2700000" algn="tl" rotWithShape="0">
              <a:schemeClr val="tx1">
                <a:alpha val="50000"/>
              </a:schemeClr>
            </a:outerShdw>
          </a:effectLst>
        </p:spPr>
        <p:txBody>
          <a:bodyPr wrap="square">
            <a:spAutoFit/>
          </a:bodyPr>
          <a:lstStyle/>
          <a:p>
            <a:pPr algn="ctr">
              <a:lnSpc>
                <a:spcPct val="150000"/>
              </a:lnSpc>
            </a:pPr>
            <a:r>
              <a:rPr lang="es-ES" sz="2300" dirty="0" smtClean="0">
                <a:ln w="18415" cmpd="sng">
                  <a:noFill/>
                  <a:prstDash val="solid"/>
                </a:ln>
                <a:latin typeface="Book Antiqua" pitchFamily="18" charset="0"/>
              </a:rPr>
              <a:t>La decisión se ha tomado, el movimiento se ha iniciado, los factores se han encontrado, las consecuencias se están produciendo y los resultados serán lo que esa disciplina, esa organización, esa voluntad, esa constancia, esa dedicación y ese apego al deber ser, producirá y ello no debe ser otra cosa que lo mejor para Venezuela y la sociedad decente que le conforma y está dispuesta a recuperar su patria y refundar la república en ella como debe ser.</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logo mover horizontal.JPG"/>
          <p:cNvPicPr>
            <a:picLocks noChangeAspect="1"/>
          </p:cNvPicPr>
          <p:nvPr/>
        </p:nvPicPr>
        <p:blipFill>
          <a:blip r:embed="rId2" cstate="print"/>
          <a:stretch>
            <a:fillRect/>
          </a:stretch>
        </p:blipFill>
        <p:spPr>
          <a:xfrm>
            <a:off x="1056228" y="2428868"/>
            <a:ext cx="7016234" cy="1785950"/>
          </a:xfrm>
          <a:prstGeom prst="rect">
            <a:avLst/>
          </a:prstGeom>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2000" fill="hold"/>
                                        <p:tgtEl>
                                          <p:spTgt spid="4"/>
                                        </p:tgtEl>
                                        <p:attrNameLst>
                                          <p:attrName>ppt_w</p:attrName>
                                        </p:attrNameLst>
                                      </p:cBhvr>
                                      <p:tavLst>
                                        <p:tav tm="0">
                                          <p:val>
                                            <p:fltVal val="0"/>
                                          </p:val>
                                        </p:tav>
                                        <p:tav tm="100000">
                                          <p:val>
                                            <p:strVal val="#ppt_w"/>
                                          </p:val>
                                        </p:tav>
                                      </p:tavLst>
                                    </p:anim>
                                    <p:anim calcmode="lin" valueType="num">
                                      <p:cBhvr>
                                        <p:cTn id="8" dur="2000" fill="hold"/>
                                        <p:tgtEl>
                                          <p:spTgt spid="4"/>
                                        </p:tgtEl>
                                        <p:attrNameLst>
                                          <p:attrName>ppt_h</p:attrName>
                                        </p:attrNameLst>
                                      </p:cBhvr>
                                      <p:tavLst>
                                        <p:tav tm="0">
                                          <p:val>
                                            <p:fltVal val="0"/>
                                          </p:val>
                                        </p:tav>
                                        <p:tav tm="100000">
                                          <p:val>
                                            <p:strVal val="#ppt_h"/>
                                          </p:val>
                                        </p:tav>
                                      </p:tavLst>
                                    </p:anim>
                                    <p:animEffect transition="in" filter="fade">
                                      <p:cBhvr>
                                        <p:cTn id="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1628</TotalTime>
  <Words>1716</Words>
  <Application>Microsoft Office PowerPoint</Application>
  <PresentationFormat>Apresentação na tela (4:3)</PresentationFormat>
  <Paragraphs>45</Paragraphs>
  <Slides>24</Slides>
  <Notes>0</Notes>
  <HiddenSlides>0</HiddenSlides>
  <MMClips>0</MMClips>
  <ScaleCrop>false</ScaleCrop>
  <HeadingPairs>
    <vt:vector size="4" baseType="variant">
      <vt:variant>
        <vt:lpstr>Tema</vt:lpstr>
      </vt:variant>
      <vt:variant>
        <vt:i4>1</vt:i4>
      </vt:variant>
      <vt:variant>
        <vt:lpstr>Títulos de slides</vt:lpstr>
      </vt:variant>
      <vt:variant>
        <vt:i4>24</vt:i4>
      </vt:variant>
    </vt:vector>
  </HeadingPairs>
  <TitlesOfParts>
    <vt:vector size="25" baseType="lpstr">
      <vt:lpstr>Tema de Office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Henry Diaz</dc:creator>
  <cp:lastModifiedBy>Henry</cp:lastModifiedBy>
  <cp:revision>119</cp:revision>
  <dcterms:created xsi:type="dcterms:W3CDTF">2023-10-15T16:47:29Z</dcterms:created>
  <dcterms:modified xsi:type="dcterms:W3CDTF">2023-11-03T14:14:57Z</dcterms:modified>
</cp:coreProperties>
</file>